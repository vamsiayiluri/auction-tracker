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810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judges, leadership, technical reviewers, and stakeholders. AuctionArena is a full-stack platform that automates and digitizes employee sports auction events, covering both company-wide festival auctions and sport tournament sub-auctions, all built on a shared real-time bidding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AuctionArena automates employee sports auction events end to end. It replaces ad hoc, manual coordination with a browser-based platform serving four roles, enforcing per-team budgets automatically, and producing a complete, immutable audit log of every bid and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Spreadsheets, show-of-hands bidding, and verbal agreements all break down at scale. These five failure modes directly map to AuctionArena's core design decisions: real-time sockets solve visibility, automatic purse tracking solves budget enforcement, and persistent bid records solve the audit trail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is the immediate product promise: fast, fair, transparent auctions. Vision extends that promise into a general-purpose internal tooling platform for any gamified allocation scenario. The business goal translates both into concrete capabilities delivered to admins, owners, captains, and HR.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personas map directly to the three system roles plus one domain-level role: Arjun as admin, Priya as team owner, Rohit as a team owner with a sport captain record, and Meera as spectator. Each has distinct goals and pain points the platform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modules form the product: authentication and employee data are the foundation; festival management and festival auction form the primary, more mature system; sport tournament management and sport auction sit one level below, scoped to a single sport; results and analytics close the loop with auditable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primary roles cover the platform, but authorization is enforced at three independent layers: frontend route guards prevent unauthorized navigation, backend middleware rejects unauthorized API calls, and domain-level checks like findActiveSportCaptainForUser determine fine-grained bidding eligibility dynamically.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festival auction moves through six stages, but the heart of the system is the live bidding loop: admin starts a participant, owners bid competitively, and the admin finalizes each round with Sell or Unsold. Pause, Resume, Extend, and re-auction give admins full operational control during a live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Sport tournaments sit one level below the festival in the data hierarchy. A tournament is created under a festival team and sport combination, teams are auto-generated, captains assigned, credits configured, and the eligible-participant pool generated before the sport-specific auction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real-time layer is built on Socket.IO 4. Every design choice here addresses a known failure mode in naive real-time apps: the revision guard prevents stale updates, scope discrimination prevents cross-auction bleed, and server clock sync keeps every participant's timer in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increment engine creates natural bidding tension by scaling minimum bid increases with three factors: the current bid tier, how much purse a team has left, and how far the auction has progressed through the pool. Admins choose from conservative, standard, or aggressive profiles, or define a custom rule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a modern, production-proven combination: React with Vite and MUI on the frontend, Node/Express with Socket.IO and Sequelize ORM on the backend, MySQL or TiDB for the database layer, and Render plus Vercel for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stakeholder groups each get distinct value: organisers save coordination effort, owners and captains get a fair and visible process, employees get an engaging spectator experience, and HR/compliance gets the audit trail they need for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features distinguish AuctionArena from generic bidding tools or spreadsheet-based processes: the nested hierarchy, the revision guard, the adaptive increment engine, automatic account provisioning, and the configuration lock system that protects data integrity once an auction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Against spreadsheets and generic bidding tools, AuctionArena is the only option that combines real-time visibility, automatic budget enforcement, full role separation, sport-level sub-auctions, direct employee data integration, and a complete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engineering practices are drawn directly from the product requirements and architecture described in project documentation: layered authorization, real-time state integrity, and a configuration lock system that prevents data corruption during a live auction.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journeys trace the complete admin and captain experiences end to end, exactly as documented in the PRD's key user journeys section — from initial setup through live bidding to final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is organized into three honest horizons based on documented audit and TODO tracking: near-term parity and usability work, medium-term security hardening like refresh token rotation and rate limiting, and longer-term feature expansion including exports and competition scheduling.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targets define what success looks like for AuctionArena in production: fast admin setup, sub-200ms real-time latency, zero budget overruns, complete audit coverage, and full uptime during live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judges, leadership, technical reviewers, and stakeholders for their time. Invite questions and point to the contact details, repository, and live demo link for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23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.png"/><Relationship Id="rId4" Type="http://schemas.openxmlformats.org/officeDocument/2006/relationships/image" Target="../media/image28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25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bi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AUCTIONARENA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AuctionArena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&amp; Sports Auction Management Platform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AuctionArena (Auction Tracker)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Vamsi Ayiluri, Sampath Goteti, Priya Kommula</a:t>
            </a:r>
            <a:endParaRPr lang="en-US" sz="12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24C3BE-0852-8F18-F8A0-7BF1FF3F5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836" y="419902"/>
            <a:ext cx="651164" cy="5775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AuctionArena Delivers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platform that automates and digitises employee sports auction events — replacing spreadsheets and verbal bidding with a real-time, auditable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176272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automa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77" y="2292949"/>
            <a:ext cx="296997" cy="2969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Solved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2461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manual, error-prone employee sports-day auctions run on spreadsheets, whiteboards, or verbal announcements.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9202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74720" y="2176272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digitiz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1397" y="2292949"/>
            <a:ext cx="296997" cy="29699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74720" y="32461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browser-based system for admins, owners, captains, and spectators — with budget enforcement and a full audit trail.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9202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63640" y="2176272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asset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317" y="2292949"/>
            <a:ext cx="296997" cy="29699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834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63640" y="32461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coordinated auction systems (Festival + Sport Tournament) sharing one real-time bidding engine and role-based access model.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Executive Summary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Manual Auctions Don't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sports festivals and internal tournaments need a fair, transparent way to assign employees to teams. Traditional approaches fall short: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627632" cy="2743200"/>
          </a:xfrm>
          <a:prstGeom prst="roundRect">
            <a:avLst>
              <a:gd name="adj" fmla="val 5618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2416" y="20116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novisibilit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122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974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Simultaneous Visibility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329184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can't all see the current bid at once, leading to disputes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203704" y="1783080"/>
            <a:ext cx="1627632" cy="2743200"/>
          </a:xfrm>
          <a:prstGeom prst="roundRect">
            <a:avLst>
              <a:gd name="adj" fmla="val 5618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88920" y="20116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nobud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21122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95144" y="26974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 Enforcement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313432" y="329184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owners can accidentally overspend with no hard constraint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950208" y="1783080"/>
            <a:ext cx="1627632" cy="2743200"/>
          </a:xfrm>
          <a:prstGeom prst="roundRect">
            <a:avLst>
              <a:gd name="adj" fmla="val 5618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35424" y="20116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assets/noaudi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211226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41648" y="26974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059936" y="329184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who bid what and when is lost after the event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696712" y="1783080"/>
            <a:ext cx="1627632" cy="2743200"/>
          </a:xfrm>
          <a:prstGeom prst="roundRect">
            <a:avLst>
              <a:gd name="adj" fmla="val 5618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281928" y="20116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assets/manualoverhea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11226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88152" y="26974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Overhead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806440" y="329184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must verbally announce, record, and communicate results manually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443216" y="1783080"/>
            <a:ext cx="1627632" cy="2743200"/>
          </a:xfrm>
          <a:prstGeom prst="roundRect">
            <a:avLst>
              <a:gd name="adj" fmla="val 5618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028432" y="20116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assets/noro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9016" y="211226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34656" y="269748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Separation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7552944" y="3291840"/>
            <a:ext cx="1408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Spectators, bidders, and admins share the same view with no access control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Problem Statement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Mission, Vision &amp; Business Goal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miss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" y="18022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31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employee sports-event auction fast, fair, and fully transparent — a real-time window into bidding for every participant.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334155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20440" y="1691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visi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082" y="180228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331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20440" y="265176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definitive internal tooling platform for gamified employee allocation events, beyond sports alone.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09360" y="1691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go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002" y="180228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331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309360" y="265176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production-grade platform where admins run full auctions from a browser, owners and captains bid from any device, and HR gets auditable rosters.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Mission, Vision &amp; Goals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 &amp; Personas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9576" y="1600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adm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277" y="17209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860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</a:rPr>
              <a:t>Pradeep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60604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CEO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306324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festivals, imports employees, runs the live auction end to end.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69464" y="137160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own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541" y="17209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9192" y="22860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</a:rPr>
              <a:t>Chaitanya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679192" y="260604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706624" y="306324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strategically on employees within his team's allocated budget.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81728" y="137160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04104" y="1600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assets/capt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805" y="17209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91456" y="22860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</a:rPr>
              <a:t>Sampath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791456" y="260604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Team Captain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818888" y="306324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Recruits eligible athletes for his sport tournament within credit limits.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93992" y="1371600"/>
            <a:ext cx="1993392" cy="3108960"/>
          </a:xfrm>
          <a:prstGeom prst="roundRect">
            <a:avLst>
              <a:gd name="adj" fmla="val 4587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516368" y="1600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assets/spectato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7069" y="172090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03720" y="22860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/>
              <a:t>Sravanthi</a:t>
            </a:r>
          </a:p>
        </p:txBody>
      </p:sp>
      <p:sp>
        <p:nvSpPr>
          <p:cNvPr id="26" name="Text 20"/>
          <p:cNvSpPr/>
          <p:nvPr/>
        </p:nvSpPr>
        <p:spPr>
          <a:xfrm>
            <a:off x="6903720" y="260604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 / Employee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931152" y="306324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live auction to see which team she's assigned to.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Target Users &amp; Personas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44475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aut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29" y="1537289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93852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1792" y="235915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login, email verification, forced password reset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69464" y="1280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34056" y="144475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employe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6593" y="153728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34056" y="193852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734056" y="235915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Admin-managed directory with CSV import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81728" y="1280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46320" y="144475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festiv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8857" y="1537289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193852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Management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846320" y="235915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Multi-sport company event configuration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793992" y="1280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958584" y="144475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sportauctio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1121" y="1537289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58584" y="193852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Auction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958584" y="235915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bidding to allocate employees to festival teams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301752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21792" y="318211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tournamen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29" y="3274649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1792" y="367588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Tournament Mgmt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21792" y="409651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Per-sport sub-tournaments under a festival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569464" y="301752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2734056" y="318211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bi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6593" y="3274649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734056" y="367588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Auction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2734056" y="409651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bidding to allocate athletes to sport teams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681728" y="301752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4846320" y="318211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assets/result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8857" y="3274649"/>
            <a:ext cx="235549" cy="23554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846320" y="367588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Analytics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4846320" y="409651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rosters, bid history, auditable outcomes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Product Overview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adm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77" y="1762597"/>
            <a:ext cx="296997" cy="2969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134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77063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festivals / tournaments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control auctions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team owner credentials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74720" y="1645920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own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1397" y="1762597"/>
            <a:ext cx="296997" cy="2969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3134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Owner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74720" y="277063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arenas where active owner/captain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bids within budget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team rosters &amp; bid histories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63640" y="1645920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spectat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317" y="1762597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3134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Spectator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277063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auction arenas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place bids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view final results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three layers: frontend route guards, backend API middleware, and domain-level authorization checks (e.g. findActiveSportCaptainForUser).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Role-Based Access Model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Festival Auction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1897380"/>
            <a:ext cx="713232" cy="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crea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79" y="16836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24505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Festival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24912" y="1897380"/>
            <a:ext cx="713232" cy="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947672" y="150876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set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2551" y="168363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87168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719072" y="24505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15384" y="1897380"/>
            <a:ext cx="713232" cy="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438144" y="150876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valida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3023" y="168363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209544" y="24505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Check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705856" y="1897380"/>
            <a:ext cx="713232" cy="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928616" y="150876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laun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3495" y="168363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00016" y="24505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Auction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196328" y="1897380"/>
            <a:ext cx="713232" cy="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419088" y="150876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bi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3967" y="1683639"/>
            <a:ext cx="427482" cy="4274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58584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190488" y="24505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09560" y="150876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assets/result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4439" y="1683639"/>
            <a:ext cx="427482" cy="42748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49056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7680960" y="24505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685800" y="32735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LIVE AUCTION LOOP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685800" y="3566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selects a participant from the pool and clicks Start Participant — a timed round begins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owners place bids; each bid must exceed the current highest bid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clicks Sell (assigns to highest bidder) or Unsold (returns to pool)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Pause, Resume, or Extend; unsold participants support re-auction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Festival Auction Workflow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 Tournament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 →  Festival Team  →  Sport Tournament  →  Sport Team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15568" y="2569464"/>
            <a:ext cx="603504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assets/crea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3" y="2388413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" y="3035808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Tournament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77440" y="2569464"/>
            <a:ext cx="603504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19072" y="22402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team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7205" y="2388413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3035808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39312" y="2569464"/>
            <a:ext cx="603504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980944" y="22402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capt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9077" y="2388413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79776" y="3035808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901184" y="2569464"/>
            <a:ext cx="603504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242816" y="22402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assets/credit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0949" y="2388413"/>
            <a:ext cx="362102" cy="3621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41648" y="3035808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163056" y="2569464"/>
            <a:ext cx="603504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504688" y="22402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assets/poo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2821" y="2388413"/>
            <a:ext cx="362102" cy="36210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03520" y="3035808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7424928" y="2569464"/>
            <a:ext cx="603504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766560" y="22402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assets/bi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4693" y="2388413"/>
            <a:ext cx="362102" cy="36210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65392" y="3035808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8028432" y="22402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assets/result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6565" y="2388413"/>
            <a:ext cx="362102" cy="36210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827264" y="3035808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5"/>
          <p:cNvSpPr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sport tournament distributes festival participants who are eligible for that specific sport to sport teams — auto-generated teams (e.g. Cricket Team A/B), gender-rule-filtered pools, and captain-led bidding with equal or manual budget distribution.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Sport Tournament Workflow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Auction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sock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636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029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Connection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359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JWT-authenticated socket connection; client joins festival or sport auction rooms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29000" y="1463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bi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15636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029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Bidding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2359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auction-state events push full state snapshots to every connected client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17920" y="1463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tim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15636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029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Clock Sync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17920" y="2359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serverTime in every payload removes client-clock drift from countdown timers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3044952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080" y="32278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gu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332841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Revision-Based Guard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41239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revision numbers prevent stale, out-of-order socket pushes from overwriting newer state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46120" y="3044952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429000" y="32278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finaliz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9584" y="332841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2900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Discrimination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29000" y="41239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carries scopeType &amp; scopeId, making cross-auction contamination impossible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035040" y="3044952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217920" y="32278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refresh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8504" y="332841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17920" y="3794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Finalization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17920" y="41239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/ Unsold / Complete actions lock rosters and broadcast final state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Real-Time Auction Engine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Bid Increment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computes the next minimum bid dynamically via auctionIncrementEngine.js, combining three adjustment layers: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89280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ti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" y="2003450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53288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Base Increments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299008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 for bids under ₹1M, scaling up to ₹5L for bids over ₹10M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691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47288" y="189280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rati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930" y="2003450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7288" y="253288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Ratio Adjustment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47288" y="299008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increment when remaining purse is low; increases when purse is large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35040" y="1691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36208" y="189280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assets/sta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6850" y="2003450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253288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Stage Adjustment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36208" y="299008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increment in the final 25% of the participant pool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CONFIGURABLE PROFILES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53212" y="3931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53212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592324" y="3931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2592324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631436" y="3931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631436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670548" y="39319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4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670548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(configurable rules)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Bid Increment Engine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93392" cy="2926080"/>
          </a:xfrm>
          <a:prstGeom prst="roundRect">
            <a:avLst>
              <a:gd name="adj" fmla="val 4587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9576" y="1645920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reac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790" y="1761134"/>
            <a:ext cx="318211" cy="3182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77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88036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Vite  ·  MUI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9464" y="1371600"/>
            <a:ext cx="1993392" cy="2926080"/>
          </a:xfrm>
          <a:prstGeom prst="roundRect">
            <a:avLst>
              <a:gd name="adj" fmla="val 4587"/>
            </a:avLst>
          </a:prstGeom>
          <a:solidFill>
            <a:srgbClr val="B45309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91840" y="1645920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nod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054" y="1761134"/>
            <a:ext cx="318211" cy="3182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60904" y="2377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679192" y="288036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 ·  Socket.IO 4  ·  Sequelize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81728" y="1371600"/>
            <a:ext cx="1993392" cy="2926080"/>
          </a:xfrm>
          <a:prstGeom prst="roundRect">
            <a:avLst>
              <a:gd name="adj" fmla="val 4587"/>
            </a:avLst>
          </a:prstGeom>
          <a:solidFill>
            <a:srgbClr val="334155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404104" y="1645920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db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9318" y="1761134"/>
            <a:ext cx="318211" cy="3182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73168" y="2377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791456" y="288036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TiDB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93992" y="1371600"/>
            <a:ext cx="1993392" cy="2926080"/>
          </a:xfrm>
          <a:prstGeom prst="roundRect">
            <a:avLst>
              <a:gd name="adj" fmla="val 4587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516368" y="1645920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deploy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1582" y="1761134"/>
            <a:ext cx="318211" cy="31821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85432" y="23774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903720" y="288036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 ·  Vercel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Technology Stack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61848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organi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" y="172913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819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Organiser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98448" y="192024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auction coordination — the full lifecycle runs in one browser tab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64608" y="161848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own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250" y="172913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58191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Owner / Captain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04688" y="192024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fair, transparent process with real-time budget visibility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8368" y="331012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spectat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010" y="342077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2735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/ Spectator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98448" y="361188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engaging live view of how teams are being built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64608" y="331012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h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5250" y="342077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32735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Compliance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04688" y="3611880"/>
            <a:ext cx="2907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immutable audit log of every bid and assignment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Value Proposition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IT APART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27632" cy="3108960"/>
          </a:xfrm>
          <a:prstGeom prst="roundRect">
            <a:avLst>
              <a:gd name="adj" fmla="val 5618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2416" y="1572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neste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6733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4028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Auction Hierarchy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" y="288036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and sport tournament auctions share the same participant pool, enabling coordinated multi-sport bidding under one event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03704" y="1371600"/>
            <a:ext cx="1627632" cy="3108960"/>
          </a:xfrm>
          <a:prstGeom prst="roundRect">
            <a:avLst>
              <a:gd name="adj" fmla="val 5618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88920" y="1572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revisi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16733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13432" y="224028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Revision-Guarded Real-Time State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331720" y="288036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monotonic revision guard prevents stale socket pushes from corrupting client state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950208" y="1371600"/>
            <a:ext cx="1627632" cy="3108960"/>
          </a:xfrm>
          <a:prstGeom prst="roundRect">
            <a:avLst>
              <a:gd name="adj" fmla="val 5618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35424" y="1572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adaptiv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16733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59936" y="224028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Bid Increment Engine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078224" y="288036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scale dynamically with budget depletion and auction progress, creating natural bidding tension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696712" y="1371600"/>
            <a:ext cx="1627632" cy="3108960"/>
          </a:xfrm>
          <a:prstGeom prst="roundRect">
            <a:avLst>
              <a:gd name="adj" fmla="val 5618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281928" y="1572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autoprovisio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16733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224028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Auto-Provisioned Accounts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824728" y="288036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 team owner auto-creates their account and emails credentials — no manual onboarding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443216" y="1371600"/>
            <a:ext cx="1627632" cy="3108960"/>
          </a:xfrm>
          <a:prstGeom prst="roundRect">
            <a:avLst>
              <a:gd name="adj" fmla="val 5618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028432" y="1572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lockstat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9016" y="167335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52944" y="224028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Lock System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571232" y="2880360"/>
            <a:ext cx="1371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accidental edits once an auction is underway, with explicit typed-confirmation unlock/relock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Differentiators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Analysis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200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AuctionArena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simultaneous bid visibility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(Socket.IO)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per-team purse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separation (admin/owner/spectator)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Sport-level sub-auctions within a festival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data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import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audit 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Competitive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Highlights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was built with production-grade engineering rigor across the stack: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" y="174650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secur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6" y="1835018"/>
            <a:ext cx="225308" cy="225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2219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2514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route guards, API middleware, domain-level authorization checks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16002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10712" y="174650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valida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9226" y="1835018"/>
            <a:ext cx="225308" cy="2253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22219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10712" y="2514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validation against current highest bid and team budget at every step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35040" y="16002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99632" y="174650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assets/audi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146" y="1835018"/>
            <a:ext cx="225308" cy="2253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9632" y="22219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99632" y="25146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security review areas (SPORT_PARITY_AUDIT.md) tracked to roadmap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32004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21792" y="334670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assets/refres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306" y="3435218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" y="38221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1792" y="41148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Revision-guarded state management to eliminate stale-update bugs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46120" y="32004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410712" y="334670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asset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9226" y="3435218"/>
            <a:ext cx="225308" cy="2253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10712" y="38221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Reviews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10712" y="41148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lock system to protect live auction data integrity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035040" y="32004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199632" y="334670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assets/doc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8146" y="3435218"/>
            <a:ext cx="225308" cy="2253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199632" y="38221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99632" y="41148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PRD covering personas, journeys, and success metrics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Engineering Highlights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User Journeys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5270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adm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6276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08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1 — Admin: Full Festival Auction Setup to Results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89280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Create festival → Add sports, import employees, create teams, assign owners (auto-emailed credentials) → Set retentions &amp; budget → Review readiness in Command Center → Start Auction → Sell / Unsold each participant → Complete → Results published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368" y="32186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capt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3192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3200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2 — Sport Team Captain: Bidding in a Sport Auction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358444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credentials → Logs in, changes password → Selects tournament → Opens Sport Auction Arena → Places bid via CaptainBidControl → Socket broadcasts update to all participants → Views final team roster in Sport Auction Hub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Key User Journeys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 (Next Quarter)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14884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Tournament Command Center parity with Festival Command Center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lifecycle control surface in tournament workspace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CSV import for sport tournament setup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29000" y="1572768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5727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47288" y="214884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refresh token rotation with secure HttpOnly cookies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CORS allowlist; Socket.IO JWT handshake auth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on login, registration, and bid endpoints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4F6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572768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5727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6208" y="2148840"/>
            <a:ext cx="22037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auction duration per round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team squads and bid history as CSV/PDF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scheduling and result tracking post-auction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Future Roadmap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27632" cy="2834640"/>
          </a:xfrm>
          <a:prstGeom prst="roundRect">
            <a:avLst>
              <a:gd name="adj" fmla="val 5618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30 min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Setup Time (Admin)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306324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festival creation to auction start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95144" y="1380744"/>
            <a:ext cx="1627632" cy="2834640"/>
          </a:xfrm>
          <a:prstGeom prst="roundRect">
            <a:avLst>
              <a:gd name="adj" fmla="val 5618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86584" y="1655064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overruns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404872" y="2340864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Compliance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23160" y="307238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 roster ever exceeds its allocated budget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41648" y="1380744"/>
            <a:ext cx="1627632" cy="2834640"/>
          </a:xfrm>
          <a:prstGeom prst="roundRect">
            <a:avLst>
              <a:gd name="adj" fmla="val 5618"/>
            </a:avLst>
          </a:prstGeom>
          <a:solidFill>
            <a:srgbClr val="B45309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33088" y="1655064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51376" y="2340864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69664" y="307238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bid, sell, and unsold recorded in bid history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88152" y="1380744"/>
            <a:ext cx="1627632" cy="2834640"/>
          </a:xfrm>
          <a:prstGeom prst="roundRect">
            <a:avLst>
              <a:gd name="adj" fmla="val 5618"/>
            </a:avLst>
          </a:prstGeom>
          <a:solidFill>
            <a:srgbClr val="0F172A"/>
          </a:solidFill>
          <a:ln/>
          <a:effectLst>
            <a:outerShdw blurRad="114300" dist="381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79592" y="1655064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downtime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897880" y="2340864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Availability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16168" y="3072384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any live auction session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Success Metrics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7772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bi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258" y="9212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 |  Thank You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456497E-2F9C-20C1-4361-64D39510B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018" y="678873"/>
            <a:ext cx="852055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2444</Words>
  <Application>Microsoft Office PowerPoint</Application>
  <PresentationFormat>On-screen Show (16:9)</PresentationFormat>
  <Paragraphs>330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AuctionArena - Festival &amp; Sports Auction Management Platform</dc:title>
  <dc:subject>PptxGenJS Presentation</dc:subject>
  <dc:creator>Cognine</dc:creator>
  <cp:lastModifiedBy>Vamsi Ayiluri</cp:lastModifiedBy>
  <cp:revision>3</cp:revision>
  <dcterms:created xsi:type="dcterms:W3CDTF">2026-06-21T11:07:26Z</dcterms:created>
  <dcterms:modified xsi:type="dcterms:W3CDTF">2026-06-21T11:16:36Z</dcterms:modified>
</cp:coreProperties>
</file>