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1666"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8324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AuctionArena — a production-grade, real-time employee auction platform built for company sports festivals and tournaments. Introduce yourself and briefly state the problem this platform solves before advancing to the executive summary.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AuctionArena solves the real problem of running company sports day auctions. It delivers two complete auction systems, 90+ REST endpoints, and was built in approximately 3 months with AI-assisted development. Emphasise that all three pillars — problem, real-time, and multi-role — were delivered and are in the live product.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six real pain points that drove this project. Every bullet on the left is something the developer personally witnessed in company auction events. The right column is the exact solution AuctionArena delivers for each one — this is a direct mapping, not aspirational.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mission is concise and measurable. The vision extends the platform beyond sports — this is a realistic future direction given the auction engine is domain-agnostic. The three business goals map directly to the three user types: admin, team owner, and HR/finance reviewer.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systems — Festival and Sport Tournament — share the same underlying real-time auction engine at the bottom. This is important: the Socket.IO infrastructure, revision guard, and role-based bid controls are not duplicated. The architecture reuses the engine while exposing different product surfaces for each domain.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separation is enforced at every API endpoint — not just the UI. An admin token is required to start or pause an auction. Team owner tokens can only bid in arenas where they hold ownership. Spectator tokens receive real-time state but all bid submission endpoints reject them at the authorization layer.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journeys converge on the same infrastructure layer at the bottom. Note that the Sport Tournament journey sits inside the Festival — a sport tournament can only exist within a festival and its participants are already registered festival attendees. This hierarchy is enforced in the data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festival lifecycle is strictly linear — an admin cannot jump from DRAFT to LIVE without passing through SETUP and READY. The readiness check at the READY gate validates: minimum teams, all owners assigned, auction pool generated, and at least one participant eligible. This gate is enforced in both the frontend UI and the backend readiness endpoint.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sport tournament auction mirrors the festival lifecycle but operates at the participant level within a single sport. The credit budget (e.g., 200 credits per team) is distributed before the auction begins. The auction pool is generated from festival participants who are eligible for the tournament based on gender rules configured by the admin.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revision guard is the key reliability mechanism. Every auction-state payload carries a monotonically increasing revision number. The client compares incoming revision to its lastRevision ref — if the incoming revision is not greater, the update is discarded. This prevents buffered or out-of-order socket events from overwriting newer in-memory state, which was a real defect fixed during Sport Tournament parity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classic client-server SPA. The critical design choice is that Socket.IO runs on the same Node.js process as the REST API — this means auction state broadcasts happen in-process without a message broker. This works at current scale. A Redis adapter would be added for horizontal scaling.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two parallel auction hierarchies — Festival and Sport — that share the User and Employee tables but have fully separate auction, bid, pool, and result tables. This separation means each auction type can evolve independently. The Legacy (v1) tournament system remains operational alongside the newer v2 Festival and Sport systems.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version numbers are exact — sourced directly from package.json files in the repository. The choice of React 19 and React Router 7 represents the current major release stream. Node.js uses ES Module syntax throughout the backend — no require() calls exist in the backend source.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1 through 4E+ are all complete. Phase 5 Sport Parity work is substantially complete — the demo-critical items (readiness fetch, socket reconnect, revision guard, results page rewrite, LoadingStateCard, Promise.allSettled) were all implemented. M11 Production Hardening items are planned post-submission.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verifiable facts from the codebase — not aspirational statements. The Zod validation, transaction safety, audit logging, and revision guards are present in the deployed code. ESLint is configured for the frontend. The backend has no linting configured — this is an acknowledged gap.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was the primary AI tool — it generated code, reviewed it, audited parity gaps, and produced documentation. ChatGPT provided advisory and architecture validation. All AI output was reviewed, tested, and approved by the developer before integration. AI never had direct access to production systems or credentials.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the lack of automated tests. The testing infrastructure is in place (node --test runner is configured) but no test files were written. The honest framing is: the product was manually tested thoroughly across all workflows. Automated tests are the highest priority for the next development phase.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optimisations were all implemented as part of the Sport Parity phase. Each one was discovered through an AI-assisted audit that compared the Sport Tournament implementation against the Festival reference implementation. The audit document (SPORT_PARITY_AUDIT.md) listed these as High priority items.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two browser windows before the demo — one as admin, one as team_owner. This makes steps 5 and 6 (bidding + real-time sync) dramatically impactful when the audience sees both screens update simultaneously. Have a festival already in LIVE stage to save setup time during the demo.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constraint-heavy prompts produced significantly better results than open-ended ones. Key patterns: always specify what NOT to touch (e.g. 'do not touch Festival code'), reference the existing working implementation as the pattern to follow, and specify the exact file and route parameters. This reduced hallucinated API paths to near zero.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revision guard bug and the role visibility bug were both discovered through AI-assisted audits — not during initial development. This validates the audit-driven approach: building the feature is phase one, auditing the feature against a reference is phase two. Both phases are necessary.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roadmap phases are grounded in actual TODO.md items and SPORT_PARITY_AUDIT.md medium/low priority findings from the repository. None of these are invented features. The Competition Engine module mentioned in some early planning documents has been removed from scope — it was never implemented.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by returning to the original problem: employee sports day auctions on spreadsheets and whiteboards. AuctionArena replaces that with a production-grade, browser-based, real-time system delivered in three months with AI-assisted development. All six achievement areas are complete and in the codebase.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questions to prepare for: 1) Why no automated tests? — Honest answer: acknowledged tech debt, infrastructure is ready, implementation is phase 1 post-submission. 2) How does Socket.IO scale? — Current single-node setup works for company-scale events; Redis adapter is the scaling path. 3) What AI tool was used most? — Claude Code for implementation and audits; ChatGPT for architecture advisory.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3" name="Text 1"/>
          <p:cNvSpPr/>
          <p:nvPr/>
        </p:nvSpPr>
        <p:spPr>
          <a:xfrm>
            <a:off x="640080" y="914400"/>
            <a:ext cx="7772400" cy="1188720"/>
          </a:xfrm>
          <a:prstGeom prst="rect">
            <a:avLst/>
          </a:prstGeom>
          <a:noFill/>
          <a:ln/>
        </p:spPr>
        <p:txBody>
          <a:bodyPr wrap="square" lIns="0" tIns="0" rIns="0" bIns="0" rtlCol="0" anchor="ctr"/>
          <a:lstStyle/>
          <a:p>
            <a:pPr marL="0" indent="0" algn="l">
              <a:buNone/>
            </a:pPr>
            <a:r>
              <a:rPr lang="en-US" sz="5600" b="1" dirty="0">
                <a:solidFill>
                  <a:srgbClr val="FFFFFF"/>
                </a:solidFill>
                <a:latin typeface="Cambria" pitchFamily="34" charset="0"/>
                <a:ea typeface="Cambria" pitchFamily="34" charset="-122"/>
                <a:cs typeface="Cambria" pitchFamily="34" charset="-120"/>
              </a:rPr>
              <a:t>AuctionArena</a:t>
            </a:r>
            <a:endParaRPr lang="en-US" sz="5600" dirty="0"/>
          </a:p>
        </p:txBody>
      </p:sp>
      <p:sp>
        <p:nvSpPr>
          <p:cNvPr id="4" name="Text 2"/>
          <p:cNvSpPr/>
          <p:nvPr/>
        </p:nvSpPr>
        <p:spPr>
          <a:xfrm>
            <a:off x="640080" y="2148840"/>
            <a:ext cx="7315200" cy="502920"/>
          </a:xfrm>
          <a:prstGeom prst="rect">
            <a:avLst/>
          </a:prstGeom>
          <a:noFill/>
          <a:ln/>
        </p:spPr>
        <p:txBody>
          <a:bodyPr wrap="square" lIns="0" tIns="0" rIns="0" bIns="0" rtlCol="0" anchor="ctr"/>
          <a:lstStyle/>
          <a:p>
            <a:pPr marL="0" indent="0" algn="l">
              <a:buNone/>
            </a:pPr>
            <a:r>
              <a:rPr lang="en-US" sz="2000" dirty="0">
                <a:solidFill>
                  <a:srgbClr val="F0A030"/>
                </a:solidFill>
                <a:latin typeface="Calibri" pitchFamily="34" charset="0"/>
                <a:ea typeface="Calibri" pitchFamily="34" charset="-122"/>
                <a:cs typeface="Calibri" pitchFamily="34" charset="-120"/>
              </a:rPr>
              <a:t>Full-Stack Real-Time Employee Auction Platform</a:t>
            </a:r>
            <a:endParaRPr lang="en-US" sz="2000" dirty="0"/>
          </a:p>
        </p:txBody>
      </p:sp>
      <p:sp>
        <p:nvSpPr>
          <p:cNvPr id="5" name="Shape 3"/>
          <p:cNvSpPr/>
          <p:nvPr/>
        </p:nvSpPr>
        <p:spPr>
          <a:xfrm>
            <a:off x="640080" y="2743200"/>
            <a:ext cx="1371600" cy="27432"/>
          </a:xfrm>
          <a:prstGeom prst="rect">
            <a:avLst/>
          </a:prstGeom>
          <a:solidFill>
            <a:srgbClr val="F0A030"/>
          </a:solidFill>
          <a:ln w="12700">
            <a:solidFill>
              <a:srgbClr val="F0A030"/>
            </a:solidFill>
            <a:prstDash val="solid"/>
          </a:ln>
        </p:spPr>
        <p:txBody>
          <a:bodyPr/>
          <a:lstStyle/>
          <a:p>
            <a:endParaRPr lang="en-US"/>
          </a:p>
        </p:txBody>
      </p:sp>
      <p:sp>
        <p:nvSpPr>
          <p:cNvPr id="6" name="Text 4"/>
          <p:cNvSpPr/>
          <p:nvPr/>
        </p:nvSpPr>
        <p:spPr>
          <a:xfrm>
            <a:off x="640080" y="2926080"/>
            <a:ext cx="6400800" cy="822960"/>
          </a:xfrm>
          <a:prstGeom prst="rect">
            <a:avLst/>
          </a:prstGeom>
          <a:noFill/>
          <a:ln/>
        </p:spPr>
        <p:txBody>
          <a:bodyPr wrap="square" lIns="0" tIns="0" rIns="0" bIns="0" rtlCol="0" anchor="t"/>
          <a:lstStyle/>
          <a:p>
            <a:pPr marL="0" indent="0" algn="l">
              <a:buNone/>
            </a:pPr>
            <a:endParaRPr lang="en-US" sz="1300" dirty="0"/>
          </a:p>
        </p:txBody>
      </p:sp>
      <p:sp>
        <p:nvSpPr>
          <p:cNvPr id="7" name="Text 5"/>
          <p:cNvSpPr/>
          <p:nvPr/>
        </p:nvSpPr>
        <p:spPr>
          <a:xfrm>
            <a:off x="640080" y="4480560"/>
            <a:ext cx="7772400" cy="365760"/>
          </a:xfrm>
          <a:prstGeom prst="rect">
            <a:avLst/>
          </a:prstGeom>
          <a:noFill/>
          <a:ln/>
        </p:spPr>
        <p:txBody>
          <a:bodyPr wrap="square" lIns="0" tIns="0" rIns="0" bIns="0" rtlCol="0" anchor="ctr"/>
          <a:lstStyle/>
          <a:p>
            <a:pPr marL="0" indent="0" algn="l">
              <a:buNone/>
            </a:pPr>
            <a:r>
              <a:rPr lang="en-US" sz="1000" dirty="0">
                <a:solidFill>
                  <a:srgbClr val="6B82BB"/>
                </a:solidFill>
                <a:latin typeface="Calibri" pitchFamily="34" charset="0"/>
                <a:ea typeface="Calibri" pitchFamily="34" charset="-122"/>
                <a:cs typeface="Calibri" pitchFamily="34" charset="-120"/>
              </a:rPr>
              <a:t>Festival Auction  ·  Sport Tournament Auction  ·  Real-Time Bidding Engine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EXECUTIVE SUMMARY</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AuctionArena at a Glance</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2651760" cy="1417320"/>
          </a:xfrm>
          <a:prstGeom prst="roundRect">
            <a:avLst>
              <a:gd name="adj" fmla="val 6452"/>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457200" y="960120"/>
            <a:ext cx="2651760" cy="640080"/>
          </a:xfrm>
          <a:prstGeom prst="rect">
            <a:avLst/>
          </a:prstGeom>
          <a:noFill/>
          <a:ln/>
        </p:spPr>
        <p:txBody>
          <a:bodyPr wrap="square" lIns="0" tIns="0" rIns="0" bIns="0" rtlCol="0" anchor="ctr"/>
          <a:lstStyle/>
          <a:p>
            <a:pPr marL="0" indent="0" algn="ctr">
              <a:buNone/>
            </a:pPr>
            <a:r>
              <a:rPr lang="en-US" sz="3600" b="1" dirty="0">
                <a:solidFill>
                  <a:srgbClr val="1E3A8A"/>
                </a:solidFill>
                <a:latin typeface="Cambria" pitchFamily="34" charset="0"/>
                <a:ea typeface="Cambria" pitchFamily="34" charset="-122"/>
                <a:cs typeface="Cambria" pitchFamily="34" charset="-120"/>
              </a:rPr>
              <a:t>2</a:t>
            </a:r>
            <a:endParaRPr lang="en-US" sz="3600" dirty="0"/>
          </a:p>
        </p:txBody>
      </p:sp>
      <p:sp>
        <p:nvSpPr>
          <p:cNvPr id="7" name="Text 5"/>
          <p:cNvSpPr/>
          <p:nvPr/>
        </p:nvSpPr>
        <p:spPr>
          <a:xfrm>
            <a:off x="457200" y="1572768"/>
            <a:ext cx="2651760"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Auction Systems</a:t>
            </a:r>
            <a:endParaRPr lang="en-US" sz="1200" dirty="0"/>
          </a:p>
        </p:txBody>
      </p:sp>
      <p:sp>
        <p:nvSpPr>
          <p:cNvPr id="8" name="Text 6"/>
          <p:cNvSpPr/>
          <p:nvPr/>
        </p:nvSpPr>
        <p:spPr>
          <a:xfrm>
            <a:off x="457200" y="1828800"/>
            <a:ext cx="2651760" cy="219456"/>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Festival + Sport Tournament</a:t>
            </a:r>
            <a:endParaRPr lang="en-US" sz="900" dirty="0"/>
          </a:p>
        </p:txBody>
      </p:sp>
      <p:sp>
        <p:nvSpPr>
          <p:cNvPr id="9" name="Shape 7"/>
          <p:cNvSpPr/>
          <p:nvPr/>
        </p:nvSpPr>
        <p:spPr>
          <a:xfrm>
            <a:off x="3246120" y="914400"/>
            <a:ext cx="2651760" cy="1417320"/>
          </a:xfrm>
          <a:prstGeom prst="roundRect">
            <a:avLst>
              <a:gd name="adj" fmla="val 6452"/>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0" name="Text 8"/>
          <p:cNvSpPr/>
          <p:nvPr/>
        </p:nvSpPr>
        <p:spPr>
          <a:xfrm>
            <a:off x="3246120" y="960120"/>
            <a:ext cx="2651760" cy="640080"/>
          </a:xfrm>
          <a:prstGeom prst="rect">
            <a:avLst/>
          </a:prstGeom>
          <a:noFill/>
          <a:ln/>
        </p:spPr>
        <p:txBody>
          <a:bodyPr wrap="square" lIns="0" tIns="0" rIns="0" bIns="0" rtlCol="0" anchor="ctr"/>
          <a:lstStyle/>
          <a:p>
            <a:pPr marL="0" indent="0" algn="ctr">
              <a:buNone/>
            </a:pPr>
            <a:r>
              <a:rPr lang="en-US" sz="3600" b="1" dirty="0">
                <a:solidFill>
                  <a:srgbClr val="2563EB"/>
                </a:solidFill>
                <a:latin typeface="Cambria" pitchFamily="34" charset="0"/>
                <a:ea typeface="Cambria" pitchFamily="34" charset="-122"/>
                <a:cs typeface="Cambria" pitchFamily="34" charset="-120"/>
              </a:rPr>
              <a:t>90+</a:t>
            </a:r>
            <a:endParaRPr lang="en-US" sz="3600" dirty="0"/>
          </a:p>
        </p:txBody>
      </p:sp>
      <p:sp>
        <p:nvSpPr>
          <p:cNvPr id="11" name="Text 9"/>
          <p:cNvSpPr/>
          <p:nvPr/>
        </p:nvSpPr>
        <p:spPr>
          <a:xfrm>
            <a:off x="3246120" y="1572768"/>
            <a:ext cx="2651760"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REST API Endpoints</a:t>
            </a:r>
            <a:endParaRPr lang="en-US" sz="1200" dirty="0"/>
          </a:p>
        </p:txBody>
      </p:sp>
      <p:sp>
        <p:nvSpPr>
          <p:cNvPr id="12" name="Text 10"/>
          <p:cNvSpPr/>
          <p:nvPr/>
        </p:nvSpPr>
        <p:spPr>
          <a:xfrm>
            <a:off x="3246120" y="1828800"/>
            <a:ext cx="2651760" cy="219456"/>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Auth · Festival · Sport</a:t>
            </a:r>
            <a:endParaRPr lang="en-US" sz="900" dirty="0"/>
          </a:p>
        </p:txBody>
      </p:sp>
      <p:sp>
        <p:nvSpPr>
          <p:cNvPr id="13" name="Shape 11"/>
          <p:cNvSpPr/>
          <p:nvPr/>
        </p:nvSpPr>
        <p:spPr>
          <a:xfrm>
            <a:off x="6035040" y="914400"/>
            <a:ext cx="2651760" cy="1417320"/>
          </a:xfrm>
          <a:prstGeom prst="roundRect">
            <a:avLst>
              <a:gd name="adj" fmla="val 6452"/>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4" name="Text 12"/>
          <p:cNvSpPr/>
          <p:nvPr/>
        </p:nvSpPr>
        <p:spPr>
          <a:xfrm>
            <a:off x="6035040" y="960120"/>
            <a:ext cx="2651760" cy="640080"/>
          </a:xfrm>
          <a:prstGeom prst="rect">
            <a:avLst/>
          </a:prstGeom>
          <a:noFill/>
          <a:ln/>
        </p:spPr>
        <p:txBody>
          <a:bodyPr wrap="square" lIns="0" tIns="0" rIns="0" bIns="0" rtlCol="0" anchor="ctr"/>
          <a:lstStyle/>
          <a:p>
            <a:pPr marL="0" indent="0" algn="ctr">
              <a:buNone/>
            </a:pPr>
            <a:r>
              <a:rPr lang="en-US" sz="3600" b="1" dirty="0">
                <a:solidFill>
                  <a:srgbClr val="059669"/>
                </a:solidFill>
                <a:latin typeface="Cambria" pitchFamily="34" charset="0"/>
                <a:ea typeface="Cambria" pitchFamily="34" charset="-122"/>
                <a:cs typeface="Cambria" pitchFamily="34" charset="-120"/>
              </a:rPr>
              <a:t>~1 Months</a:t>
            </a:r>
            <a:endParaRPr lang="en-US" sz="3600" dirty="0"/>
          </a:p>
        </p:txBody>
      </p:sp>
      <p:sp>
        <p:nvSpPr>
          <p:cNvPr id="15" name="Text 13"/>
          <p:cNvSpPr/>
          <p:nvPr/>
        </p:nvSpPr>
        <p:spPr>
          <a:xfrm>
            <a:off x="6035040" y="1572768"/>
            <a:ext cx="2651760"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Delivery Time</a:t>
            </a:r>
            <a:endParaRPr lang="en-US" sz="1200" dirty="0"/>
          </a:p>
        </p:txBody>
      </p:sp>
      <p:sp>
        <p:nvSpPr>
          <p:cNvPr id="16" name="Text 14"/>
          <p:cNvSpPr/>
          <p:nvPr/>
        </p:nvSpPr>
        <p:spPr>
          <a:xfrm>
            <a:off x="6035040" y="1828800"/>
            <a:ext cx="2651760" cy="219456"/>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vs 6–9 months estimated without AI</a:t>
            </a:r>
            <a:endParaRPr lang="en-US" sz="900" dirty="0"/>
          </a:p>
        </p:txBody>
      </p:sp>
      <p:sp>
        <p:nvSpPr>
          <p:cNvPr id="17" name="Shape 15"/>
          <p:cNvSpPr/>
          <p:nvPr/>
        </p:nvSpPr>
        <p:spPr>
          <a:xfrm>
            <a:off x="457200" y="2560320"/>
            <a:ext cx="2651760" cy="2331720"/>
          </a:xfrm>
          <a:prstGeom prst="roundRect">
            <a:avLst>
              <a:gd name="adj" fmla="val 3922"/>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8" name="Text 16"/>
          <p:cNvSpPr/>
          <p:nvPr/>
        </p:nvSpPr>
        <p:spPr>
          <a:xfrm>
            <a:off x="457200" y="2670048"/>
            <a:ext cx="2651760" cy="3657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457200" y="3035808"/>
            <a:ext cx="265176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Real Problem Solved</a:t>
            </a:r>
            <a:endParaRPr lang="en-US" sz="1200" dirty="0"/>
          </a:p>
        </p:txBody>
      </p:sp>
      <p:sp>
        <p:nvSpPr>
          <p:cNvPr id="20" name="Text 18"/>
          <p:cNvSpPr/>
          <p:nvPr/>
        </p:nvSpPr>
        <p:spPr>
          <a:xfrm>
            <a:off x="594360" y="3337560"/>
            <a:ext cx="2377440" cy="1463040"/>
          </a:xfrm>
          <a:prstGeom prst="rect">
            <a:avLst/>
          </a:prstGeom>
          <a:noFill/>
          <a:ln/>
        </p:spPr>
        <p:txBody>
          <a:bodyPr wrap="square" lIns="0" tIns="0" rIns="0" bIns="0"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Replaces manual, error-prone spreadsheet and whiteboard auctions with a browser-based, budget-enforcing, fully auditable system.</a:t>
            </a:r>
            <a:endParaRPr lang="en-US" sz="1000" dirty="0"/>
          </a:p>
        </p:txBody>
      </p:sp>
      <p:sp>
        <p:nvSpPr>
          <p:cNvPr id="21" name="Shape 19"/>
          <p:cNvSpPr/>
          <p:nvPr/>
        </p:nvSpPr>
        <p:spPr>
          <a:xfrm>
            <a:off x="3246120" y="2560320"/>
            <a:ext cx="2651760" cy="2331720"/>
          </a:xfrm>
          <a:prstGeom prst="roundRect">
            <a:avLst>
              <a:gd name="adj" fmla="val 3922"/>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2" name="Text 20"/>
          <p:cNvSpPr/>
          <p:nvPr/>
        </p:nvSpPr>
        <p:spPr>
          <a:xfrm>
            <a:off x="3246120" y="2670048"/>
            <a:ext cx="2651760" cy="3657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3246120" y="3035808"/>
            <a:ext cx="265176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Real-Time First</a:t>
            </a:r>
            <a:endParaRPr lang="en-US" sz="1200" dirty="0"/>
          </a:p>
        </p:txBody>
      </p:sp>
      <p:sp>
        <p:nvSpPr>
          <p:cNvPr id="24" name="Text 22"/>
          <p:cNvSpPr/>
          <p:nvPr/>
        </p:nvSpPr>
        <p:spPr>
          <a:xfrm>
            <a:off x="3383280" y="3337560"/>
            <a:ext cx="2377440" cy="1463040"/>
          </a:xfrm>
          <a:prstGeom prst="rect">
            <a:avLst/>
          </a:prstGeom>
          <a:noFill/>
          <a:ln/>
        </p:spPr>
        <p:txBody>
          <a:bodyPr wrap="square" lIns="0" tIns="0" rIns="0" bIns="0"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Socket.IO WebSocket rooms broadcast every bid instantly to all participants. Revision-guarded state prevents stale updates.</a:t>
            </a:r>
            <a:endParaRPr lang="en-US" sz="1000" dirty="0"/>
          </a:p>
        </p:txBody>
      </p:sp>
      <p:sp>
        <p:nvSpPr>
          <p:cNvPr id="25" name="Shape 23"/>
          <p:cNvSpPr/>
          <p:nvPr/>
        </p:nvSpPr>
        <p:spPr>
          <a:xfrm>
            <a:off x="6035040" y="2560320"/>
            <a:ext cx="2651760" cy="2331720"/>
          </a:xfrm>
          <a:prstGeom prst="roundRect">
            <a:avLst>
              <a:gd name="adj" fmla="val 3922"/>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6" name="Text 24"/>
          <p:cNvSpPr/>
          <p:nvPr/>
        </p:nvSpPr>
        <p:spPr>
          <a:xfrm>
            <a:off x="6035040" y="2670048"/>
            <a:ext cx="2651760" cy="3657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6035040" y="3035808"/>
            <a:ext cx="265176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Multi-Role Architecture</a:t>
            </a:r>
            <a:endParaRPr lang="en-US" sz="1200" dirty="0"/>
          </a:p>
        </p:txBody>
      </p:sp>
      <p:sp>
        <p:nvSpPr>
          <p:cNvPr id="28" name="Text 26"/>
          <p:cNvSpPr/>
          <p:nvPr/>
        </p:nvSpPr>
        <p:spPr>
          <a:xfrm>
            <a:off x="6172200" y="3337560"/>
            <a:ext cx="2377440" cy="1463040"/>
          </a:xfrm>
          <a:prstGeom prst="rect">
            <a:avLst/>
          </a:prstGeom>
          <a:noFill/>
          <a:ln/>
        </p:spPr>
        <p:txBody>
          <a:bodyPr wrap="square" lIns="0" tIns="0" rIns="0" bIns="0"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Three roles (admin, team_owner, spectator) enforced at every API endpoint. Captains and team owners bid; spectators observe.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PROBLEM STATEMENT</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Why AuctionArena Was Needed</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4160520" cy="3977640"/>
          </a:xfrm>
          <a:prstGeom prst="roundRect">
            <a:avLst>
              <a:gd name="adj" fmla="val 2299"/>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594360" y="1005840"/>
            <a:ext cx="3840480" cy="2743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BEFORE — Manual Auction Problems</a:t>
            </a:r>
            <a:endParaRPr lang="en-US" sz="1100" dirty="0"/>
          </a:p>
        </p:txBody>
      </p:sp>
      <p:sp>
        <p:nvSpPr>
          <p:cNvPr id="7" name="Text 5"/>
          <p:cNvSpPr/>
          <p:nvPr/>
        </p:nvSpPr>
        <p:spPr>
          <a:xfrm>
            <a:off x="594360" y="1417320"/>
            <a:ext cx="384048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No simultaneous bid visibility — disputes arise</a:t>
            </a:r>
            <a:endParaRPr lang="en-US" sz="1100" dirty="0"/>
          </a:p>
        </p:txBody>
      </p:sp>
      <p:sp>
        <p:nvSpPr>
          <p:cNvPr id="8" name="Shape 6"/>
          <p:cNvSpPr/>
          <p:nvPr/>
        </p:nvSpPr>
        <p:spPr>
          <a:xfrm>
            <a:off x="594360" y="1801368"/>
            <a:ext cx="3749040" cy="9144"/>
          </a:xfrm>
          <a:prstGeom prst="rect">
            <a:avLst/>
          </a:prstGeom>
          <a:solidFill>
            <a:srgbClr val="E2E8F0"/>
          </a:solidFill>
          <a:ln w="12700">
            <a:solidFill>
              <a:srgbClr val="E2E8F0"/>
            </a:solidFill>
            <a:prstDash val="solid"/>
          </a:ln>
        </p:spPr>
        <p:txBody>
          <a:bodyPr/>
          <a:lstStyle/>
          <a:p>
            <a:endParaRPr lang="en-US"/>
          </a:p>
        </p:txBody>
      </p:sp>
      <p:sp>
        <p:nvSpPr>
          <p:cNvPr id="9" name="Text 7"/>
          <p:cNvSpPr/>
          <p:nvPr/>
        </p:nvSpPr>
        <p:spPr>
          <a:xfrm>
            <a:off x="594360" y="1892808"/>
            <a:ext cx="384048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No budget enforcement — teams overspend</a:t>
            </a:r>
            <a:endParaRPr lang="en-US" sz="1100" dirty="0"/>
          </a:p>
        </p:txBody>
      </p:sp>
      <p:sp>
        <p:nvSpPr>
          <p:cNvPr id="10" name="Shape 8"/>
          <p:cNvSpPr/>
          <p:nvPr/>
        </p:nvSpPr>
        <p:spPr>
          <a:xfrm>
            <a:off x="594360" y="2276856"/>
            <a:ext cx="3749040" cy="9144"/>
          </a:xfrm>
          <a:prstGeom prst="rect">
            <a:avLst/>
          </a:prstGeom>
          <a:solidFill>
            <a:srgbClr val="E2E8F0"/>
          </a:solidFill>
          <a:ln w="12700">
            <a:solidFill>
              <a:srgbClr val="E2E8F0"/>
            </a:solidFill>
            <a:prstDash val="solid"/>
          </a:ln>
        </p:spPr>
        <p:txBody>
          <a:bodyPr/>
          <a:lstStyle/>
          <a:p>
            <a:endParaRPr lang="en-US"/>
          </a:p>
        </p:txBody>
      </p:sp>
      <p:sp>
        <p:nvSpPr>
          <p:cNvPr id="11" name="Text 9"/>
          <p:cNvSpPr/>
          <p:nvPr/>
        </p:nvSpPr>
        <p:spPr>
          <a:xfrm>
            <a:off x="594360" y="2368296"/>
            <a:ext cx="384048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No audit trail — bid history permanently lost</a:t>
            </a:r>
            <a:endParaRPr lang="en-US" sz="1100" dirty="0"/>
          </a:p>
        </p:txBody>
      </p:sp>
      <p:sp>
        <p:nvSpPr>
          <p:cNvPr id="12" name="Shape 10"/>
          <p:cNvSpPr/>
          <p:nvPr/>
        </p:nvSpPr>
        <p:spPr>
          <a:xfrm>
            <a:off x="594360" y="2752344"/>
            <a:ext cx="3749040" cy="9144"/>
          </a:xfrm>
          <a:prstGeom prst="rect">
            <a:avLst/>
          </a:prstGeom>
          <a:solidFill>
            <a:srgbClr val="E2E8F0"/>
          </a:solidFill>
          <a:ln w="12700">
            <a:solidFill>
              <a:srgbClr val="E2E8F0"/>
            </a:solidFill>
            <a:prstDash val="solid"/>
          </a:ln>
        </p:spPr>
        <p:txBody>
          <a:bodyPr/>
          <a:lstStyle/>
          <a:p>
            <a:endParaRPr lang="en-US"/>
          </a:p>
        </p:txBody>
      </p:sp>
      <p:sp>
        <p:nvSpPr>
          <p:cNvPr id="13" name="Text 11"/>
          <p:cNvSpPr/>
          <p:nvPr/>
        </p:nvSpPr>
        <p:spPr>
          <a:xfrm>
            <a:off x="594360" y="2843784"/>
            <a:ext cx="384048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Manual admin overhead — verbal announcements</a:t>
            </a:r>
            <a:endParaRPr lang="en-US" sz="1100" dirty="0"/>
          </a:p>
        </p:txBody>
      </p:sp>
      <p:sp>
        <p:nvSpPr>
          <p:cNvPr id="14" name="Shape 12"/>
          <p:cNvSpPr/>
          <p:nvPr/>
        </p:nvSpPr>
        <p:spPr>
          <a:xfrm>
            <a:off x="594360" y="3227832"/>
            <a:ext cx="3749040" cy="9144"/>
          </a:xfrm>
          <a:prstGeom prst="rect">
            <a:avLst/>
          </a:prstGeom>
          <a:solidFill>
            <a:srgbClr val="E2E8F0"/>
          </a:solidFill>
          <a:ln w="12700">
            <a:solidFill>
              <a:srgbClr val="E2E8F0"/>
            </a:solidFill>
            <a:prstDash val="solid"/>
          </a:ln>
        </p:spPr>
        <p:txBody>
          <a:bodyPr/>
          <a:lstStyle/>
          <a:p>
            <a:endParaRPr lang="en-US"/>
          </a:p>
        </p:txBody>
      </p:sp>
      <p:sp>
        <p:nvSpPr>
          <p:cNvPr id="15" name="Text 13"/>
          <p:cNvSpPr/>
          <p:nvPr/>
        </p:nvSpPr>
        <p:spPr>
          <a:xfrm>
            <a:off x="594360" y="3319272"/>
            <a:ext cx="384048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No role separation — spectators could interfere</a:t>
            </a:r>
            <a:endParaRPr lang="en-US" sz="1100" dirty="0"/>
          </a:p>
        </p:txBody>
      </p:sp>
      <p:sp>
        <p:nvSpPr>
          <p:cNvPr id="16" name="Shape 14"/>
          <p:cNvSpPr/>
          <p:nvPr/>
        </p:nvSpPr>
        <p:spPr>
          <a:xfrm>
            <a:off x="594360" y="3703320"/>
            <a:ext cx="3749040" cy="9144"/>
          </a:xfrm>
          <a:prstGeom prst="rect">
            <a:avLst/>
          </a:prstGeom>
          <a:solidFill>
            <a:srgbClr val="E2E8F0"/>
          </a:solidFill>
          <a:ln w="12700">
            <a:solidFill>
              <a:srgbClr val="E2E8F0"/>
            </a:solidFill>
            <a:prstDash val="solid"/>
          </a:ln>
        </p:spPr>
        <p:txBody>
          <a:bodyPr/>
          <a:lstStyle/>
          <a:p>
            <a:endParaRPr lang="en-US"/>
          </a:p>
        </p:txBody>
      </p:sp>
      <p:sp>
        <p:nvSpPr>
          <p:cNvPr id="17" name="Text 15"/>
          <p:cNvSpPr/>
          <p:nvPr/>
        </p:nvSpPr>
        <p:spPr>
          <a:xfrm>
            <a:off x="594360" y="3794760"/>
            <a:ext cx="384048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Spreadsheets break with 50+ participants</a:t>
            </a:r>
            <a:endParaRPr lang="en-US" sz="1100" dirty="0"/>
          </a:p>
        </p:txBody>
      </p:sp>
      <p:sp>
        <p:nvSpPr>
          <p:cNvPr id="18" name="Shape 16"/>
          <p:cNvSpPr/>
          <p:nvPr/>
        </p:nvSpPr>
        <p:spPr>
          <a:xfrm>
            <a:off x="4846320" y="914400"/>
            <a:ext cx="3840480" cy="3977640"/>
          </a:xfrm>
          <a:prstGeom prst="roundRect">
            <a:avLst>
              <a:gd name="adj" fmla="val 2381"/>
            </a:avLst>
          </a:prstGeom>
          <a:solidFill>
            <a:srgbClr val="EEF6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9" name="Text 17"/>
          <p:cNvSpPr/>
          <p:nvPr/>
        </p:nvSpPr>
        <p:spPr>
          <a:xfrm>
            <a:off x="4983480" y="1005840"/>
            <a:ext cx="3566160" cy="274320"/>
          </a:xfrm>
          <a:prstGeom prst="rect">
            <a:avLst/>
          </a:prstGeom>
          <a:noFill/>
          <a:ln/>
        </p:spPr>
        <p:txBody>
          <a:bodyPr wrap="square" lIns="0" tIns="0" rIns="0" bIns="0"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AFTER — AuctionArena</a:t>
            </a:r>
            <a:endParaRPr lang="en-US" sz="1100" dirty="0"/>
          </a:p>
        </p:txBody>
      </p:sp>
      <p:sp>
        <p:nvSpPr>
          <p:cNvPr id="20" name="Text 18"/>
          <p:cNvSpPr/>
          <p:nvPr/>
        </p:nvSpPr>
        <p:spPr>
          <a:xfrm>
            <a:off x="4983480" y="1417320"/>
            <a:ext cx="356616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Live bid stream visible to all simultaneously</a:t>
            </a:r>
            <a:endParaRPr lang="en-US" sz="1100" dirty="0"/>
          </a:p>
        </p:txBody>
      </p:sp>
      <p:sp>
        <p:nvSpPr>
          <p:cNvPr id="21" name="Shape 19"/>
          <p:cNvSpPr/>
          <p:nvPr/>
        </p:nvSpPr>
        <p:spPr>
          <a:xfrm>
            <a:off x="4983480" y="1801368"/>
            <a:ext cx="3474720" cy="9144"/>
          </a:xfrm>
          <a:prstGeom prst="rect">
            <a:avLst/>
          </a:prstGeom>
          <a:solidFill>
            <a:srgbClr val="C7E4FF"/>
          </a:solidFill>
          <a:ln w="12700">
            <a:solidFill>
              <a:srgbClr val="C7E4FF"/>
            </a:solidFill>
            <a:prstDash val="solid"/>
          </a:ln>
        </p:spPr>
        <p:txBody>
          <a:bodyPr/>
          <a:lstStyle/>
          <a:p>
            <a:endParaRPr lang="en-US"/>
          </a:p>
        </p:txBody>
      </p:sp>
      <p:sp>
        <p:nvSpPr>
          <p:cNvPr id="22" name="Text 20"/>
          <p:cNvSpPr/>
          <p:nvPr/>
        </p:nvSpPr>
        <p:spPr>
          <a:xfrm>
            <a:off x="4983480" y="1892808"/>
            <a:ext cx="356616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Hard budget caps enforced on every bid</a:t>
            </a:r>
            <a:endParaRPr lang="en-US" sz="1100" dirty="0"/>
          </a:p>
        </p:txBody>
      </p:sp>
      <p:sp>
        <p:nvSpPr>
          <p:cNvPr id="23" name="Shape 21"/>
          <p:cNvSpPr/>
          <p:nvPr/>
        </p:nvSpPr>
        <p:spPr>
          <a:xfrm>
            <a:off x="4983480" y="2276856"/>
            <a:ext cx="3474720" cy="9144"/>
          </a:xfrm>
          <a:prstGeom prst="rect">
            <a:avLst/>
          </a:prstGeom>
          <a:solidFill>
            <a:srgbClr val="C7E4FF"/>
          </a:solidFill>
          <a:ln w="12700">
            <a:solidFill>
              <a:srgbClr val="C7E4FF"/>
            </a:solidFill>
            <a:prstDash val="solid"/>
          </a:ln>
        </p:spPr>
        <p:txBody>
          <a:bodyPr/>
          <a:lstStyle/>
          <a:p>
            <a:endParaRPr lang="en-US"/>
          </a:p>
        </p:txBody>
      </p:sp>
      <p:sp>
        <p:nvSpPr>
          <p:cNvPr id="24" name="Text 22"/>
          <p:cNvSpPr/>
          <p:nvPr/>
        </p:nvSpPr>
        <p:spPr>
          <a:xfrm>
            <a:off x="4983480" y="2368296"/>
            <a:ext cx="356616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Complete bid history stored per auction round</a:t>
            </a:r>
            <a:endParaRPr lang="en-US" sz="1100" dirty="0"/>
          </a:p>
        </p:txBody>
      </p:sp>
      <p:sp>
        <p:nvSpPr>
          <p:cNvPr id="25" name="Shape 23"/>
          <p:cNvSpPr/>
          <p:nvPr/>
        </p:nvSpPr>
        <p:spPr>
          <a:xfrm>
            <a:off x="4983480" y="2752344"/>
            <a:ext cx="3474720" cy="9144"/>
          </a:xfrm>
          <a:prstGeom prst="rect">
            <a:avLst/>
          </a:prstGeom>
          <a:solidFill>
            <a:srgbClr val="C7E4FF"/>
          </a:solidFill>
          <a:ln w="12700">
            <a:solidFill>
              <a:srgbClr val="C7E4FF"/>
            </a:solidFill>
            <a:prstDash val="solid"/>
          </a:ln>
        </p:spPr>
        <p:txBody>
          <a:bodyPr/>
          <a:lstStyle/>
          <a:p>
            <a:endParaRPr lang="en-US"/>
          </a:p>
        </p:txBody>
      </p:sp>
      <p:sp>
        <p:nvSpPr>
          <p:cNvPr id="26" name="Text 24"/>
          <p:cNvSpPr/>
          <p:nvPr/>
        </p:nvSpPr>
        <p:spPr>
          <a:xfrm>
            <a:off x="4983480" y="2843784"/>
            <a:ext cx="356616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Admin controls the full lifecycle from one screen</a:t>
            </a:r>
            <a:endParaRPr lang="en-US" sz="1100" dirty="0"/>
          </a:p>
        </p:txBody>
      </p:sp>
      <p:sp>
        <p:nvSpPr>
          <p:cNvPr id="27" name="Shape 25"/>
          <p:cNvSpPr/>
          <p:nvPr/>
        </p:nvSpPr>
        <p:spPr>
          <a:xfrm>
            <a:off x="4983480" y="3227832"/>
            <a:ext cx="3474720" cy="9144"/>
          </a:xfrm>
          <a:prstGeom prst="rect">
            <a:avLst/>
          </a:prstGeom>
          <a:solidFill>
            <a:srgbClr val="C7E4FF"/>
          </a:solidFill>
          <a:ln w="12700">
            <a:solidFill>
              <a:srgbClr val="C7E4FF"/>
            </a:solidFill>
            <a:prstDash val="solid"/>
          </a:ln>
        </p:spPr>
        <p:txBody>
          <a:bodyPr/>
          <a:lstStyle/>
          <a:p>
            <a:endParaRPr lang="en-US"/>
          </a:p>
        </p:txBody>
      </p:sp>
      <p:sp>
        <p:nvSpPr>
          <p:cNvPr id="28" name="Text 26"/>
          <p:cNvSpPr/>
          <p:nvPr/>
        </p:nvSpPr>
        <p:spPr>
          <a:xfrm>
            <a:off x="4983480" y="3319272"/>
            <a:ext cx="356616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Role-based access: admin / owner / spectator</a:t>
            </a:r>
            <a:endParaRPr lang="en-US" sz="1100" dirty="0"/>
          </a:p>
        </p:txBody>
      </p:sp>
      <p:sp>
        <p:nvSpPr>
          <p:cNvPr id="29" name="Shape 27"/>
          <p:cNvSpPr/>
          <p:nvPr/>
        </p:nvSpPr>
        <p:spPr>
          <a:xfrm>
            <a:off x="4983480" y="3703320"/>
            <a:ext cx="3474720" cy="9144"/>
          </a:xfrm>
          <a:prstGeom prst="rect">
            <a:avLst/>
          </a:prstGeom>
          <a:solidFill>
            <a:srgbClr val="C7E4FF"/>
          </a:solidFill>
          <a:ln w="12700">
            <a:solidFill>
              <a:srgbClr val="C7E4FF"/>
            </a:solidFill>
            <a:prstDash val="solid"/>
          </a:ln>
        </p:spPr>
        <p:txBody>
          <a:bodyPr/>
          <a:lstStyle/>
          <a:p>
            <a:endParaRPr lang="en-US"/>
          </a:p>
        </p:txBody>
      </p:sp>
      <p:sp>
        <p:nvSpPr>
          <p:cNvPr id="30" name="Text 28"/>
          <p:cNvSpPr/>
          <p:nvPr/>
        </p:nvSpPr>
        <p:spPr>
          <a:xfrm>
            <a:off x="4983480" y="3794760"/>
            <a:ext cx="3566160" cy="402336"/>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  Scales to hundreds of participants via database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MISSION &amp; VISION</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Mission, Vision &amp; Goals</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4160520" cy="1554480"/>
          </a:xfrm>
          <a:prstGeom prst="roundRect">
            <a:avLst>
              <a:gd name="adj" fmla="val 5882"/>
            </a:avLst>
          </a:prstGeom>
          <a:solidFill>
            <a:srgbClr val="EEF2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594360" y="1005840"/>
            <a:ext cx="3749040" cy="256032"/>
          </a:xfrm>
          <a:prstGeom prst="rect">
            <a:avLst/>
          </a:prstGeom>
          <a:noFill/>
          <a:ln/>
        </p:spPr>
        <p:txBody>
          <a:bodyPr wrap="square" lIns="0" tIns="0" rIns="0" bIns="0" rtlCol="0" anchor="ctr"/>
          <a:lstStyle/>
          <a:p>
            <a:pPr marL="0" indent="0">
              <a:buNone/>
            </a:pPr>
            <a:r>
              <a:rPr lang="en-US" sz="1000" b="1" kern="0" spc="150" dirty="0">
                <a:solidFill>
                  <a:srgbClr val="1E3A8A"/>
                </a:solidFill>
                <a:latin typeface="Calibri" pitchFamily="34" charset="0"/>
                <a:ea typeface="Calibri" pitchFamily="34" charset="-122"/>
                <a:cs typeface="Calibri" pitchFamily="34" charset="-120"/>
              </a:rPr>
              <a:t>MISSION</a:t>
            </a:r>
            <a:endParaRPr lang="en-US" sz="1000" dirty="0"/>
          </a:p>
        </p:txBody>
      </p:sp>
      <p:sp>
        <p:nvSpPr>
          <p:cNvPr id="7" name="Text 5"/>
          <p:cNvSpPr/>
          <p:nvPr/>
        </p:nvSpPr>
        <p:spPr>
          <a:xfrm>
            <a:off x="594360" y="1316736"/>
            <a:ext cx="3749040" cy="105156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Make every employee sports auction fast, fair, and fully transparent — giving every participant a real-time window into the bidding process and giving administrators a single screen to run the full auction lifecycle.</a:t>
            </a:r>
            <a:endParaRPr lang="en-US" sz="1200" dirty="0"/>
          </a:p>
        </p:txBody>
      </p:sp>
      <p:sp>
        <p:nvSpPr>
          <p:cNvPr id="8" name="Shape 6"/>
          <p:cNvSpPr/>
          <p:nvPr/>
        </p:nvSpPr>
        <p:spPr>
          <a:xfrm>
            <a:off x="4846320" y="914400"/>
            <a:ext cx="3840480" cy="1554480"/>
          </a:xfrm>
          <a:prstGeom prst="roundRect">
            <a:avLst>
              <a:gd name="adj" fmla="val 5882"/>
            </a:avLst>
          </a:prstGeom>
          <a:solidFill>
            <a:srgbClr val="FFF7ED"/>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9" name="Text 7"/>
          <p:cNvSpPr/>
          <p:nvPr/>
        </p:nvSpPr>
        <p:spPr>
          <a:xfrm>
            <a:off x="4983480" y="1005840"/>
            <a:ext cx="3566160" cy="256032"/>
          </a:xfrm>
          <a:prstGeom prst="rect">
            <a:avLst/>
          </a:prstGeom>
          <a:noFill/>
          <a:ln/>
        </p:spPr>
        <p:txBody>
          <a:bodyPr wrap="square" lIns="0" tIns="0" rIns="0" bIns="0" rtlCol="0" anchor="ctr"/>
          <a:lstStyle/>
          <a:p>
            <a:pPr marL="0" indent="0">
              <a:buNone/>
            </a:pPr>
            <a:r>
              <a:rPr lang="en-US" sz="1000" b="1" kern="0" spc="150" dirty="0">
                <a:solidFill>
                  <a:srgbClr val="EA580C"/>
                </a:solidFill>
                <a:latin typeface="Calibri" pitchFamily="34" charset="0"/>
                <a:ea typeface="Calibri" pitchFamily="34" charset="-122"/>
                <a:cs typeface="Calibri" pitchFamily="34" charset="-120"/>
              </a:rPr>
              <a:t>VISION</a:t>
            </a:r>
            <a:endParaRPr lang="en-US" sz="1000" dirty="0"/>
          </a:p>
        </p:txBody>
      </p:sp>
      <p:sp>
        <p:nvSpPr>
          <p:cNvPr id="10" name="Text 8"/>
          <p:cNvSpPr/>
          <p:nvPr/>
        </p:nvSpPr>
        <p:spPr>
          <a:xfrm>
            <a:off x="4983480" y="1316736"/>
            <a:ext cx="3566160" cy="105156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Become the definitive internal tooling platform for gamified employee allocation events — extensible beyond sports to any scenario where employees are drafted into competing groups via live bidding.</a:t>
            </a:r>
            <a:endParaRPr lang="en-US" sz="1200" dirty="0"/>
          </a:p>
        </p:txBody>
      </p:sp>
      <p:sp>
        <p:nvSpPr>
          <p:cNvPr id="11" name="Text 9"/>
          <p:cNvSpPr/>
          <p:nvPr/>
        </p:nvSpPr>
        <p:spPr>
          <a:xfrm>
            <a:off x="457200" y="2606040"/>
            <a:ext cx="8229600" cy="256032"/>
          </a:xfrm>
          <a:prstGeom prst="rect">
            <a:avLst/>
          </a:prstGeom>
          <a:noFill/>
          <a:ln/>
        </p:spPr>
        <p:txBody>
          <a:bodyPr wrap="square" lIns="0" tIns="0" rIns="0" bIns="0" rtlCol="0" anchor="ctr"/>
          <a:lstStyle/>
          <a:p>
            <a:pPr marL="0" indent="0">
              <a:buNone/>
            </a:pPr>
            <a:r>
              <a:rPr lang="en-US" sz="1000" b="1" kern="0" spc="150" dirty="0">
                <a:solidFill>
                  <a:srgbClr val="64748B"/>
                </a:solidFill>
                <a:latin typeface="Calibri" pitchFamily="34" charset="0"/>
                <a:ea typeface="Calibri" pitchFamily="34" charset="-122"/>
                <a:cs typeface="Calibri" pitchFamily="34" charset="-120"/>
              </a:rPr>
              <a:t>BUSINESS GOALS</a:t>
            </a:r>
            <a:endParaRPr lang="en-US" sz="1000" dirty="0"/>
          </a:p>
        </p:txBody>
      </p:sp>
      <p:sp>
        <p:nvSpPr>
          <p:cNvPr id="12" name="Shape 10"/>
          <p:cNvSpPr/>
          <p:nvPr/>
        </p:nvSpPr>
        <p:spPr>
          <a:xfrm>
            <a:off x="457200" y="2926080"/>
            <a:ext cx="2651760" cy="2011680"/>
          </a:xfrm>
          <a:prstGeom prst="roundRect">
            <a:avLst>
              <a:gd name="adj" fmla="val 4545"/>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3" name="Text 11"/>
          <p:cNvSpPr/>
          <p:nvPr/>
        </p:nvSpPr>
        <p:spPr>
          <a:xfrm>
            <a:off x="457200" y="2999232"/>
            <a:ext cx="2651760" cy="438912"/>
          </a:xfrm>
          <a:prstGeom prst="rect">
            <a:avLst/>
          </a:prstGeom>
          <a:noFill/>
          <a:ln/>
        </p:spPr>
        <p:txBody>
          <a:bodyPr wrap="square" lIns="0" tIns="0" rIns="0" bIns="0" rtlCol="0" anchor="ctr"/>
          <a:lstStyle/>
          <a:p>
            <a:pPr marL="0" indent="0" algn="ctr">
              <a:buNone/>
            </a:pPr>
            <a:r>
              <a:rPr lang="en-US" sz="2800" b="1" dirty="0">
                <a:solidFill>
                  <a:srgbClr val="F0A030"/>
                </a:solidFill>
                <a:latin typeface="Cambria" pitchFamily="34" charset="0"/>
                <a:ea typeface="Cambria" pitchFamily="34" charset="-122"/>
                <a:cs typeface="Cambria" pitchFamily="34" charset="-120"/>
              </a:rPr>
              <a:t>01</a:t>
            </a:r>
            <a:endParaRPr lang="en-US" sz="2800" dirty="0"/>
          </a:p>
        </p:txBody>
      </p:sp>
      <p:sp>
        <p:nvSpPr>
          <p:cNvPr id="14" name="Text 12"/>
          <p:cNvSpPr/>
          <p:nvPr/>
        </p:nvSpPr>
        <p:spPr>
          <a:xfrm>
            <a:off x="457200" y="3438144"/>
            <a:ext cx="265176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Admin Self-Service</a:t>
            </a:r>
            <a:endParaRPr lang="en-US" sz="1200" dirty="0"/>
          </a:p>
        </p:txBody>
      </p:sp>
      <p:sp>
        <p:nvSpPr>
          <p:cNvPr id="15" name="Text 13"/>
          <p:cNvSpPr/>
          <p:nvPr/>
        </p:nvSpPr>
        <p:spPr>
          <a:xfrm>
            <a:off x="594360" y="3730752"/>
            <a:ext cx="2377440" cy="1078992"/>
          </a:xfrm>
          <a:prstGeom prst="rect">
            <a:avLst/>
          </a:prstGeom>
          <a:noFill/>
          <a:ln/>
        </p:spPr>
        <p:txBody>
          <a:bodyPr wrap="square" lIns="0" tIns="0" rIns="0" bIns="0"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Administrators configure, launch and complete auctions entirely via browser — no technical support required.</a:t>
            </a:r>
            <a:endParaRPr lang="en-US" sz="1000" dirty="0"/>
          </a:p>
        </p:txBody>
      </p:sp>
      <p:sp>
        <p:nvSpPr>
          <p:cNvPr id="16" name="Shape 14"/>
          <p:cNvSpPr/>
          <p:nvPr/>
        </p:nvSpPr>
        <p:spPr>
          <a:xfrm>
            <a:off x="3246120" y="2926080"/>
            <a:ext cx="2651760" cy="2011680"/>
          </a:xfrm>
          <a:prstGeom prst="roundRect">
            <a:avLst>
              <a:gd name="adj" fmla="val 4545"/>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7" name="Text 15"/>
          <p:cNvSpPr/>
          <p:nvPr/>
        </p:nvSpPr>
        <p:spPr>
          <a:xfrm>
            <a:off x="3246120" y="2999232"/>
            <a:ext cx="2651760" cy="438912"/>
          </a:xfrm>
          <a:prstGeom prst="rect">
            <a:avLst/>
          </a:prstGeom>
          <a:noFill/>
          <a:ln/>
        </p:spPr>
        <p:txBody>
          <a:bodyPr wrap="square" lIns="0" tIns="0" rIns="0" bIns="0" rtlCol="0" anchor="ctr"/>
          <a:lstStyle/>
          <a:p>
            <a:pPr marL="0" indent="0" algn="ctr">
              <a:buNone/>
            </a:pPr>
            <a:r>
              <a:rPr lang="en-US" sz="2800" b="1" dirty="0">
                <a:solidFill>
                  <a:srgbClr val="F0A030"/>
                </a:solidFill>
                <a:latin typeface="Cambria" pitchFamily="34" charset="0"/>
                <a:ea typeface="Cambria" pitchFamily="34" charset="-122"/>
                <a:cs typeface="Cambria" pitchFamily="34" charset="-120"/>
              </a:rPr>
              <a:t>02</a:t>
            </a:r>
            <a:endParaRPr lang="en-US" sz="2800" dirty="0"/>
          </a:p>
        </p:txBody>
      </p:sp>
      <p:sp>
        <p:nvSpPr>
          <p:cNvPr id="18" name="Text 16"/>
          <p:cNvSpPr/>
          <p:nvPr/>
        </p:nvSpPr>
        <p:spPr>
          <a:xfrm>
            <a:off x="3246120" y="3438144"/>
            <a:ext cx="265176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Real-Time Bidding</a:t>
            </a:r>
            <a:endParaRPr lang="en-US" sz="1200" dirty="0"/>
          </a:p>
        </p:txBody>
      </p:sp>
      <p:sp>
        <p:nvSpPr>
          <p:cNvPr id="19" name="Text 17"/>
          <p:cNvSpPr/>
          <p:nvPr/>
        </p:nvSpPr>
        <p:spPr>
          <a:xfrm>
            <a:off x="3383280" y="3730752"/>
            <a:ext cx="2377440" cy="1078992"/>
          </a:xfrm>
          <a:prstGeom prst="rect">
            <a:avLst/>
          </a:prstGeom>
          <a:noFill/>
          <a:ln/>
        </p:spPr>
        <p:txBody>
          <a:bodyPr wrap="square" lIns="0" tIns="0" rIns="0" bIns="0"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Team owners and captains place bids from any device, seeing live updates within 300ms via Socket.IO.</a:t>
            </a:r>
            <a:endParaRPr lang="en-US" sz="1000" dirty="0"/>
          </a:p>
        </p:txBody>
      </p:sp>
      <p:sp>
        <p:nvSpPr>
          <p:cNvPr id="20" name="Shape 18"/>
          <p:cNvSpPr/>
          <p:nvPr/>
        </p:nvSpPr>
        <p:spPr>
          <a:xfrm>
            <a:off x="6035040" y="2926080"/>
            <a:ext cx="2651760" cy="2011680"/>
          </a:xfrm>
          <a:prstGeom prst="roundRect">
            <a:avLst>
              <a:gd name="adj" fmla="val 4545"/>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1" name="Text 19"/>
          <p:cNvSpPr/>
          <p:nvPr/>
        </p:nvSpPr>
        <p:spPr>
          <a:xfrm>
            <a:off x="6035040" y="2999232"/>
            <a:ext cx="2651760" cy="438912"/>
          </a:xfrm>
          <a:prstGeom prst="rect">
            <a:avLst/>
          </a:prstGeom>
          <a:noFill/>
          <a:ln/>
        </p:spPr>
        <p:txBody>
          <a:bodyPr wrap="square" lIns="0" tIns="0" rIns="0" bIns="0" rtlCol="0" anchor="ctr"/>
          <a:lstStyle/>
          <a:p>
            <a:pPr marL="0" indent="0" algn="ctr">
              <a:buNone/>
            </a:pPr>
            <a:r>
              <a:rPr lang="en-US" sz="2800" b="1" dirty="0">
                <a:solidFill>
                  <a:srgbClr val="F0A030"/>
                </a:solidFill>
                <a:latin typeface="Cambria" pitchFamily="34" charset="0"/>
                <a:ea typeface="Cambria" pitchFamily="34" charset="-122"/>
                <a:cs typeface="Cambria" pitchFamily="34" charset="-120"/>
              </a:rPr>
              <a:t>03</a:t>
            </a:r>
            <a:endParaRPr lang="en-US" sz="2800" dirty="0"/>
          </a:p>
        </p:txBody>
      </p:sp>
      <p:sp>
        <p:nvSpPr>
          <p:cNvPr id="22" name="Text 20"/>
          <p:cNvSpPr/>
          <p:nvPr/>
        </p:nvSpPr>
        <p:spPr>
          <a:xfrm>
            <a:off x="6035040" y="3438144"/>
            <a:ext cx="265176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Auditable Results</a:t>
            </a:r>
            <a:endParaRPr lang="en-US" sz="1200" dirty="0"/>
          </a:p>
        </p:txBody>
      </p:sp>
      <p:sp>
        <p:nvSpPr>
          <p:cNvPr id="23" name="Text 21"/>
          <p:cNvSpPr/>
          <p:nvPr/>
        </p:nvSpPr>
        <p:spPr>
          <a:xfrm>
            <a:off x="6172200" y="3730752"/>
            <a:ext cx="2377440" cy="1078992"/>
          </a:xfrm>
          <a:prstGeom prst="rect">
            <a:avLst/>
          </a:prstGeom>
          <a:noFill/>
          <a:ln/>
        </p:spPr>
        <p:txBody>
          <a:bodyPr wrap="square" lIns="0" tIns="0" rIns="0" bIns="0"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Every bid and result is permanently stored — finance and HR can export complete bid histories at any time.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PRODUCT OVERVIEW</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Two Auction Systems, One Platform</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4023360" cy="1783080"/>
          </a:xfrm>
          <a:prstGeom prst="roundRect">
            <a:avLst>
              <a:gd name="adj" fmla="val 512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457200" y="1005840"/>
            <a:ext cx="402336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594360" y="1417320"/>
            <a:ext cx="3749040" cy="274320"/>
          </a:xfrm>
          <a:prstGeom prst="rect">
            <a:avLst/>
          </a:prstGeom>
          <a:noFill/>
          <a:ln/>
        </p:spPr>
        <p:txBody>
          <a:bodyPr wrap="square" lIns="0" tIns="0" rIns="0" bIns="0" rtlCol="0" anchor="ctr"/>
          <a:lstStyle/>
          <a:p>
            <a:pPr marL="0" indent="0">
              <a:buNone/>
            </a:pPr>
            <a:r>
              <a:rPr lang="en-US" sz="1300" b="1" dirty="0">
                <a:solidFill>
                  <a:srgbClr val="1E3A8A"/>
                </a:solidFill>
                <a:latin typeface="Calibri" pitchFamily="34" charset="0"/>
                <a:ea typeface="Calibri" pitchFamily="34" charset="-122"/>
                <a:cs typeface="Calibri" pitchFamily="34" charset="-120"/>
              </a:rPr>
              <a:t>Festival Management</a:t>
            </a:r>
            <a:endParaRPr lang="en-US" sz="1300" dirty="0"/>
          </a:p>
        </p:txBody>
      </p:sp>
      <p:sp>
        <p:nvSpPr>
          <p:cNvPr id="8" name="Text 6"/>
          <p:cNvSpPr/>
          <p:nvPr/>
        </p:nvSpPr>
        <p:spPr>
          <a:xfrm>
            <a:off x="594360" y="1719072"/>
            <a:ext cx="3749040" cy="86868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Create festivals, import employees, configure sport selections, create teams and assign owners.</a:t>
            </a:r>
            <a:endParaRPr lang="en-US" sz="1050" dirty="0"/>
          </a:p>
        </p:txBody>
      </p:sp>
      <p:sp>
        <p:nvSpPr>
          <p:cNvPr id="9" name="Shape 7"/>
          <p:cNvSpPr/>
          <p:nvPr/>
        </p:nvSpPr>
        <p:spPr>
          <a:xfrm>
            <a:off x="4663440" y="914400"/>
            <a:ext cx="4023360" cy="1783080"/>
          </a:xfrm>
          <a:prstGeom prst="roundRect">
            <a:avLst>
              <a:gd name="adj" fmla="val 512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0" name="Text 8"/>
          <p:cNvSpPr/>
          <p:nvPr/>
        </p:nvSpPr>
        <p:spPr>
          <a:xfrm>
            <a:off x="4663440" y="1005840"/>
            <a:ext cx="402336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4800600" y="1417320"/>
            <a:ext cx="3749040" cy="274320"/>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Festival Auction</a:t>
            </a:r>
            <a:endParaRPr lang="en-US" sz="1300" dirty="0"/>
          </a:p>
        </p:txBody>
      </p:sp>
      <p:sp>
        <p:nvSpPr>
          <p:cNvPr id="12" name="Text 10"/>
          <p:cNvSpPr/>
          <p:nvPr/>
        </p:nvSpPr>
        <p:spPr>
          <a:xfrm>
            <a:off x="4800600" y="1719072"/>
            <a:ext cx="3749040" cy="86868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Live bidding for employee assignment across festival teams. Budget enforcement, retention picks, pause/resume.</a:t>
            </a:r>
            <a:endParaRPr lang="en-US" sz="1050" dirty="0"/>
          </a:p>
        </p:txBody>
      </p:sp>
      <p:sp>
        <p:nvSpPr>
          <p:cNvPr id="13" name="Shape 11"/>
          <p:cNvSpPr/>
          <p:nvPr/>
        </p:nvSpPr>
        <p:spPr>
          <a:xfrm>
            <a:off x="457200" y="2834640"/>
            <a:ext cx="4023360" cy="1783080"/>
          </a:xfrm>
          <a:prstGeom prst="roundRect">
            <a:avLst>
              <a:gd name="adj" fmla="val 512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4" name="Text 12"/>
          <p:cNvSpPr/>
          <p:nvPr/>
        </p:nvSpPr>
        <p:spPr>
          <a:xfrm>
            <a:off x="457200" y="2926080"/>
            <a:ext cx="402336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5" name="Text 13"/>
          <p:cNvSpPr/>
          <p:nvPr/>
        </p:nvSpPr>
        <p:spPr>
          <a:xfrm>
            <a:off x="594360" y="3337560"/>
            <a:ext cx="3749040" cy="274320"/>
          </a:xfrm>
          <a:prstGeom prst="rect">
            <a:avLst/>
          </a:prstGeom>
          <a:noFill/>
          <a:ln/>
        </p:spPr>
        <p:txBody>
          <a:bodyPr wrap="square" lIns="0" tIns="0" rIns="0" bIns="0"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Sport Tournament Setup</a:t>
            </a:r>
            <a:endParaRPr lang="en-US" sz="1300" dirty="0"/>
          </a:p>
        </p:txBody>
      </p:sp>
      <p:sp>
        <p:nvSpPr>
          <p:cNvPr id="16" name="Text 14"/>
          <p:cNvSpPr/>
          <p:nvPr/>
        </p:nvSpPr>
        <p:spPr>
          <a:xfrm>
            <a:off x="594360" y="3639312"/>
            <a:ext cx="3749040" cy="86868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Create sport tournaments, configure teams and captains, distribute credit budgets, generate auction pools.</a:t>
            </a:r>
            <a:endParaRPr lang="en-US" sz="1050" dirty="0"/>
          </a:p>
        </p:txBody>
      </p:sp>
      <p:sp>
        <p:nvSpPr>
          <p:cNvPr id="17" name="Shape 15"/>
          <p:cNvSpPr/>
          <p:nvPr/>
        </p:nvSpPr>
        <p:spPr>
          <a:xfrm>
            <a:off x="4663440" y="2834640"/>
            <a:ext cx="4023360" cy="1783080"/>
          </a:xfrm>
          <a:prstGeom prst="roundRect">
            <a:avLst>
              <a:gd name="adj" fmla="val 512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8" name="Text 16"/>
          <p:cNvSpPr/>
          <p:nvPr/>
        </p:nvSpPr>
        <p:spPr>
          <a:xfrm>
            <a:off x="4663440" y="2926080"/>
            <a:ext cx="402336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4800600" y="3337560"/>
            <a:ext cx="3749040" cy="274320"/>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Sport Auction Arena</a:t>
            </a:r>
            <a:endParaRPr lang="en-US" sz="1300" dirty="0"/>
          </a:p>
        </p:txBody>
      </p:sp>
      <p:sp>
        <p:nvSpPr>
          <p:cNvPr id="20" name="Text 18"/>
          <p:cNvSpPr/>
          <p:nvPr/>
        </p:nvSpPr>
        <p:spPr>
          <a:xfrm>
            <a:off x="4800600" y="3639312"/>
            <a:ext cx="3749040" cy="86868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Real-time sport auction with team-specific credit tracking, gender eligibility rules, and sold/unsold results.</a:t>
            </a:r>
            <a:endParaRPr lang="en-US" sz="1050" dirty="0"/>
          </a:p>
        </p:txBody>
      </p:sp>
      <p:sp>
        <p:nvSpPr>
          <p:cNvPr id="21" name="Shape 19"/>
          <p:cNvSpPr/>
          <p:nvPr/>
        </p:nvSpPr>
        <p:spPr>
          <a:xfrm>
            <a:off x="457200" y="4773168"/>
            <a:ext cx="8229600" cy="201168"/>
          </a:xfrm>
          <a:prstGeom prst="roundRect">
            <a:avLst>
              <a:gd name="adj" fmla="val 45455"/>
            </a:avLst>
          </a:prstGeom>
          <a:solidFill>
            <a:srgbClr val="0F1B3C"/>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2" name="Text 20"/>
          <p:cNvSpPr/>
          <p:nvPr/>
        </p:nvSpPr>
        <p:spPr>
          <a:xfrm>
            <a:off x="457200" y="4773168"/>
            <a:ext cx="8229600" cy="201168"/>
          </a:xfrm>
          <a:prstGeom prst="rect">
            <a:avLst/>
          </a:prstGeom>
          <a:noFill/>
          <a:ln/>
        </p:spPr>
        <p:txBody>
          <a:bodyPr wrap="square" lIns="0" tIns="0" rIns="0" bIns="0" rtlCol="0" anchor="ctr"/>
          <a:lstStyle/>
          <a:p>
            <a:pPr marL="0" indent="0" algn="ctr">
              <a:buNone/>
            </a:pPr>
            <a:r>
              <a:rPr lang="en-US" sz="900" b="1" dirty="0">
                <a:solidFill>
                  <a:srgbClr val="F0A030"/>
                </a:solidFill>
                <a:latin typeface="Calibri" pitchFamily="34" charset="0"/>
                <a:ea typeface="Calibri" pitchFamily="34" charset="-122"/>
                <a:cs typeface="Calibri" pitchFamily="34" charset="-120"/>
              </a:rPr>
              <a:t>⚡  SHARED REAL-TIME AUCTION ENGINE  ·  Socket.IO WebSocket  ·  Revision-Guarded State  ·  Role-Based Controls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ROLE-BASED FEATURES</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What Each Role Can Do</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868680"/>
            <a:ext cx="2651760" cy="4114800"/>
          </a:xfrm>
          <a:prstGeom prst="roundRect">
            <a:avLst>
              <a:gd name="adj" fmla="val 3448"/>
            </a:avLst>
          </a:prstGeom>
          <a:solidFill>
            <a:srgbClr val="EEF2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457200" y="868680"/>
            <a:ext cx="2651760" cy="402336"/>
          </a:xfrm>
          <a:prstGeom prst="roundRect">
            <a:avLst>
              <a:gd name="adj" fmla="val 22727"/>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457200" y="868680"/>
            <a:ext cx="265176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Admin</a:t>
            </a:r>
            <a:endParaRPr lang="en-US" sz="1300" dirty="0"/>
          </a:p>
        </p:txBody>
      </p:sp>
      <p:sp>
        <p:nvSpPr>
          <p:cNvPr id="8" name="Text 6"/>
          <p:cNvSpPr/>
          <p:nvPr/>
        </p:nvSpPr>
        <p:spPr>
          <a:xfrm>
            <a:off x="594360" y="1344168"/>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Create &amp; configure festivals</a:t>
            </a:r>
            <a:endParaRPr lang="en-US" sz="1000" dirty="0"/>
          </a:p>
        </p:txBody>
      </p:sp>
      <p:sp>
        <p:nvSpPr>
          <p:cNvPr id="9" name="Text 7"/>
          <p:cNvSpPr/>
          <p:nvPr/>
        </p:nvSpPr>
        <p:spPr>
          <a:xfrm>
            <a:off x="594360" y="1746504"/>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Import employees via directory</a:t>
            </a:r>
            <a:endParaRPr lang="en-US" sz="1000" dirty="0"/>
          </a:p>
        </p:txBody>
      </p:sp>
      <p:sp>
        <p:nvSpPr>
          <p:cNvPr id="10" name="Text 8"/>
          <p:cNvSpPr/>
          <p:nvPr/>
        </p:nvSpPr>
        <p:spPr>
          <a:xfrm>
            <a:off x="594360" y="2148840"/>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Create sport tournaments</a:t>
            </a:r>
            <a:endParaRPr lang="en-US" sz="1000" dirty="0"/>
          </a:p>
        </p:txBody>
      </p:sp>
      <p:sp>
        <p:nvSpPr>
          <p:cNvPr id="11" name="Text 9"/>
          <p:cNvSpPr/>
          <p:nvPr/>
        </p:nvSpPr>
        <p:spPr>
          <a:xfrm>
            <a:off x="594360" y="2551176"/>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Assign team owners &amp; captains</a:t>
            </a:r>
            <a:endParaRPr lang="en-US" sz="1000" dirty="0"/>
          </a:p>
        </p:txBody>
      </p:sp>
      <p:sp>
        <p:nvSpPr>
          <p:cNvPr id="12" name="Text 10"/>
          <p:cNvSpPr/>
          <p:nvPr/>
        </p:nvSpPr>
        <p:spPr>
          <a:xfrm>
            <a:off x="594360" y="2953512"/>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Configure budgets &amp; auction pools</a:t>
            </a:r>
            <a:endParaRPr lang="en-US" sz="1000" dirty="0"/>
          </a:p>
        </p:txBody>
      </p:sp>
      <p:sp>
        <p:nvSpPr>
          <p:cNvPr id="13" name="Text 11"/>
          <p:cNvSpPr/>
          <p:nvPr/>
        </p:nvSpPr>
        <p:spPr>
          <a:xfrm>
            <a:off x="594360" y="3355848"/>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Start, pause, resume &amp; complete auctions</a:t>
            </a:r>
            <a:endParaRPr lang="en-US" sz="1000" dirty="0"/>
          </a:p>
        </p:txBody>
      </p:sp>
      <p:sp>
        <p:nvSpPr>
          <p:cNvPr id="14" name="Text 12"/>
          <p:cNvSpPr/>
          <p:nvPr/>
        </p:nvSpPr>
        <p:spPr>
          <a:xfrm>
            <a:off x="594360" y="3758184"/>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Mark participants sold / unsold</a:t>
            </a:r>
            <a:endParaRPr lang="en-US" sz="1000" dirty="0"/>
          </a:p>
        </p:txBody>
      </p:sp>
      <p:sp>
        <p:nvSpPr>
          <p:cNvPr id="15" name="Text 13"/>
          <p:cNvSpPr/>
          <p:nvPr/>
        </p:nvSpPr>
        <p:spPr>
          <a:xfrm>
            <a:off x="594360" y="4160520"/>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View all results and bid histories</a:t>
            </a:r>
            <a:endParaRPr lang="en-US" sz="1000" dirty="0"/>
          </a:p>
        </p:txBody>
      </p:sp>
      <p:sp>
        <p:nvSpPr>
          <p:cNvPr id="16" name="Shape 14"/>
          <p:cNvSpPr/>
          <p:nvPr/>
        </p:nvSpPr>
        <p:spPr>
          <a:xfrm>
            <a:off x="3246120" y="868680"/>
            <a:ext cx="2651760" cy="4114800"/>
          </a:xfrm>
          <a:prstGeom prst="roundRect">
            <a:avLst>
              <a:gd name="adj" fmla="val 3448"/>
            </a:avLst>
          </a:prstGeom>
          <a:solidFill>
            <a:srgbClr val="F0FDFA"/>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7" name="Shape 15"/>
          <p:cNvSpPr/>
          <p:nvPr/>
        </p:nvSpPr>
        <p:spPr>
          <a:xfrm>
            <a:off x="3246120" y="868680"/>
            <a:ext cx="2651760" cy="402336"/>
          </a:xfrm>
          <a:prstGeom prst="roundRect">
            <a:avLst>
              <a:gd name="adj" fmla="val 22727"/>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3246120" y="868680"/>
            <a:ext cx="265176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Team Owner / Captain</a:t>
            </a:r>
            <a:endParaRPr lang="en-US" sz="1300" dirty="0"/>
          </a:p>
        </p:txBody>
      </p:sp>
      <p:sp>
        <p:nvSpPr>
          <p:cNvPr id="19" name="Text 17"/>
          <p:cNvSpPr/>
          <p:nvPr/>
        </p:nvSpPr>
        <p:spPr>
          <a:xfrm>
            <a:off x="3383280" y="1344168"/>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Join the live auction arena</a:t>
            </a:r>
            <a:endParaRPr lang="en-US" sz="1000" dirty="0"/>
          </a:p>
        </p:txBody>
      </p:sp>
      <p:sp>
        <p:nvSpPr>
          <p:cNvPr id="20" name="Text 18"/>
          <p:cNvSpPr/>
          <p:nvPr/>
        </p:nvSpPr>
        <p:spPr>
          <a:xfrm>
            <a:off x="3383280" y="1746504"/>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Place bids on participants</a:t>
            </a:r>
            <a:endParaRPr lang="en-US" sz="1000" dirty="0"/>
          </a:p>
        </p:txBody>
      </p:sp>
      <p:sp>
        <p:nvSpPr>
          <p:cNvPr id="21" name="Text 19"/>
          <p:cNvSpPr/>
          <p:nvPr/>
        </p:nvSpPr>
        <p:spPr>
          <a:xfrm>
            <a:off x="3383280" y="2148840"/>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Monitor own team budget in real time</a:t>
            </a:r>
            <a:endParaRPr lang="en-US" sz="1000" dirty="0"/>
          </a:p>
        </p:txBody>
      </p:sp>
      <p:sp>
        <p:nvSpPr>
          <p:cNvPr id="22" name="Text 20"/>
          <p:cNvSpPr/>
          <p:nvPr/>
        </p:nvSpPr>
        <p:spPr>
          <a:xfrm>
            <a:off x="3383280" y="2551176"/>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View competing team credit balances</a:t>
            </a:r>
            <a:endParaRPr lang="en-US" sz="1000" dirty="0"/>
          </a:p>
        </p:txBody>
      </p:sp>
      <p:sp>
        <p:nvSpPr>
          <p:cNvPr id="23" name="Text 21"/>
          <p:cNvSpPr/>
          <p:nvPr/>
        </p:nvSpPr>
        <p:spPr>
          <a:xfrm>
            <a:off x="3383280" y="2953512"/>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Review team roster after auction</a:t>
            </a:r>
            <a:endParaRPr lang="en-US" sz="1000" dirty="0"/>
          </a:p>
        </p:txBody>
      </p:sp>
      <p:sp>
        <p:nvSpPr>
          <p:cNvPr id="24" name="Text 22"/>
          <p:cNvSpPr/>
          <p:nvPr/>
        </p:nvSpPr>
        <p:spPr>
          <a:xfrm>
            <a:off x="3383280" y="3355848"/>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Access bid history for own team</a:t>
            </a:r>
            <a:endParaRPr lang="en-US" sz="1000" dirty="0"/>
          </a:p>
        </p:txBody>
      </p:sp>
      <p:sp>
        <p:nvSpPr>
          <p:cNvPr id="25" name="Text 23"/>
          <p:cNvSpPr/>
          <p:nvPr/>
        </p:nvSpPr>
        <p:spPr>
          <a:xfrm>
            <a:off x="3383280" y="3758184"/>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View results page after completion</a:t>
            </a:r>
            <a:endParaRPr lang="en-US" sz="1000" dirty="0"/>
          </a:p>
        </p:txBody>
      </p:sp>
      <p:sp>
        <p:nvSpPr>
          <p:cNvPr id="26" name="Text 24"/>
          <p:cNvSpPr/>
          <p:nvPr/>
        </p:nvSpPr>
        <p:spPr>
          <a:xfrm>
            <a:off x="3383280" y="4160520"/>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Receive sold/unsold toast notifications</a:t>
            </a:r>
            <a:endParaRPr lang="en-US" sz="1000" dirty="0"/>
          </a:p>
        </p:txBody>
      </p:sp>
      <p:sp>
        <p:nvSpPr>
          <p:cNvPr id="27" name="Shape 25"/>
          <p:cNvSpPr/>
          <p:nvPr/>
        </p:nvSpPr>
        <p:spPr>
          <a:xfrm>
            <a:off x="6035040" y="868680"/>
            <a:ext cx="2651760" cy="4114800"/>
          </a:xfrm>
          <a:prstGeom prst="roundRect">
            <a:avLst>
              <a:gd name="adj" fmla="val 3448"/>
            </a:avLst>
          </a:prstGeom>
          <a:solidFill>
            <a:srgbClr val="FAF5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8" name="Shape 26"/>
          <p:cNvSpPr/>
          <p:nvPr/>
        </p:nvSpPr>
        <p:spPr>
          <a:xfrm>
            <a:off x="6035040" y="868680"/>
            <a:ext cx="2651760" cy="402336"/>
          </a:xfrm>
          <a:prstGeom prst="roundRect">
            <a:avLst>
              <a:gd name="adj" fmla="val 22727"/>
            </a:avLst>
          </a:prstGeom>
          <a:solidFill>
            <a:srgbClr val="7C3AED"/>
          </a:solidFill>
          <a:ln w="12700">
            <a:solidFill>
              <a:srgbClr val="7C3AED"/>
            </a:solidFill>
            <a:prstDash val="solid"/>
          </a:ln>
        </p:spPr>
        <p:txBody>
          <a:bodyPr/>
          <a:lstStyle/>
          <a:p>
            <a:endParaRPr lang="en-US"/>
          </a:p>
        </p:txBody>
      </p:sp>
      <p:sp>
        <p:nvSpPr>
          <p:cNvPr id="29" name="Text 27"/>
          <p:cNvSpPr/>
          <p:nvPr/>
        </p:nvSpPr>
        <p:spPr>
          <a:xfrm>
            <a:off x="6035040" y="868680"/>
            <a:ext cx="265176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Spectator</a:t>
            </a:r>
            <a:endParaRPr lang="en-US" sz="1300" dirty="0"/>
          </a:p>
        </p:txBody>
      </p:sp>
      <p:sp>
        <p:nvSpPr>
          <p:cNvPr id="30" name="Text 28"/>
          <p:cNvSpPr/>
          <p:nvPr/>
        </p:nvSpPr>
        <p:spPr>
          <a:xfrm>
            <a:off x="6172200" y="1344168"/>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View live auction arena (read-only)</a:t>
            </a:r>
            <a:endParaRPr lang="en-US" sz="1000" dirty="0"/>
          </a:p>
        </p:txBody>
      </p:sp>
      <p:sp>
        <p:nvSpPr>
          <p:cNvPr id="31" name="Text 29"/>
          <p:cNvSpPr/>
          <p:nvPr/>
        </p:nvSpPr>
        <p:spPr>
          <a:xfrm>
            <a:off x="6172200" y="1746504"/>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See real-time bid stream</a:t>
            </a:r>
            <a:endParaRPr lang="en-US" sz="1000" dirty="0"/>
          </a:p>
        </p:txBody>
      </p:sp>
      <p:sp>
        <p:nvSpPr>
          <p:cNvPr id="32" name="Text 30"/>
          <p:cNvSpPr/>
          <p:nvPr/>
        </p:nvSpPr>
        <p:spPr>
          <a:xfrm>
            <a:off x="6172200" y="2148840"/>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View all team panel budgets</a:t>
            </a:r>
            <a:endParaRPr lang="en-US" sz="1000" dirty="0"/>
          </a:p>
        </p:txBody>
      </p:sp>
      <p:sp>
        <p:nvSpPr>
          <p:cNvPr id="33" name="Text 31"/>
          <p:cNvSpPr/>
          <p:nvPr/>
        </p:nvSpPr>
        <p:spPr>
          <a:xfrm>
            <a:off x="6172200" y="2551176"/>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Track auction queue and progress</a:t>
            </a:r>
            <a:endParaRPr lang="en-US" sz="1000" dirty="0"/>
          </a:p>
        </p:txBody>
      </p:sp>
      <p:sp>
        <p:nvSpPr>
          <p:cNvPr id="34" name="Text 32"/>
          <p:cNvSpPr/>
          <p:nvPr/>
        </p:nvSpPr>
        <p:spPr>
          <a:xfrm>
            <a:off x="6172200" y="2953512"/>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View completed auction results</a:t>
            </a:r>
            <a:endParaRPr lang="en-US" sz="1000" dirty="0"/>
          </a:p>
        </p:txBody>
      </p:sp>
      <p:sp>
        <p:nvSpPr>
          <p:cNvPr id="35" name="Text 33"/>
          <p:cNvSpPr/>
          <p:nvPr/>
        </p:nvSpPr>
        <p:spPr>
          <a:xfrm>
            <a:off x="6172200" y="3355848"/>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Access festival &amp; sport directories</a:t>
            </a:r>
            <a:endParaRPr lang="en-US" sz="1000" dirty="0"/>
          </a:p>
        </p:txBody>
      </p:sp>
      <p:sp>
        <p:nvSpPr>
          <p:cNvPr id="36" name="Text 34"/>
          <p:cNvSpPr/>
          <p:nvPr/>
        </p:nvSpPr>
        <p:spPr>
          <a:xfrm>
            <a:off x="6172200" y="3758184"/>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See which team they were assigned to</a:t>
            </a:r>
            <a:endParaRPr lang="en-US" sz="1000" dirty="0"/>
          </a:p>
        </p:txBody>
      </p:sp>
      <p:sp>
        <p:nvSpPr>
          <p:cNvPr id="37" name="Text 35"/>
          <p:cNvSpPr/>
          <p:nvPr/>
        </p:nvSpPr>
        <p:spPr>
          <a:xfrm>
            <a:off x="6172200" y="4160520"/>
            <a:ext cx="2377440" cy="347472"/>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  Toast notifications for sale outcomes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USER JOURNEY</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End-to-End Auction Lifecycle</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868680"/>
            <a:ext cx="4160520" cy="256032"/>
          </a:xfrm>
          <a:prstGeom prst="rect">
            <a:avLst/>
          </a:prstGeom>
          <a:noFill/>
          <a:ln/>
        </p:spPr>
        <p:txBody>
          <a:bodyPr wrap="square" lIns="0" tIns="0" rIns="0" bIns="0" rtlCol="0" anchor="ctr"/>
          <a:lstStyle/>
          <a:p>
            <a:pPr marL="0" indent="0">
              <a:buNone/>
            </a:pPr>
            <a:r>
              <a:rPr lang="en-US" sz="1200" b="1" dirty="0">
                <a:solidFill>
                  <a:srgbClr val="1E3A8A"/>
                </a:solidFill>
                <a:latin typeface="Calibri" pitchFamily="34" charset="0"/>
                <a:ea typeface="Calibri" pitchFamily="34" charset="-122"/>
                <a:cs typeface="Calibri" pitchFamily="34" charset="-120"/>
              </a:rPr>
              <a:t>Festival Auction Journey</a:t>
            </a:r>
            <a:endParaRPr lang="en-US" sz="1200" dirty="0"/>
          </a:p>
        </p:txBody>
      </p:sp>
      <p:sp>
        <p:nvSpPr>
          <p:cNvPr id="6" name="Shape 4"/>
          <p:cNvSpPr/>
          <p:nvPr/>
        </p:nvSpPr>
        <p:spPr>
          <a:xfrm>
            <a:off x="457200" y="1188720"/>
            <a:ext cx="1234440" cy="502920"/>
          </a:xfrm>
          <a:prstGeom prst="roundRect">
            <a:avLst>
              <a:gd name="adj" fmla="val 14545"/>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457200" y="118872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Create Festival</a:t>
            </a:r>
            <a:endParaRPr lang="en-US" sz="900" dirty="0"/>
          </a:p>
        </p:txBody>
      </p:sp>
      <p:sp>
        <p:nvSpPr>
          <p:cNvPr id="8" name="Text 6"/>
          <p:cNvSpPr/>
          <p:nvPr/>
        </p:nvSpPr>
        <p:spPr>
          <a:xfrm>
            <a:off x="1700784" y="118872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1847088" y="1188720"/>
            <a:ext cx="1234440" cy="502920"/>
          </a:xfrm>
          <a:prstGeom prst="roundRect">
            <a:avLst>
              <a:gd name="adj" fmla="val 14545"/>
            </a:avLst>
          </a:prstGeom>
          <a:solidFill>
            <a:srgbClr val="2563EB"/>
          </a:solidFill>
          <a:ln w="12700">
            <a:solidFill>
              <a:srgbClr val="2563EB"/>
            </a:solidFill>
            <a:prstDash val="solid"/>
          </a:ln>
        </p:spPr>
        <p:txBody>
          <a:bodyPr/>
          <a:lstStyle/>
          <a:p>
            <a:endParaRPr lang="en-US"/>
          </a:p>
        </p:txBody>
      </p:sp>
      <p:sp>
        <p:nvSpPr>
          <p:cNvPr id="10" name="Text 8"/>
          <p:cNvSpPr/>
          <p:nvPr/>
        </p:nvSpPr>
        <p:spPr>
          <a:xfrm>
            <a:off x="1847088" y="118872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Add Participants</a:t>
            </a:r>
            <a:endParaRPr lang="en-US" sz="900" dirty="0"/>
          </a:p>
        </p:txBody>
      </p:sp>
      <p:sp>
        <p:nvSpPr>
          <p:cNvPr id="11" name="Text 9"/>
          <p:cNvSpPr/>
          <p:nvPr/>
        </p:nvSpPr>
        <p:spPr>
          <a:xfrm>
            <a:off x="3090672" y="118872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3236976" y="1188720"/>
            <a:ext cx="1234440" cy="502920"/>
          </a:xfrm>
          <a:prstGeom prst="roundRect">
            <a:avLst>
              <a:gd name="adj" fmla="val 14545"/>
            </a:avLst>
          </a:prstGeom>
          <a:solidFill>
            <a:srgbClr val="0891B2"/>
          </a:solidFill>
          <a:ln w="12700">
            <a:solidFill>
              <a:srgbClr val="0891B2"/>
            </a:solidFill>
            <a:prstDash val="solid"/>
          </a:ln>
        </p:spPr>
        <p:txBody>
          <a:bodyPr/>
          <a:lstStyle/>
          <a:p>
            <a:endParaRPr lang="en-US"/>
          </a:p>
        </p:txBody>
      </p:sp>
      <p:sp>
        <p:nvSpPr>
          <p:cNvPr id="13" name="Text 11"/>
          <p:cNvSpPr/>
          <p:nvPr/>
        </p:nvSpPr>
        <p:spPr>
          <a:xfrm>
            <a:off x="3236976" y="118872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Configure Teams</a:t>
            </a:r>
            <a:endParaRPr lang="en-US" sz="900" dirty="0"/>
          </a:p>
        </p:txBody>
      </p:sp>
      <p:sp>
        <p:nvSpPr>
          <p:cNvPr id="14" name="Text 12"/>
          <p:cNvSpPr/>
          <p:nvPr/>
        </p:nvSpPr>
        <p:spPr>
          <a:xfrm>
            <a:off x="4480560" y="118872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4626864" y="1188720"/>
            <a:ext cx="1234440" cy="502920"/>
          </a:xfrm>
          <a:prstGeom prst="roundRect">
            <a:avLst>
              <a:gd name="adj" fmla="val 14545"/>
            </a:avLst>
          </a:prstGeom>
          <a:solidFill>
            <a:srgbClr val="F0A030"/>
          </a:solidFill>
          <a:ln w="12700">
            <a:solidFill>
              <a:srgbClr val="F0A030"/>
            </a:solidFill>
            <a:prstDash val="solid"/>
          </a:ln>
        </p:spPr>
        <p:txBody>
          <a:bodyPr/>
          <a:lstStyle/>
          <a:p>
            <a:endParaRPr lang="en-US"/>
          </a:p>
        </p:txBody>
      </p:sp>
      <p:sp>
        <p:nvSpPr>
          <p:cNvPr id="16" name="Text 14"/>
          <p:cNvSpPr/>
          <p:nvPr/>
        </p:nvSpPr>
        <p:spPr>
          <a:xfrm>
            <a:off x="4626864" y="118872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Lock &amp; Ready</a:t>
            </a:r>
            <a:endParaRPr lang="en-US" sz="900" dirty="0"/>
          </a:p>
        </p:txBody>
      </p:sp>
      <p:sp>
        <p:nvSpPr>
          <p:cNvPr id="17" name="Text 15"/>
          <p:cNvSpPr/>
          <p:nvPr/>
        </p:nvSpPr>
        <p:spPr>
          <a:xfrm>
            <a:off x="5870448" y="118872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6016752" y="1188720"/>
            <a:ext cx="1234440" cy="502920"/>
          </a:xfrm>
          <a:prstGeom prst="roundRect">
            <a:avLst>
              <a:gd name="adj" fmla="val 14545"/>
            </a:avLst>
          </a:prstGeom>
          <a:solidFill>
            <a:srgbClr val="EA580C"/>
          </a:solidFill>
          <a:ln w="12700">
            <a:solidFill>
              <a:srgbClr val="EA580C"/>
            </a:solidFill>
            <a:prstDash val="solid"/>
          </a:ln>
        </p:spPr>
        <p:txBody>
          <a:bodyPr/>
          <a:lstStyle/>
          <a:p>
            <a:endParaRPr lang="en-US"/>
          </a:p>
        </p:txBody>
      </p:sp>
      <p:sp>
        <p:nvSpPr>
          <p:cNvPr id="19" name="Text 17"/>
          <p:cNvSpPr/>
          <p:nvPr/>
        </p:nvSpPr>
        <p:spPr>
          <a:xfrm>
            <a:off x="6016752" y="118872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Live Auction</a:t>
            </a:r>
            <a:endParaRPr lang="en-US" sz="900" dirty="0"/>
          </a:p>
        </p:txBody>
      </p:sp>
      <p:sp>
        <p:nvSpPr>
          <p:cNvPr id="20" name="Text 18"/>
          <p:cNvSpPr/>
          <p:nvPr/>
        </p:nvSpPr>
        <p:spPr>
          <a:xfrm>
            <a:off x="7260336" y="118872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7406640" y="1188720"/>
            <a:ext cx="1234440" cy="502920"/>
          </a:xfrm>
          <a:prstGeom prst="roundRect">
            <a:avLst>
              <a:gd name="adj" fmla="val 14545"/>
            </a:avLst>
          </a:prstGeom>
          <a:solidFill>
            <a:srgbClr val="059669"/>
          </a:solidFill>
          <a:ln w="12700">
            <a:solidFill>
              <a:srgbClr val="059669"/>
            </a:solidFill>
            <a:prstDash val="solid"/>
          </a:ln>
        </p:spPr>
        <p:txBody>
          <a:bodyPr/>
          <a:lstStyle/>
          <a:p>
            <a:endParaRPr lang="en-US"/>
          </a:p>
        </p:txBody>
      </p:sp>
      <p:sp>
        <p:nvSpPr>
          <p:cNvPr id="22" name="Text 20"/>
          <p:cNvSpPr/>
          <p:nvPr/>
        </p:nvSpPr>
        <p:spPr>
          <a:xfrm>
            <a:off x="7406640" y="118872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Results</a:t>
            </a:r>
            <a:endParaRPr lang="en-US" sz="900" dirty="0"/>
          </a:p>
        </p:txBody>
      </p:sp>
      <p:sp>
        <p:nvSpPr>
          <p:cNvPr id="23" name="Text 21"/>
          <p:cNvSpPr/>
          <p:nvPr/>
        </p:nvSpPr>
        <p:spPr>
          <a:xfrm>
            <a:off x="457200" y="175564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Admin creates festival, selects sports</a:t>
            </a:r>
            <a:endParaRPr lang="en-US" sz="800" dirty="0"/>
          </a:p>
        </p:txBody>
      </p:sp>
      <p:sp>
        <p:nvSpPr>
          <p:cNvPr id="24" name="Text 22"/>
          <p:cNvSpPr/>
          <p:nvPr/>
        </p:nvSpPr>
        <p:spPr>
          <a:xfrm>
            <a:off x="1847088" y="175564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Import CSV, register employees</a:t>
            </a:r>
            <a:endParaRPr lang="en-US" sz="800" dirty="0"/>
          </a:p>
        </p:txBody>
      </p:sp>
      <p:sp>
        <p:nvSpPr>
          <p:cNvPr id="25" name="Text 23"/>
          <p:cNvSpPr/>
          <p:nvPr/>
        </p:nvSpPr>
        <p:spPr>
          <a:xfrm>
            <a:off x="3236976" y="175564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Create teams, assign owners, set budgets</a:t>
            </a:r>
            <a:endParaRPr lang="en-US" sz="800" dirty="0"/>
          </a:p>
        </p:txBody>
      </p:sp>
      <p:sp>
        <p:nvSpPr>
          <p:cNvPr id="26" name="Text 24"/>
          <p:cNvSpPr/>
          <p:nvPr/>
        </p:nvSpPr>
        <p:spPr>
          <a:xfrm>
            <a:off x="4626864" y="175564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Readiness check passes, config locked</a:t>
            </a:r>
            <a:endParaRPr lang="en-US" sz="800" dirty="0"/>
          </a:p>
        </p:txBody>
      </p:sp>
      <p:sp>
        <p:nvSpPr>
          <p:cNvPr id="27" name="Text 25"/>
          <p:cNvSpPr/>
          <p:nvPr/>
        </p:nvSpPr>
        <p:spPr>
          <a:xfrm>
            <a:off x="6016752" y="175564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Real-time bidding, Socket.IO broadcast</a:t>
            </a:r>
            <a:endParaRPr lang="en-US" sz="800" dirty="0"/>
          </a:p>
        </p:txBody>
      </p:sp>
      <p:sp>
        <p:nvSpPr>
          <p:cNvPr id="28" name="Text 26"/>
          <p:cNvSpPr/>
          <p:nvPr/>
        </p:nvSpPr>
        <p:spPr>
          <a:xfrm>
            <a:off x="7406640" y="175564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Final rosters, bid history, export</a:t>
            </a:r>
            <a:endParaRPr lang="en-US" sz="800" dirty="0"/>
          </a:p>
        </p:txBody>
      </p:sp>
      <p:sp>
        <p:nvSpPr>
          <p:cNvPr id="29" name="Text 27"/>
          <p:cNvSpPr/>
          <p:nvPr/>
        </p:nvSpPr>
        <p:spPr>
          <a:xfrm>
            <a:off x="457200" y="2423160"/>
            <a:ext cx="4160520" cy="256032"/>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Sport Tournament Journey</a:t>
            </a:r>
            <a:endParaRPr lang="en-US" sz="1200" dirty="0"/>
          </a:p>
        </p:txBody>
      </p:sp>
      <p:sp>
        <p:nvSpPr>
          <p:cNvPr id="30" name="Shape 28"/>
          <p:cNvSpPr/>
          <p:nvPr/>
        </p:nvSpPr>
        <p:spPr>
          <a:xfrm>
            <a:off x="457200" y="2743200"/>
            <a:ext cx="1234440" cy="502920"/>
          </a:xfrm>
          <a:prstGeom prst="roundRect">
            <a:avLst>
              <a:gd name="adj" fmla="val 14545"/>
            </a:avLst>
          </a:prstGeom>
          <a:solidFill>
            <a:srgbClr val="0891B2"/>
          </a:solidFill>
          <a:ln w="12700">
            <a:solidFill>
              <a:srgbClr val="0891B2"/>
            </a:solidFill>
            <a:prstDash val="solid"/>
          </a:ln>
        </p:spPr>
        <p:txBody>
          <a:bodyPr/>
          <a:lstStyle/>
          <a:p>
            <a:endParaRPr lang="en-US"/>
          </a:p>
        </p:txBody>
      </p:sp>
      <p:sp>
        <p:nvSpPr>
          <p:cNvPr id="31" name="Text 29"/>
          <p:cNvSpPr/>
          <p:nvPr/>
        </p:nvSpPr>
        <p:spPr>
          <a:xfrm>
            <a:off x="457200" y="274320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Create Tournament</a:t>
            </a:r>
            <a:endParaRPr lang="en-US" sz="900" dirty="0"/>
          </a:p>
        </p:txBody>
      </p:sp>
      <p:sp>
        <p:nvSpPr>
          <p:cNvPr id="32" name="Text 30"/>
          <p:cNvSpPr/>
          <p:nvPr/>
        </p:nvSpPr>
        <p:spPr>
          <a:xfrm>
            <a:off x="1700784" y="274320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1847088" y="2743200"/>
            <a:ext cx="1234440" cy="502920"/>
          </a:xfrm>
          <a:prstGeom prst="roundRect">
            <a:avLst>
              <a:gd name="adj" fmla="val 14545"/>
            </a:avLst>
          </a:prstGeom>
          <a:solidFill>
            <a:srgbClr val="0E7490"/>
          </a:solidFill>
          <a:ln w="12700">
            <a:solidFill>
              <a:srgbClr val="0E7490"/>
            </a:solidFill>
            <a:prstDash val="solid"/>
          </a:ln>
        </p:spPr>
        <p:txBody>
          <a:bodyPr/>
          <a:lstStyle/>
          <a:p>
            <a:endParaRPr lang="en-US"/>
          </a:p>
        </p:txBody>
      </p:sp>
      <p:sp>
        <p:nvSpPr>
          <p:cNvPr id="34" name="Text 32"/>
          <p:cNvSpPr/>
          <p:nvPr/>
        </p:nvSpPr>
        <p:spPr>
          <a:xfrm>
            <a:off x="1847088" y="274320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Assign Captains</a:t>
            </a:r>
            <a:endParaRPr lang="en-US" sz="900" dirty="0"/>
          </a:p>
        </p:txBody>
      </p:sp>
      <p:sp>
        <p:nvSpPr>
          <p:cNvPr id="35" name="Text 33"/>
          <p:cNvSpPr/>
          <p:nvPr/>
        </p:nvSpPr>
        <p:spPr>
          <a:xfrm>
            <a:off x="3090672" y="274320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3236976" y="2743200"/>
            <a:ext cx="1234440" cy="502920"/>
          </a:xfrm>
          <a:prstGeom prst="roundRect">
            <a:avLst>
              <a:gd name="adj" fmla="val 14545"/>
            </a:avLst>
          </a:prstGeom>
          <a:solidFill>
            <a:srgbClr val="0891B2"/>
          </a:solidFill>
          <a:ln w="12700">
            <a:solidFill>
              <a:srgbClr val="0891B2"/>
            </a:solidFill>
            <a:prstDash val="solid"/>
          </a:ln>
        </p:spPr>
        <p:txBody>
          <a:bodyPr/>
          <a:lstStyle/>
          <a:p>
            <a:endParaRPr lang="en-US"/>
          </a:p>
        </p:txBody>
      </p:sp>
      <p:sp>
        <p:nvSpPr>
          <p:cNvPr id="37" name="Text 35"/>
          <p:cNvSpPr/>
          <p:nvPr/>
        </p:nvSpPr>
        <p:spPr>
          <a:xfrm>
            <a:off x="3236976" y="274320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Set Credit Budgets</a:t>
            </a:r>
            <a:endParaRPr lang="en-US" sz="900" dirty="0"/>
          </a:p>
        </p:txBody>
      </p:sp>
      <p:sp>
        <p:nvSpPr>
          <p:cNvPr id="38" name="Text 36"/>
          <p:cNvSpPr/>
          <p:nvPr/>
        </p:nvSpPr>
        <p:spPr>
          <a:xfrm>
            <a:off x="4480560" y="274320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9" name="Shape 37"/>
          <p:cNvSpPr/>
          <p:nvPr/>
        </p:nvSpPr>
        <p:spPr>
          <a:xfrm>
            <a:off x="4626864" y="2743200"/>
            <a:ext cx="1234440" cy="502920"/>
          </a:xfrm>
          <a:prstGeom prst="roundRect">
            <a:avLst>
              <a:gd name="adj" fmla="val 14545"/>
            </a:avLst>
          </a:prstGeom>
          <a:solidFill>
            <a:srgbClr val="F0A030"/>
          </a:solidFill>
          <a:ln w="12700">
            <a:solidFill>
              <a:srgbClr val="F0A030"/>
            </a:solidFill>
            <a:prstDash val="solid"/>
          </a:ln>
        </p:spPr>
        <p:txBody>
          <a:bodyPr/>
          <a:lstStyle/>
          <a:p>
            <a:endParaRPr lang="en-US"/>
          </a:p>
        </p:txBody>
      </p:sp>
      <p:sp>
        <p:nvSpPr>
          <p:cNvPr id="40" name="Text 38"/>
          <p:cNvSpPr/>
          <p:nvPr/>
        </p:nvSpPr>
        <p:spPr>
          <a:xfrm>
            <a:off x="4626864" y="274320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Auction Pool</a:t>
            </a:r>
            <a:endParaRPr lang="en-US" sz="900" dirty="0"/>
          </a:p>
        </p:txBody>
      </p:sp>
      <p:sp>
        <p:nvSpPr>
          <p:cNvPr id="41" name="Text 39"/>
          <p:cNvSpPr/>
          <p:nvPr/>
        </p:nvSpPr>
        <p:spPr>
          <a:xfrm>
            <a:off x="5870448" y="274320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42" name="Shape 40"/>
          <p:cNvSpPr/>
          <p:nvPr/>
        </p:nvSpPr>
        <p:spPr>
          <a:xfrm>
            <a:off x="6016752" y="2743200"/>
            <a:ext cx="1234440" cy="502920"/>
          </a:xfrm>
          <a:prstGeom prst="roundRect">
            <a:avLst>
              <a:gd name="adj" fmla="val 14545"/>
            </a:avLst>
          </a:prstGeom>
          <a:solidFill>
            <a:srgbClr val="EA580C"/>
          </a:solidFill>
          <a:ln w="12700">
            <a:solidFill>
              <a:srgbClr val="EA580C"/>
            </a:solidFill>
            <a:prstDash val="solid"/>
          </a:ln>
        </p:spPr>
        <p:txBody>
          <a:bodyPr/>
          <a:lstStyle/>
          <a:p>
            <a:endParaRPr lang="en-US"/>
          </a:p>
        </p:txBody>
      </p:sp>
      <p:sp>
        <p:nvSpPr>
          <p:cNvPr id="43" name="Text 41"/>
          <p:cNvSpPr/>
          <p:nvPr/>
        </p:nvSpPr>
        <p:spPr>
          <a:xfrm>
            <a:off x="6016752" y="274320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Sport Auction</a:t>
            </a:r>
            <a:endParaRPr lang="en-US" sz="900" dirty="0"/>
          </a:p>
        </p:txBody>
      </p:sp>
      <p:sp>
        <p:nvSpPr>
          <p:cNvPr id="44" name="Text 42"/>
          <p:cNvSpPr/>
          <p:nvPr/>
        </p:nvSpPr>
        <p:spPr>
          <a:xfrm>
            <a:off x="7260336" y="2743200"/>
            <a:ext cx="13716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45" name="Shape 43"/>
          <p:cNvSpPr/>
          <p:nvPr/>
        </p:nvSpPr>
        <p:spPr>
          <a:xfrm>
            <a:off x="7406640" y="2743200"/>
            <a:ext cx="1234440" cy="502920"/>
          </a:xfrm>
          <a:prstGeom prst="roundRect">
            <a:avLst>
              <a:gd name="adj" fmla="val 14545"/>
            </a:avLst>
          </a:prstGeom>
          <a:solidFill>
            <a:srgbClr val="059669"/>
          </a:solidFill>
          <a:ln w="12700">
            <a:solidFill>
              <a:srgbClr val="059669"/>
            </a:solidFill>
            <a:prstDash val="solid"/>
          </a:ln>
        </p:spPr>
        <p:txBody>
          <a:bodyPr/>
          <a:lstStyle/>
          <a:p>
            <a:endParaRPr lang="en-US"/>
          </a:p>
        </p:txBody>
      </p:sp>
      <p:sp>
        <p:nvSpPr>
          <p:cNvPr id="46" name="Text 44"/>
          <p:cNvSpPr/>
          <p:nvPr/>
        </p:nvSpPr>
        <p:spPr>
          <a:xfrm>
            <a:off x="7406640" y="2743200"/>
            <a:ext cx="123444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Results</a:t>
            </a:r>
            <a:endParaRPr lang="en-US" sz="900" dirty="0"/>
          </a:p>
        </p:txBody>
      </p:sp>
      <p:sp>
        <p:nvSpPr>
          <p:cNvPr id="47" name="Text 45"/>
          <p:cNvSpPr/>
          <p:nvPr/>
        </p:nvSpPr>
        <p:spPr>
          <a:xfrm>
            <a:off x="457200" y="331012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Admin creates sport tournament within festival</a:t>
            </a:r>
            <a:endParaRPr lang="en-US" sz="800" dirty="0"/>
          </a:p>
        </p:txBody>
      </p:sp>
      <p:sp>
        <p:nvSpPr>
          <p:cNvPr id="48" name="Text 46"/>
          <p:cNvSpPr/>
          <p:nvPr/>
        </p:nvSpPr>
        <p:spPr>
          <a:xfrm>
            <a:off x="1847088" y="331012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Assign SportTeamCaptain per team</a:t>
            </a:r>
            <a:endParaRPr lang="en-US" sz="800" dirty="0"/>
          </a:p>
        </p:txBody>
      </p:sp>
      <p:sp>
        <p:nvSpPr>
          <p:cNvPr id="49" name="Text 47"/>
          <p:cNvSpPr/>
          <p:nvPr/>
        </p:nvSpPr>
        <p:spPr>
          <a:xfrm>
            <a:off x="3236976" y="331012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Equal or manual credit distribution</a:t>
            </a:r>
            <a:endParaRPr lang="en-US" sz="800" dirty="0"/>
          </a:p>
        </p:txBody>
      </p:sp>
      <p:sp>
        <p:nvSpPr>
          <p:cNvPr id="50" name="Text 48"/>
          <p:cNvSpPr/>
          <p:nvPr/>
        </p:nvSpPr>
        <p:spPr>
          <a:xfrm>
            <a:off x="4626864" y="331012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Pool filtered by gender rule</a:t>
            </a:r>
            <a:endParaRPr lang="en-US" sz="800" dirty="0"/>
          </a:p>
        </p:txBody>
      </p:sp>
      <p:sp>
        <p:nvSpPr>
          <p:cNvPr id="51" name="Text 49"/>
          <p:cNvSpPr/>
          <p:nvPr/>
        </p:nvSpPr>
        <p:spPr>
          <a:xfrm>
            <a:off x="6016752" y="331012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Real-time sport auction arena</a:t>
            </a:r>
            <a:endParaRPr lang="en-US" sz="800" dirty="0"/>
          </a:p>
        </p:txBody>
      </p:sp>
      <p:sp>
        <p:nvSpPr>
          <p:cNvPr id="52" name="Text 50"/>
          <p:cNvSpPr/>
          <p:nvPr/>
        </p:nvSpPr>
        <p:spPr>
          <a:xfrm>
            <a:off x="7406640" y="3310128"/>
            <a:ext cx="1234440" cy="502920"/>
          </a:xfrm>
          <a:prstGeom prst="rect">
            <a:avLst/>
          </a:prstGeom>
          <a:noFill/>
          <a:ln/>
        </p:spPr>
        <p:txBody>
          <a:bodyPr wrap="square" lIns="0" tIns="0" rIns="0" bIns="0" rtlCol="0" anchor="t"/>
          <a:lstStyle/>
          <a:p>
            <a:pPr marL="0" indent="0" algn="ctr">
              <a:buNone/>
            </a:pPr>
            <a:r>
              <a:rPr lang="en-US" sz="800" dirty="0">
                <a:solidFill>
                  <a:srgbClr val="64748B"/>
                </a:solidFill>
                <a:latin typeface="Calibri" pitchFamily="34" charset="0"/>
                <a:ea typeface="Calibri" pitchFamily="34" charset="-122"/>
                <a:cs typeface="Calibri" pitchFamily="34" charset="-120"/>
              </a:rPr>
              <a:t>Team purchase records, credit spend</a:t>
            </a:r>
            <a:endParaRPr lang="en-US" sz="800" dirty="0"/>
          </a:p>
        </p:txBody>
      </p:sp>
      <p:sp>
        <p:nvSpPr>
          <p:cNvPr id="53" name="Shape 51"/>
          <p:cNvSpPr/>
          <p:nvPr/>
        </p:nvSpPr>
        <p:spPr>
          <a:xfrm>
            <a:off x="457200" y="3977640"/>
            <a:ext cx="8229600" cy="896112"/>
          </a:xfrm>
          <a:prstGeom prst="roundRect">
            <a:avLst>
              <a:gd name="adj" fmla="val 10204"/>
            </a:avLst>
          </a:prstGeom>
          <a:solidFill>
            <a:srgbClr val="F1F5F9"/>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54" name="Text 52"/>
          <p:cNvSpPr/>
          <p:nvPr/>
        </p:nvSpPr>
        <p:spPr>
          <a:xfrm>
            <a:off x="457200" y="4005072"/>
            <a:ext cx="8229600" cy="22860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Common Platform Infrastructure</a:t>
            </a:r>
            <a:endParaRPr lang="en-US" sz="1000" dirty="0"/>
          </a:p>
        </p:txBody>
      </p:sp>
      <p:sp>
        <p:nvSpPr>
          <p:cNvPr id="55" name="Text 53"/>
          <p:cNvSpPr/>
          <p:nvPr/>
        </p:nvSpPr>
        <p:spPr>
          <a:xfrm>
            <a:off x="457200" y="4251960"/>
            <a:ext cx="8229600" cy="566928"/>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JWT Authentication  ·  Role-Based Authorization  ·  Socket.IO Real-Time Engine  ·  Sequelize ORM  ·  MySQL Database  ·  Audit Logging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FESTIVAL AUCTION</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Festival Auction Lifecycle</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320040" y="914400"/>
            <a:ext cx="1572768" cy="3977640"/>
          </a:xfrm>
          <a:prstGeom prst="roundRect">
            <a:avLst>
              <a:gd name="adj" fmla="val 5814"/>
            </a:avLst>
          </a:prstGeom>
          <a:solidFill>
            <a:srgbClr val="F1F5F9"/>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320040" y="914400"/>
            <a:ext cx="1572768" cy="402336"/>
          </a:xfrm>
          <a:prstGeom prst="roundRect">
            <a:avLst>
              <a:gd name="adj" fmla="val 22727"/>
            </a:avLst>
          </a:prstGeom>
          <a:solidFill>
            <a:srgbClr val="64748B"/>
          </a:solidFill>
          <a:ln w="12700">
            <a:solidFill>
              <a:srgbClr val="64748B"/>
            </a:solidFill>
            <a:prstDash val="solid"/>
          </a:ln>
        </p:spPr>
        <p:txBody>
          <a:bodyPr/>
          <a:lstStyle/>
          <a:p>
            <a:endParaRPr lang="en-US"/>
          </a:p>
        </p:txBody>
      </p:sp>
      <p:sp>
        <p:nvSpPr>
          <p:cNvPr id="7" name="Text 5"/>
          <p:cNvSpPr/>
          <p:nvPr/>
        </p:nvSpPr>
        <p:spPr>
          <a:xfrm>
            <a:off x="320040" y="914400"/>
            <a:ext cx="15727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DRAFT</a:t>
            </a:r>
            <a:endParaRPr lang="en-US" sz="1100" dirty="0"/>
          </a:p>
        </p:txBody>
      </p:sp>
      <p:sp>
        <p:nvSpPr>
          <p:cNvPr id="8" name="Text 6"/>
          <p:cNvSpPr/>
          <p:nvPr/>
        </p:nvSpPr>
        <p:spPr>
          <a:xfrm>
            <a:off x="411480"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Festival record created</a:t>
            </a:r>
            <a:endParaRPr lang="en-US" sz="950" dirty="0"/>
          </a:p>
        </p:txBody>
      </p:sp>
      <p:sp>
        <p:nvSpPr>
          <p:cNvPr id="9" name="Text 7"/>
          <p:cNvSpPr/>
          <p:nvPr/>
        </p:nvSpPr>
        <p:spPr>
          <a:xfrm>
            <a:off x="411480"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Sports selected</a:t>
            </a:r>
            <a:endParaRPr lang="en-US" sz="950" dirty="0"/>
          </a:p>
        </p:txBody>
      </p:sp>
      <p:sp>
        <p:nvSpPr>
          <p:cNvPr id="10" name="Text 8"/>
          <p:cNvSpPr/>
          <p:nvPr/>
        </p:nvSpPr>
        <p:spPr>
          <a:xfrm>
            <a:off x="411480"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Settings configured</a:t>
            </a:r>
            <a:endParaRPr lang="en-US" sz="950" dirty="0"/>
          </a:p>
        </p:txBody>
      </p:sp>
      <p:sp>
        <p:nvSpPr>
          <p:cNvPr id="11" name="Text 9"/>
          <p:cNvSpPr/>
          <p:nvPr/>
        </p:nvSpPr>
        <p:spPr>
          <a:xfrm>
            <a:off x="411480"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No participants yet</a:t>
            </a:r>
            <a:endParaRPr lang="en-US" sz="950" dirty="0"/>
          </a:p>
        </p:txBody>
      </p:sp>
      <p:sp>
        <p:nvSpPr>
          <p:cNvPr id="12" name="Text 10"/>
          <p:cNvSpPr/>
          <p:nvPr/>
        </p:nvSpPr>
        <p:spPr>
          <a:xfrm>
            <a:off x="1901952" y="1874520"/>
            <a:ext cx="128016" cy="347472"/>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13" name="Shape 11"/>
          <p:cNvSpPr/>
          <p:nvPr/>
        </p:nvSpPr>
        <p:spPr>
          <a:xfrm>
            <a:off x="2039112" y="914400"/>
            <a:ext cx="1572768" cy="3977640"/>
          </a:xfrm>
          <a:prstGeom prst="roundRect">
            <a:avLst>
              <a:gd name="adj" fmla="val 5814"/>
            </a:avLst>
          </a:prstGeom>
          <a:solidFill>
            <a:srgbClr val="EEF2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4" name="Shape 12"/>
          <p:cNvSpPr/>
          <p:nvPr/>
        </p:nvSpPr>
        <p:spPr>
          <a:xfrm>
            <a:off x="2039112" y="914400"/>
            <a:ext cx="1572768" cy="402336"/>
          </a:xfrm>
          <a:prstGeom prst="roundRect">
            <a:avLst>
              <a:gd name="adj" fmla="val 22727"/>
            </a:avLst>
          </a:prstGeom>
          <a:solidFill>
            <a:srgbClr val="1E3A8A"/>
          </a:solidFill>
          <a:ln w="12700">
            <a:solidFill>
              <a:srgbClr val="1E3A8A"/>
            </a:solidFill>
            <a:prstDash val="solid"/>
          </a:ln>
        </p:spPr>
        <p:txBody>
          <a:bodyPr/>
          <a:lstStyle/>
          <a:p>
            <a:endParaRPr lang="en-US"/>
          </a:p>
        </p:txBody>
      </p:sp>
      <p:sp>
        <p:nvSpPr>
          <p:cNvPr id="15" name="Text 13"/>
          <p:cNvSpPr/>
          <p:nvPr/>
        </p:nvSpPr>
        <p:spPr>
          <a:xfrm>
            <a:off x="2039112" y="914400"/>
            <a:ext cx="15727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SETUP</a:t>
            </a:r>
            <a:endParaRPr lang="en-US" sz="1100" dirty="0"/>
          </a:p>
        </p:txBody>
      </p:sp>
      <p:sp>
        <p:nvSpPr>
          <p:cNvPr id="16" name="Text 14"/>
          <p:cNvSpPr/>
          <p:nvPr/>
        </p:nvSpPr>
        <p:spPr>
          <a:xfrm>
            <a:off x="2130552"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Employees imported</a:t>
            </a:r>
            <a:endParaRPr lang="en-US" sz="950" dirty="0"/>
          </a:p>
        </p:txBody>
      </p:sp>
      <p:sp>
        <p:nvSpPr>
          <p:cNvPr id="17" name="Text 15"/>
          <p:cNvSpPr/>
          <p:nvPr/>
        </p:nvSpPr>
        <p:spPr>
          <a:xfrm>
            <a:off x="2130552"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Participants registered</a:t>
            </a:r>
            <a:endParaRPr lang="en-US" sz="950" dirty="0"/>
          </a:p>
        </p:txBody>
      </p:sp>
      <p:sp>
        <p:nvSpPr>
          <p:cNvPr id="18" name="Text 16"/>
          <p:cNvSpPr/>
          <p:nvPr/>
        </p:nvSpPr>
        <p:spPr>
          <a:xfrm>
            <a:off x="2130552"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Teams created</a:t>
            </a:r>
            <a:endParaRPr lang="en-US" sz="950" dirty="0"/>
          </a:p>
        </p:txBody>
      </p:sp>
      <p:sp>
        <p:nvSpPr>
          <p:cNvPr id="19" name="Text 17"/>
          <p:cNvSpPr/>
          <p:nvPr/>
        </p:nvSpPr>
        <p:spPr>
          <a:xfrm>
            <a:off x="2130552"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Owners provisioned</a:t>
            </a:r>
            <a:endParaRPr lang="en-US" sz="950" dirty="0"/>
          </a:p>
        </p:txBody>
      </p:sp>
      <p:sp>
        <p:nvSpPr>
          <p:cNvPr id="20" name="Text 18"/>
          <p:cNvSpPr/>
          <p:nvPr/>
        </p:nvSpPr>
        <p:spPr>
          <a:xfrm>
            <a:off x="2130552" y="3538728"/>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Retentions configured</a:t>
            </a:r>
            <a:endParaRPr lang="en-US" sz="950" dirty="0"/>
          </a:p>
        </p:txBody>
      </p:sp>
      <p:sp>
        <p:nvSpPr>
          <p:cNvPr id="21" name="Text 19"/>
          <p:cNvSpPr/>
          <p:nvPr/>
        </p:nvSpPr>
        <p:spPr>
          <a:xfrm>
            <a:off x="3621024" y="1874520"/>
            <a:ext cx="128016" cy="347472"/>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22" name="Shape 20"/>
          <p:cNvSpPr/>
          <p:nvPr/>
        </p:nvSpPr>
        <p:spPr>
          <a:xfrm>
            <a:off x="3758184" y="914400"/>
            <a:ext cx="1572768" cy="3977640"/>
          </a:xfrm>
          <a:prstGeom prst="roundRect">
            <a:avLst>
              <a:gd name="adj" fmla="val 5814"/>
            </a:avLst>
          </a:prstGeom>
          <a:solidFill>
            <a:srgbClr val="FFFBEB"/>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3" name="Shape 21"/>
          <p:cNvSpPr/>
          <p:nvPr/>
        </p:nvSpPr>
        <p:spPr>
          <a:xfrm>
            <a:off x="3758184" y="914400"/>
            <a:ext cx="1572768" cy="402336"/>
          </a:xfrm>
          <a:prstGeom prst="roundRect">
            <a:avLst>
              <a:gd name="adj" fmla="val 22727"/>
            </a:avLst>
          </a:prstGeom>
          <a:solidFill>
            <a:srgbClr val="F0A030"/>
          </a:solidFill>
          <a:ln w="12700">
            <a:solidFill>
              <a:srgbClr val="F0A030"/>
            </a:solidFill>
            <a:prstDash val="solid"/>
          </a:ln>
        </p:spPr>
        <p:txBody>
          <a:bodyPr/>
          <a:lstStyle/>
          <a:p>
            <a:endParaRPr lang="en-US"/>
          </a:p>
        </p:txBody>
      </p:sp>
      <p:sp>
        <p:nvSpPr>
          <p:cNvPr id="24" name="Text 22"/>
          <p:cNvSpPr/>
          <p:nvPr/>
        </p:nvSpPr>
        <p:spPr>
          <a:xfrm>
            <a:off x="3758184" y="914400"/>
            <a:ext cx="15727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READY</a:t>
            </a:r>
            <a:endParaRPr lang="en-US" sz="1100" dirty="0"/>
          </a:p>
        </p:txBody>
      </p:sp>
      <p:sp>
        <p:nvSpPr>
          <p:cNvPr id="25" name="Text 23"/>
          <p:cNvSpPr/>
          <p:nvPr/>
        </p:nvSpPr>
        <p:spPr>
          <a:xfrm>
            <a:off x="3849624"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All blockers resolved</a:t>
            </a:r>
            <a:endParaRPr lang="en-US" sz="950" dirty="0"/>
          </a:p>
        </p:txBody>
      </p:sp>
      <p:sp>
        <p:nvSpPr>
          <p:cNvPr id="26" name="Text 24"/>
          <p:cNvSpPr/>
          <p:nvPr/>
        </p:nvSpPr>
        <p:spPr>
          <a:xfrm>
            <a:off x="3849624"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Config locked</a:t>
            </a:r>
            <a:endParaRPr lang="en-US" sz="950" dirty="0"/>
          </a:p>
        </p:txBody>
      </p:sp>
      <p:sp>
        <p:nvSpPr>
          <p:cNvPr id="27" name="Text 25"/>
          <p:cNvSpPr/>
          <p:nvPr/>
        </p:nvSpPr>
        <p:spPr>
          <a:xfrm>
            <a:off x="3849624"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Auction pool generated</a:t>
            </a:r>
            <a:endParaRPr lang="en-US" sz="950" dirty="0"/>
          </a:p>
        </p:txBody>
      </p:sp>
      <p:sp>
        <p:nvSpPr>
          <p:cNvPr id="28" name="Text 26"/>
          <p:cNvSpPr/>
          <p:nvPr/>
        </p:nvSpPr>
        <p:spPr>
          <a:xfrm>
            <a:off x="3849624"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Readiness check passed</a:t>
            </a:r>
            <a:endParaRPr lang="en-US" sz="950" dirty="0"/>
          </a:p>
        </p:txBody>
      </p:sp>
      <p:sp>
        <p:nvSpPr>
          <p:cNvPr id="29" name="Text 27"/>
          <p:cNvSpPr/>
          <p:nvPr/>
        </p:nvSpPr>
        <p:spPr>
          <a:xfrm>
            <a:off x="3849624" y="3538728"/>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Launch available</a:t>
            </a:r>
            <a:endParaRPr lang="en-US" sz="950" dirty="0"/>
          </a:p>
        </p:txBody>
      </p:sp>
      <p:sp>
        <p:nvSpPr>
          <p:cNvPr id="30" name="Text 28"/>
          <p:cNvSpPr/>
          <p:nvPr/>
        </p:nvSpPr>
        <p:spPr>
          <a:xfrm>
            <a:off x="5340096" y="1874520"/>
            <a:ext cx="128016" cy="347472"/>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31" name="Shape 29"/>
          <p:cNvSpPr/>
          <p:nvPr/>
        </p:nvSpPr>
        <p:spPr>
          <a:xfrm>
            <a:off x="5477256" y="914400"/>
            <a:ext cx="1572768" cy="3977640"/>
          </a:xfrm>
          <a:prstGeom prst="roundRect">
            <a:avLst>
              <a:gd name="adj" fmla="val 5814"/>
            </a:avLst>
          </a:prstGeom>
          <a:solidFill>
            <a:srgbClr val="FFF7ED"/>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2" name="Shape 30"/>
          <p:cNvSpPr/>
          <p:nvPr/>
        </p:nvSpPr>
        <p:spPr>
          <a:xfrm>
            <a:off x="5477256" y="914400"/>
            <a:ext cx="1572768" cy="402336"/>
          </a:xfrm>
          <a:prstGeom prst="roundRect">
            <a:avLst>
              <a:gd name="adj" fmla="val 22727"/>
            </a:avLst>
          </a:prstGeom>
          <a:solidFill>
            <a:srgbClr val="EA580C"/>
          </a:solidFill>
          <a:ln w="12700">
            <a:solidFill>
              <a:srgbClr val="EA580C"/>
            </a:solidFill>
            <a:prstDash val="solid"/>
          </a:ln>
        </p:spPr>
        <p:txBody>
          <a:bodyPr/>
          <a:lstStyle/>
          <a:p>
            <a:endParaRPr lang="en-US"/>
          </a:p>
        </p:txBody>
      </p:sp>
      <p:sp>
        <p:nvSpPr>
          <p:cNvPr id="33" name="Text 31"/>
          <p:cNvSpPr/>
          <p:nvPr/>
        </p:nvSpPr>
        <p:spPr>
          <a:xfrm>
            <a:off x="5477256" y="914400"/>
            <a:ext cx="15727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LIVE</a:t>
            </a:r>
            <a:endParaRPr lang="en-US" sz="1100" dirty="0"/>
          </a:p>
        </p:txBody>
      </p:sp>
      <p:sp>
        <p:nvSpPr>
          <p:cNvPr id="34" name="Text 32"/>
          <p:cNvSpPr/>
          <p:nvPr/>
        </p:nvSpPr>
        <p:spPr>
          <a:xfrm>
            <a:off x="5568696"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Admin nominates participant</a:t>
            </a:r>
            <a:endParaRPr lang="en-US" sz="950" dirty="0"/>
          </a:p>
        </p:txBody>
      </p:sp>
      <p:sp>
        <p:nvSpPr>
          <p:cNvPr id="35" name="Text 33"/>
          <p:cNvSpPr/>
          <p:nvPr/>
        </p:nvSpPr>
        <p:spPr>
          <a:xfrm>
            <a:off x="5568696"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Teams bid in real time</a:t>
            </a:r>
            <a:endParaRPr lang="en-US" sz="950" dirty="0"/>
          </a:p>
        </p:txBody>
      </p:sp>
      <p:sp>
        <p:nvSpPr>
          <p:cNvPr id="36" name="Text 34"/>
          <p:cNvSpPr/>
          <p:nvPr/>
        </p:nvSpPr>
        <p:spPr>
          <a:xfrm>
            <a:off x="5568696"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Timer enforces bid window</a:t>
            </a:r>
            <a:endParaRPr lang="en-US" sz="950" dirty="0"/>
          </a:p>
        </p:txBody>
      </p:sp>
      <p:sp>
        <p:nvSpPr>
          <p:cNvPr id="37" name="Text 35"/>
          <p:cNvSpPr/>
          <p:nvPr/>
        </p:nvSpPr>
        <p:spPr>
          <a:xfrm>
            <a:off x="5568696"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Sold / Unsold recorded</a:t>
            </a:r>
            <a:endParaRPr lang="en-US" sz="950" dirty="0"/>
          </a:p>
        </p:txBody>
      </p:sp>
      <p:sp>
        <p:nvSpPr>
          <p:cNvPr id="38" name="Text 36"/>
          <p:cNvSpPr/>
          <p:nvPr/>
        </p:nvSpPr>
        <p:spPr>
          <a:xfrm>
            <a:off x="5568696" y="3538728"/>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Socket.IO broadcasts state</a:t>
            </a:r>
            <a:endParaRPr lang="en-US" sz="950" dirty="0"/>
          </a:p>
        </p:txBody>
      </p:sp>
      <p:sp>
        <p:nvSpPr>
          <p:cNvPr id="39" name="Text 37"/>
          <p:cNvSpPr/>
          <p:nvPr/>
        </p:nvSpPr>
        <p:spPr>
          <a:xfrm>
            <a:off x="7059168" y="1874520"/>
            <a:ext cx="128016" cy="347472"/>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40" name="Shape 38"/>
          <p:cNvSpPr/>
          <p:nvPr/>
        </p:nvSpPr>
        <p:spPr>
          <a:xfrm>
            <a:off x="7196328" y="914400"/>
            <a:ext cx="1572768" cy="3977640"/>
          </a:xfrm>
          <a:prstGeom prst="roundRect">
            <a:avLst>
              <a:gd name="adj" fmla="val 5814"/>
            </a:avLst>
          </a:prstGeom>
          <a:solidFill>
            <a:srgbClr val="F0FDF4"/>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41" name="Shape 39"/>
          <p:cNvSpPr/>
          <p:nvPr/>
        </p:nvSpPr>
        <p:spPr>
          <a:xfrm>
            <a:off x="7196328" y="914400"/>
            <a:ext cx="1572768" cy="402336"/>
          </a:xfrm>
          <a:prstGeom prst="roundRect">
            <a:avLst>
              <a:gd name="adj" fmla="val 22727"/>
            </a:avLst>
          </a:prstGeom>
          <a:solidFill>
            <a:srgbClr val="059669"/>
          </a:solidFill>
          <a:ln w="12700">
            <a:solidFill>
              <a:srgbClr val="059669"/>
            </a:solidFill>
            <a:prstDash val="solid"/>
          </a:ln>
        </p:spPr>
        <p:txBody>
          <a:bodyPr/>
          <a:lstStyle/>
          <a:p>
            <a:endParaRPr lang="en-US"/>
          </a:p>
        </p:txBody>
      </p:sp>
      <p:sp>
        <p:nvSpPr>
          <p:cNvPr id="42" name="Text 40"/>
          <p:cNvSpPr/>
          <p:nvPr/>
        </p:nvSpPr>
        <p:spPr>
          <a:xfrm>
            <a:off x="7196328" y="914400"/>
            <a:ext cx="15727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COMPLETED</a:t>
            </a:r>
            <a:endParaRPr lang="en-US" sz="1100" dirty="0"/>
          </a:p>
        </p:txBody>
      </p:sp>
      <p:sp>
        <p:nvSpPr>
          <p:cNvPr id="43" name="Text 41"/>
          <p:cNvSpPr/>
          <p:nvPr/>
        </p:nvSpPr>
        <p:spPr>
          <a:xfrm>
            <a:off x="7287768"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All pool participants auctioned</a:t>
            </a:r>
            <a:endParaRPr lang="en-US" sz="950" dirty="0"/>
          </a:p>
        </p:txBody>
      </p:sp>
      <p:sp>
        <p:nvSpPr>
          <p:cNvPr id="44" name="Text 42"/>
          <p:cNvSpPr/>
          <p:nvPr/>
        </p:nvSpPr>
        <p:spPr>
          <a:xfrm>
            <a:off x="7287768"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Final results stored</a:t>
            </a:r>
            <a:endParaRPr lang="en-US" sz="950" dirty="0"/>
          </a:p>
        </p:txBody>
      </p:sp>
      <p:sp>
        <p:nvSpPr>
          <p:cNvPr id="45" name="Text 43"/>
          <p:cNvSpPr/>
          <p:nvPr/>
        </p:nvSpPr>
        <p:spPr>
          <a:xfrm>
            <a:off x="7287768"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Team rosters visible</a:t>
            </a:r>
            <a:endParaRPr lang="en-US" sz="950" dirty="0"/>
          </a:p>
        </p:txBody>
      </p:sp>
      <p:sp>
        <p:nvSpPr>
          <p:cNvPr id="46" name="Text 44"/>
          <p:cNvSpPr/>
          <p:nvPr/>
        </p:nvSpPr>
        <p:spPr>
          <a:xfrm>
            <a:off x="7287768"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Bid history accessible</a:t>
            </a:r>
            <a:endParaRPr lang="en-US" sz="950" dirty="0"/>
          </a:p>
        </p:txBody>
      </p:sp>
      <p:sp>
        <p:nvSpPr>
          <p:cNvPr id="47" name="Text 45"/>
          <p:cNvSpPr/>
          <p:nvPr/>
        </p:nvSpPr>
        <p:spPr>
          <a:xfrm>
            <a:off x="7287768" y="3538728"/>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Results page published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SPORT TOURNAMENT AUCTION</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Sport Tournament Lifecycle</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320040" y="914400"/>
            <a:ext cx="1572768" cy="3977640"/>
          </a:xfrm>
          <a:prstGeom prst="roundRect">
            <a:avLst>
              <a:gd name="adj" fmla="val 5814"/>
            </a:avLst>
          </a:prstGeom>
          <a:solidFill>
            <a:srgbClr val="F1F5F9"/>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320040" y="914400"/>
            <a:ext cx="1572768" cy="402336"/>
          </a:xfrm>
          <a:prstGeom prst="roundRect">
            <a:avLst>
              <a:gd name="adj" fmla="val 22727"/>
            </a:avLst>
          </a:prstGeom>
          <a:solidFill>
            <a:srgbClr val="64748B"/>
          </a:solidFill>
          <a:ln w="12700">
            <a:solidFill>
              <a:srgbClr val="64748B"/>
            </a:solidFill>
            <a:prstDash val="solid"/>
          </a:ln>
        </p:spPr>
        <p:txBody>
          <a:bodyPr/>
          <a:lstStyle/>
          <a:p>
            <a:endParaRPr lang="en-US"/>
          </a:p>
        </p:txBody>
      </p:sp>
      <p:sp>
        <p:nvSpPr>
          <p:cNvPr id="7" name="Text 5"/>
          <p:cNvSpPr/>
          <p:nvPr/>
        </p:nvSpPr>
        <p:spPr>
          <a:xfrm>
            <a:off x="320040" y="914400"/>
            <a:ext cx="1572768"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DRAFT</a:t>
            </a:r>
            <a:endParaRPr lang="en-US" sz="1000" dirty="0"/>
          </a:p>
        </p:txBody>
      </p:sp>
      <p:sp>
        <p:nvSpPr>
          <p:cNvPr id="8" name="Text 6"/>
          <p:cNvSpPr/>
          <p:nvPr/>
        </p:nvSpPr>
        <p:spPr>
          <a:xfrm>
            <a:off x="411480"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Tournament record created</a:t>
            </a:r>
            <a:endParaRPr lang="en-US" sz="950" dirty="0"/>
          </a:p>
        </p:txBody>
      </p:sp>
      <p:sp>
        <p:nvSpPr>
          <p:cNvPr id="9" name="Text 7"/>
          <p:cNvSpPr/>
          <p:nvPr/>
        </p:nvSpPr>
        <p:spPr>
          <a:xfrm>
            <a:off x="411480"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Linked to parent festival</a:t>
            </a:r>
            <a:endParaRPr lang="en-US" sz="950" dirty="0"/>
          </a:p>
        </p:txBody>
      </p:sp>
      <p:sp>
        <p:nvSpPr>
          <p:cNvPr id="10" name="Text 8"/>
          <p:cNvSpPr/>
          <p:nvPr/>
        </p:nvSpPr>
        <p:spPr>
          <a:xfrm>
            <a:off x="411480"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Sport type selected</a:t>
            </a:r>
            <a:endParaRPr lang="en-US" sz="950" dirty="0"/>
          </a:p>
        </p:txBody>
      </p:sp>
      <p:sp>
        <p:nvSpPr>
          <p:cNvPr id="11" name="Text 9"/>
          <p:cNvSpPr/>
          <p:nvPr/>
        </p:nvSpPr>
        <p:spPr>
          <a:xfrm>
            <a:off x="411480"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Initial config set</a:t>
            </a:r>
            <a:endParaRPr lang="en-US" sz="950" dirty="0"/>
          </a:p>
        </p:txBody>
      </p:sp>
      <p:sp>
        <p:nvSpPr>
          <p:cNvPr id="12" name="Text 10"/>
          <p:cNvSpPr/>
          <p:nvPr/>
        </p:nvSpPr>
        <p:spPr>
          <a:xfrm>
            <a:off x="1901952" y="1874520"/>
            <a:ext cx="128016" cy="347472"/>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13" name="Shape 11"/>
          <p:cNvSpPr/>
          <p:nvPr/>
        </p:nvSpPr>
        <p:spPr>
          <a:xfrm>
            <a:off x="2039112" y="914400"/>
            <a:ext cx="1572768" cy="3977640"/>
          </a:xfrm>
          <a:prstGeom prst="roundRect">
            <a:avLst>
              <a:gd name="adj" fmla="val 5814"/>
            </a:avLst>
          </a:prstGeom>
          <a:solidFill>
            <a:srgbClr val="F0FDFA"/>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4" name="Shape 12"/>
          <p:cNvSpPr/>
          <p:nvPr/>
        </p:nvSpPr>
        <p:spPr>
          <a:xfrm>
            <a:off x="2039112" y="914400"/>
            <a:ext cx="1572768" cy="402336"/>
          </a:xfrm>
          <a:prstGeom prst="roundRect">
            <a:avLst>
              <a:gd name="adj" fmla="val 22727"/>
            </a:avLst>
          </a:prstGeom>
          <a:solidFill>
            <a:srgbClr val="0891B2"/>
          </a:solidFill>
          <a:ln w="12700">
            <a:solidFill>
              <a:srgbClr val="0891B2"/>
            </a:solidFill>
            <a:prstDash val="solid"/>
          </a:ln>
        </p:spPr>
        <p:txBody>
          <a:bodyPr/>
          <a:lstStyle/>
          <a:p>
            <a:endParaRPr lang="en-US"/>
          </a:p>
        </p:txBody>
      </p:sp>
      <p:sp>
        <p:nvSpPr>
          <p:cNvPr id="15" name="Text 13"/>
          <p:cNvSpPr/>
          <p:nvPr/>
        </p:nvSpPr>
        <p:spPr>
          <a:xfrm>
            <a:off x="2039112" y="914400"/>
            <a:ext cx="1572768"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SETUP</a:t>
            </a:r>
            <a:endParaRPr lang="en-US" sz="1000" dirty="0"/>
          </a:p>
        </p:txBody>
      </p:sp>
      <p:sp>
        <p:nvSpPr>
          <p:cNvPr id="16" name="Text 14"/>
          <p:cNvSpPr/>
          <p:nvPr/>
        </p:nvSpPr>
        <p:spPr>
          <a:xfrm>
            <a:off x="2130552"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Sport teams configured</a:t>
            </a:r>
            <a:endParaRPr lang="en-US" sz="950" dirty="0"/>
          </a:p>
        </p:txBody>
      </p:sp>
      <p:sp>
        <p:nvSpPr>
          <p:cNvPr id="17" name="Text 15"/>
          <p:cNvSpPr/>
          <p:nvPr/>
        </p:nvSpPr>
        <p:spPr>
          <a:xfrm>
            <a:off x="2130552"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Captains assigned</a:t>
            </a:r>
            <a:endParaRPr lang="en-US" sz="950" dirty="0"/>
          </a:p>
        </p:txBody>
      </p:sp>
      <p:sp>
        <p:nvSpPr>
          <p:cNvPr id="18" name="Text 16"/>
          <p:cNvSpPr/>
          <p:nvPr/>
        </p:nvSpPr>
        <p:spPr>
          <a:xfrm>
            <a:off x="2130552"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Budget distributed</a:t>
            </a:r>
            <a:endParaRPr lang="en-US" sz="950" dirty="0"/>
          </a:p>
        </p:txBody>
      </p:sp>
      <p:sp>
        <p:nvSpPr>
          <p:cNvPr id="19" name="Text 17"/>
          <p:cNvSpPr/>
          <p:nvPr/>
        </p:nvSpPr>
        <p:spPr>
          <a:xfrm>
            <a:off x="2130552"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Gender rule set</a:t>
            </a:r>
            <a:endParaRPr lang="en-US" sz="950" dirty="0"/>
          </a:p>
        </p:txBody>
      </p:sp>
      <p:sp>
        <p:nvSpPr>
          <p:cNvPr id="20" name="Text 18"/>
          <p:cNvSpPr/>
          <p:nvPr/>
        </p:nvSpPr>
        <p:spPr>
          <a:xfrm>
            <a:off x="2130552" y="3538728"/>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Pool eligibility defined</a:t>
            </a:r>
            <a:endParaRPr lang="en-US" sz="950" dirty="0"/>
          </a:p>
        </p:txBody>
      </p:sp>
      <p:sp>
        <p:nvSpPr>
          <p:cNvPr id="21" name="Text 19"/>
          <p:cNvSpPr/>
          <p:nvPr/>
        </p:nvSpPr>
        <p:spPr>
          <a:xfrm>
            <a:off x="3621024" y="1874520"/>
            <a:ext cx="128016" cy="347472"/>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22" name="Shape 20"/>
          <p:cNvSpPr/>
          <p:nvPr/>
        </p:nvSpPr>
        <p:spPr>
          <a:xfrm>
            <a:off x="3758184" y="914400"/>
            <a:ext cx="1572768" cy="3977640"/>
          </a:xfrm>
          <a:prstGeom prst="roundRect">
            <a:avLst>
              <a:gd name="adj" fmla="val 5814"/>
            </a:avLst>
          </a:prstGeom>
          <a:solidFill>
            <a:srgbClr val="FFFBEB"/>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3" name="Shape 21"/>
          <p:cNvSpPr/>
          <p:nvPr/>
        </p:nvSpPr>
        <p:spPr>
          <a:xfrm>
            <a:off x="3758184" y="914400"/>
            <a:ext cx="1572768" cy="402336"/>
          </a:xfrm>
          <a:prstGeom prst="roundRect">
            <a:avLst>
              <a:gd name="adj" fmla="val 22727"/>
            </a:avLst>
          </a:prstGeom>
          <a:solidFill>
            <a:srgbClr val="F0A030"/>
          </a:solidFill>
          <a:ln w="12700">
            <a:solidFill>
              <a:srgbClr val="F0A030"/>
            </a:solidFill>
            <a:prstDash val="solid"/>
          </a:ln>
        </p:spPr>
        <p:txBody>
          <a:bodyPr/>
          <a:lstStyle/>
          <a:p>
            <a:endParaRPr lang="en-US"/>
          </a:p>
        </p:txBody>
      </p:sp>
      <p:sp>
        <p:nvSpPr>
          <p:cNvPr id="24" name="Text 22"/>
          <p:cNvSpPr/>
          <p:nvPr/>
        </p:nvSpPr>
        <p:spPr>
          <a:xfrm>
            <a:off x="3758184" y="914400"/>
            <a:ext cx="1572768"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READY</a:t>
            </a:r>
            <a:endParaRPr lang="en-US" sz="1000" dirty="0"/>
          </a:p>
        </p:txBody>
      </p:sp>
      <p:sp>
        <p:nvSpPr>
          <p:cNvPr id="25" name="Text 23"/>
          <p:cNvSpPr/>
          <p:nvPr/>
        </p:nvSpPr>
        <p:spPr>
          <a:xfrm>
            <a:off x="3849624"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Readiness blockers resolved</a:t>
            </a:r>
            <a:endParaRPr lang="en-US" sz="950" dirty="0"/>
          </a:p>
        </p:txBody>
      </p:sp>
      <p:sp>
        <p:nvSpPr>
          <p:cNvPr id="26" name="Text 24"/>
          <p:cNvSpPr/>
          <p:nvPr/>
        </p:nvSpPr>
        <p:spPr>
          <a:xfrm>
            <a:off x="3849624"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Auction pool generated</a:t>
            </a:r>
            <a:endParaRPr lang="en-US" sz="950" dirty="0"/>
          </a:p>
        </p:txBody>
      </p:sp>
      <p:sp>
        <p:nvSpPr>
          <p:cNvPr id="27" name="Text 25"/>
          <p:cNvSpPr/>
          <p:nvPr/>
        </p:nvSpPr>
        <p:spPr>
          <a:xfrm>
            <a:off x="3849624"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All captains confirmed</a:t>
            </a:r>
            <a:endParaRPr lang="en-US" sz="950" dirty="0"/>
          </a:p>
        </p:txBody>
      </p:sp>
      <p:sp>
        <p:nvSpPr>
          <p:cNvPr id="28" name="Text 26"/>
          <p:cNvSpPr/>
          <p:nvPr/>
        </p:nvSpPr>
        <p:spPr>
          <a:xfrm>
            <a:off x="3849624"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Configuration locked</a:t>
            </a:r>
            <a:endParaRPr lang="en-US" sz="950" dirty="0"/>
          </a:p>
        </p:txBody>
      </p:sp>
      <p:sp>
        <p:nvSpPr>
          <p:cNvPr id="29" name="Text 27"/>
          <p:cNvSpPr/>
          <p:nvPr/>
        </p:nvSpPr>
        <p:spPr>
          <a:xfrm>
            <a:off x="3849624" y="3538728"/>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Launch enabled</a:t>
            </a:r>
            <a:endParaRPr lang="en-US" sz="950" dirty="0"/>
          </a:p>
        </p:txBody>
      </p:sp>
      <p:sp>
        <p:nvSpPr>
          <p:cNvPr id="30" name="Text 28"/>
          <p:cNvSpPr/>
          <p:nvPr/>
        </p:nvSpPr>
        <p:spPr>
          <a:xfrm>
            <a:off x="5340096" y="1874520"/>
            <a:ext cx="128016" cy="347472"/>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31" name="Shape 29"/>
          <p:cNvSpPr/>
          <p:nvPr/>
        </p:nvSpPr>
        <p:spPr>
          <a:xfrm>
            <a:off x="5477256" y="914400"/>
            <a:ext cx="1572768" cy="3977640"/>
          </a:xfrm>
          <a:prstGeom prst="roundRect">
            <a:avLst>
              <a:gd name="adj" fmla="val 5814"/>
            </a:avLst>
          </a:prstGeom>
          <a:solidFill>
            <a:srgbClr val="FFF7ED"/>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2" name="Shape 30"/>
          <p:cNvSpPr/>
          <p:nvPr/>
        </p:nvSpPr>
        <p:spPr>
          <a:xfrm>
            <a:off x="5477256" y="914400"/>
            <a:ext cx="1572768" cy="402336"/>
          </a:xfrm>
          <a:prstGeom prst="roundRect">
            <a:avLst>
              <a:gd name="adj" fmla="val 22727"/>
            </a:avLst>
          </a:prstGeom>
          <a:solidFill>
            <a:srgbClr val="EA580C"/>
          </a:solidFill>
          <a:ln w="12700">
            <a:solidFill>
              <a:srgbClr val="EA580C"/>
            </a:solidFill>
            <a:prstDash val="solid"/>
          </a:ln>
        </p:spPr>
        <p:txBody>
          <a:bodyPr/>
          <a:lstStyle/>
          <a:p>
            <a:endParaRPr lang="en-US"/>
          </a:p>
        </p:txBody>
      </p:sp>
      <p:sp>
        <p:nvSpPr>
          <p:cNvPr id="33" name="Text 31"/>
          <p:cNvSpPr/>
          <p:nvPr/>
        </p:nvSpPr>
        <p:spPr>
          <a:xfrm>
            <a:off x="5477256" y="914400"/>
            <a:ext cx="1572768"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AUCTION LIVE</a:t>
            </a:r>
            <a:endParaRPr lang="en-US" sz="1000" dirty="0"/>
          </a:p>
        </p:txBody>
      </p:sp>
      <p:sp>
        <p:nvSpPr>
          <p:cNvPr id="34" name="Text 32"/>
          <p:cNvSpPr/>
          <p:nvPr/>
        </p:nvSpPr>
        <p:spPr>
          <a:xfrm>
            <a:off x="5568696"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Admin nominates athlete</a:t>
            </a:r>
            <a:endParaRPr lang="en-US" sz="950" dirty="0"/>
          </a:p>
        </p:txBody>
      </p:sp>
      <p:sp>
        <p:nvSpPr>
          <p:cNvPr id="35" name="Text 33"/>
          <p:cNvSpPr/>
          <p:nvPr/>
        </p:nvSpPr>
        <p:spPr>
          <a:xfrm>
            <a:off x="5568696"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Captains bid in real time</a:t>
            </a:r>
            <a:endParaRPr lang="en-US" sz="950" dirty="0"/>
          </a:p>
        </p:txBody>
      </p:sp>
      <p:sp>
        <p:nvSpPr>
          <p:cNvPr id="36" name="Text 34"/>
          <p:cNvSpPr/>
          <p:nvPr/>
        </p:nvSpPr>
        <p:spPr>
          <a:xfrm>
            <a:off x="5568696"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Credit budgets enforced</a:t>
            </a:r>
            <a:endParaRPr lang="en-US" sz="950" dirty="0"/>
          </a:p>
        </p:txBody>
      </p:sp>
      <p:sp>
        <p:nvSpPr>
          <p:cNvPr id="37" name="Text 35"/>
          <p:cNvSpPr/>
          <p:nvPr/>
        </p:nvSpPr>
        <p:spPr>
          <a:xfrm>
            <a:off x="5568696"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Socket.IO push updates</a:t>
            </a:r>
            <a:endParaRPr lang="en-US" sz="950" dirty="0"/>
          </a:p>
        </p:txBody>
      </p:sp>
      <p:sp>
        <p:nvSpPr>
          <p:cNvPr id="38" name="Text 36"/>
          <p:cNvSpPr/>
          <p:nvPr/>
        </p:nvSpPr>
        <p:spPr>
          <a:xfrm>
            <a:off x="5568696" y="3538728"/>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Revision guard active</a:t>
            </a:r>
            <a:endParaRPr lang="en-US" sz="950" dirty="0"/>
          </a:p>
        </p:txBody>
      </p:sp>
      <p:sp>
        <p:nvSpPr>
          <p:cNvPr id="39" name="Text 37"/>
          <p:cNvSpPr/>
          <p:nvPr/>
        </p:nvSpPr>
        <p:spPr>
          <a:xfrm>
            <a:off x="7059168" y="1874520"/>
            <a:ext cx="128016" cy="347472"/>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40" name="Shape 38"/>
          <p:cNvSpPr/>
          <p:nvPr/>
        </p:nvSpPr>
        <p:spPr>
          <a:xfrm>
            <a:off x="7196328" y="914400"/>
            <a:ext cx="1572768" cy="3977640"/>
          </a:xfrm>
          <a:prstGeom prst="roundRect">
            <a:avLst>
              <a:gd name="adj" fmla="val 5814"/>
            </a:avLst>
          </a:prstGeom>
          <a:solidFill>
            <a:srgbClr val="F0FDF4"/>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41" name="Shape 39"/>
          <p:cNvSpPr/>
          <p:nvPr/>
        </p:nvSpPr>
        <p:spPr>
          <a:xfrm>
            <a:off x="7196328" y="914400"/>
            <a:ext cx="1572768" cy="402336"/>
          </a:xfrm>
          <a:prstGeom prst="roundRect">
            <a:avLst>
              <a:gd name="adj" fmla="val 22727"/>
            </a:avLst>
          </a:prstGeom>
          <a:solidFill>
            <a:srgbClr val="059669"/>
          </a:solidFill>
          <a:ln w="12700">
            <a:solidFill>
              <a:srgbClr val="059669"/>
            </a:solidFill>
            <a:prstDash val="solid"/>
          </a:ln>
        </p:spPr>
        <p:txBody>
          <a:bodyPr/>
          <a:lstStyle/>
          <a:p>
            <a:endParaRPr lang="en-US"/>
          </a:p>
        </p:txBody>
      </p:sp>
      <p:sp>
        <p:nvSpPr>
          <p:cNvPr id="42" name="Text 40"/>
          <p:cNvSpPr/>
          <p:nvPr/>
        </p:nvSpPr>
        <p:spPr>
          <a:xfrm>
            <a:off x="7196328" y="914400"/>
            <a:ext cx="1572768"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COMPLETED</a:t>
            </a:r>
            <a:endParaRPr lang="en-US" sz="1000" dirty="0"/>
          </a:p>
        </p:txBody>
      </p:sp>
      <p:sp>
        <p:nvSpPr>
          <p:cNvPr id="43" name="Text 41"/>
          <p:cNvSpPr/>
          <p:nvPr/>
        </p:nvSpPr>
        <p:spPr>
          <a:xfrm>
            <a:off x="7287768" y="1417320"/>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All pool athletes auctioned</a:t>
            </a:r>
            <a:endParaRPr lang="en-US" sz="950" dirty="0"/>
          </a:p>
        </p:txBody>
      </p:sp>
      <p:sp>
        <p:nvSpPr>
          <p:cNvPr id="44" name="Text 42"/>
          <p:cNvSpPr/>
          <p:nvPr/>
        </p:nvSpPr>
        <p:spPr>
          <a:xfrm>
            <a:off x="7287768" y="1947672"/>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Final sport team rosters set</a:t>
            </a:r>
            <a:endParaRPr lang="en-US" sz="950" dirty="0"/>
          </a:p>
        </p:txBody>
      </p:sp>
      <p:sp>
        <p:nvSpPr>
          <p:cNvPr id="45" name="Text 43"/>
          <p:cNvSpPr/>
          <p:nvPr/>
        </p:nvSpPr>
        <p:spPr>
          <a:xfrm>
            <a:off x="7287768" y="2478024"/>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Credit spend recorded</a:t>
            </a:r>
            <a:endParaRPr lang="en-US" sz="950" dirty="0"/>
          </a:p>
        </p:txBody>
      </p:sp>
      <p:sp>
        <p:nvSpPr>
          <p:cNvPr id="46" name="Text 44"/>
          <p:cNvSpPr/>
          <p:nvPr/>
        </p:nvSpPr>
        <p:spPr>
          <a:xfrm>
            <a:off x="7287768" y="3008376"/>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Results page live</a:t>
            </a:r>
            <a:endParaRPr lang="en-US" sz="950" dirty="0"/>
          </a:p>
        </p:txBody>
      </p:sp>
      <p:sp>
        <p:nvSpPr>
          <p:cNvPr id="47" name="Text 45"/>
          <p:cNvSpPr/>
          <p:nvPr/>
        </p:nvSpPr>
        <p:spPr>
          <a:xfrm>
            <a:off x="7287768" y="3538728"/>
            <a:ext cx="1389888" cy="475488"/>
          </a:xfrm>
          <a:prstGeom prst="rect">
            <a:avLst/>
          </a:prstGeom>
          <a:noFill/>
          <a:ln/>
        </p:spPr>
        <p:txBody>
          <a:bodyPr wrap="square" lIns="0" tIns="0" rIns="0" bIns="0" rtlCol="0" anchor="t"/>
          <a:lstStyle/>
          <a:p>
            <a:pPr marL="0" indent="0" algn="l">
              <a:buNone/>
            </a:pPr>
            <a:r>
              <a:rPr lang="en-US" sz="950" dirty="0">
                <a:solidFill>
                  <a:srgbClr val="1E293B"/>
                </a:solidFill>
                <a:latin typeface="Calibri" pitchFamily="34" charset="0"/>
                <a:ea typeface="Calibri" pitchFamily="34" charset="-122"/>
                <a:cs typeface="Calibri" pitchFamily="34" charset="-120"/>
              </a:rPr>
              <a:t>·  History accessible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REAL-TIME ENGINE</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Live Auction Engine — How It Works</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4023360" cy="3977640"/>
          </a:xfrm>
          <a:prstGeom prst="roundRect">
            <a:avLst>
              <a:gd name="adj" fmla="val 2299"/>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594360" y="987552"/>
            <a:ext cx="3749040" cy="274320"/>
          </a:xfrm>
          <a:prstGeom prst="rect">
            <a:avLst/>
          </a:prstGeom>
          <a:noFill/>
          <a:ln/>
        </p:spPr>
        <p:txBody>
          <a:bodyPr wrap="square" lIns="0" tIns="0" rIns="0" bIns="0" rtlCol="0" anchor="ctr"/>
          <a:lstStyle/>
          <a:p>
            <a:pPr marL="0" indent="0">
              <a:buNone/>
            </a:pPr>
            <a:r>
              <a:rPr lang="en-US" sz="1200" b="1" dirty="0">
                <a:solidFill>
                  <a:srgbClr val="1E3A8A"/>
                </a:solidFill>
                <a:latin typeface="Calibri" pitchFamily="34" charset="0"/>
                <a:ea typeface="Calibri" pitchFamily="34" charset="-122"/>
                <a:cs typeface="Calibri" pitchFamily="34" charset="-120"/>
              </a:rPr>
              <a:t>Socket.IO Architecture</a:t>
            </a:r>
            <a:endParaRPr lang="en-US" sz="1200" dirty="0"/>
          </a:p>
        </p:txBody>
      </p:sp>
      <p:sp>
        <p:nvSpPr>
          <p:cNvPr id="7" name="Text 5"/>
          <p:cNvSpPr/>
          <p:nvPr/>
        </p:nvSpPr>
        <p:spPr>
          <a:xfrm>
            <a:off x="594360" y="1353312"/>
            <a:ext cx="1554480" cy="420624"/>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join-festival-auction</a:t>
            </a:r>
            <a:endParaRPr lang="en-US" sz="950" dirty="0"/>
          </a:p>
        </p:txBody>
      </p:sp>
      <p:sp>
        <p:nvSpPr>
          <p:cNvPr id="8" name="Text 6"/>
          <p:cNvSpPr/>
          <p:nvPr/>
        </p:nvSpPr>
        <p:spPr>
          <a:xfrm>
            <a:off x="2176272" y="1353312"/>
            <a:ext cx="219456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Client joins festival room</a:t>
            </a:r>
            <a:endParaRPr lang="en-US" sz="950" dirty="0"/>
          </a:p>
        </p:txBody>
      </p:sp>
      <p:sp>
        <p:nvSpPr>
          <p:cNvPr id="9" name="Shape 7"/>
          <p:cNvSpPr/>
          <p:nvPr/>
        </p:nvSpPr>
        <p:spPr>
          <a:xfrm>
            <a:off x="594360" y="1755648"/>
            <a:ext cx="3520440" cy="9144"/>
          </a:xfrm>
          <a:prstGeom prst="rect">
            <a:avLst/>
          </a:prstGeom>
          <a:solidFill>
            <a:srgbClr val="E2E8F0"/>
          </a:solidFill>
          <a:ln w="12700">
            <a:solidFill>
              <a:srgbClr val="E2E8F0"/>
            </a:solidFill>
            <a:prstDash val="solid"/>
          </a:ln>
        </p:spPr>
        <p:txBody>
          <a:bodyPr/>
          <a:lstStyle/>
          <a:p>
            <a:endParaRPr lang="en-US"/>
          </a:p>
        </p:txBody>
      </p:sp>
      <p:sp>
        <p:nvSpPr>
          <p:cNvPr id="10" name="Text 8"/>
          <p:cNvSpPr/>
          <p:nvPr/>
        </p:nvSpPr>
        <p:spPr>
          <a:xfrm>
            <a:off x="594360" y="1828800"/>
            <a:ext cx="1554480" cy="420624"/>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join-sport-auction</a:t>
            </a:r>
            <a:endParaRPr lang="en-US" sz="950" dirty="0"/>
          </a:p>
        </p:txBody>
      </p:sp>
      <p:sp>
        <p:nvSpPr>
          <p:cNvPr id="11" name="Text 9"/>
          <p:cNvSpPr/>
          <p:nvPr/>
        </p:nvSpPr>
        <p:spPr>
          <a:xfrm>
            <a:off x="2176272" y="1828800"/>
            <a:ext cx="219456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Client joins sport room</a:t>
            </a:r>
            <a:endParaRPr lang="en-US" sz="950" dirty="0"/>
          </a:p>
        </p:txBody>
      </p:sp>
      <p:sp>
        <p:nvSpPr>
          <p:cNvPr id="12" name="Shape 10"/>
          <p:cNvSpPr/>
          <p:nvPr/>
        </p:nvSpPr>
        <p:spPr>
          <a:xfrm>
            <a:off x="594360" y="2231136"/>
            <a:ext cx="3520440" cy="9144"/>
          </a:xfrm>
          <a:prstGeom prst="rect">
            <a:avLst/>
          </a:prstGeom>
          <a:solidFill>
            <a:srgbClr val="E2E8F0"/>
          </a:solidFill>
          <a:ln w="12700">
            <a:solidFill>
              <a:srgbClr val="E2E8F0"/>
            </a:solidFill>
            <a:prstDash val="solid"/>
          </a:ln>
        </p:spPr>
        <p:txBody>
          <a:bodyPr/>
          <a:lstStyle/>
          <a:p>
            <a:endParaRPr lang="en-US"/>
          </a:p>
        </p:txBody>
      </p:sp>
      <p:sp>
        <p:nvSpPr>
          <p:cNvPr id="13" name="Text 11"/>
          <p:cNvSpPr/>
          <p:nvPr/>
        </p:nvSpPr>
        <p:spPr>
          <a:xfrm>
            <a:off x="594360" y="2304288"/>
            <a:ext cx="1554480" cy="420624"/>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auction-state</a:t>
            </a:r>
            <a:endParaRPr lang="en-US" sz="950" dirty="0"/>
          </a:p>
        </p:txBody>
      </p:sp>
      <p:sp>
        <p:nvSpPr>
          <p:cNvPr id="14" name="Text 12"/>
          <p:cNvSpPr/>
          <p:nvPr/>
        </p:nvSpPr>
        <p:spPr>
          <a:xfrm>
            <a:off x="2176272" y="2304288"/>
            <a:ext cx="219456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Server pushes full state snapshot</a:t>
            </a:r>
            <a:endParaRPr lang="en-US" sz="950" dirty="0"/>
          </a:p>
        </p:txBody>
      </p:sp>
      <p:sp>
        <p:nvSpPr>
          <p:cNvPr id="15" name="Shape 13"/>
          <p:cNvSpPr/>
          <p:nvPr/>
        </p:nvSpPr>
        <p:spPr>
          <a:xfrm>
            <a:off x="594360" y="2706624"/>
            <a:ext cx="3520440" cy="9144"/>
          </a:xfrm>
          <a:prstGeom prst="rect">
            <a:avLst/>
          </a:prstGeom>
          <a:solidFill>
            <a:srgbClr val="E2E8F0"/>
          </a:solidFill>
          <a:ln w="12700">
            <a:solidFill>
              <a:srgbClr val="E2E8F0"/>
            </a:solidFill>
            <a:prstDash val="solid"/>
          </a:ln>
        </p:spPr>
        <p:txBody>
          <a:bodyPr/>
          <a:lstStyle/>
          <a:p>
            <a:endParaRPr lang="en-US"/>
          </a:p>
        </p:txBody>
      </p:sp>
      <p:sp>
        <p:nvSpPr>
          <p:cNvPr id="16" name="Text 14"/>
          <p:cNvSpPr/>
          <p:nvPr/>
        </p:nvSpPr>
        <p:spPr>
          <a:xfrm>
            <a:off x="594360" y="2779776"/>
            <a:ext cx="1554480" cy="420624"/>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leave-festival-auction</a:t>
            </a:r>
            <a:endParaRPr lang="en-US" sz="950" dirty="0"/>
          </a:p>
        </p:txBody>
      </p:sp>
      <p:sp>
        <p:nvSpPr>
          <p:cNvPr id="17" name="Text 15"/>
          <p:cNvSpPr/>
          <p:nvPr/>
        </p:nvSpPr>
        <p:spPr>
          <a:xfrm>
            <a:off x="2176272" y="2779776"/>
            <a:ext cx="219456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Client exits room on unmount</a:t>
            </a:r>
            <a:endParaRPr lang="en-US" sz="950" dirty="0"/>
          </a:p>
        </p:txBody>
      </p:sp>
      <p:sp>
        <p:nvSpPr>
          <p:cNvPr id="18" name="Shape 16"/>
          <p:cNvSpPr/>
          <p:nvPr/>
        </p:nvSpPr>
        <p:spPr>
          <a:xfrm>
            <a:off x="594360" y="3182112"/>
            <a:ext cx="3520440" cy="9144"/>
          </a:xfrm>
          <a:prstGeom prst="rect">
            <a:avLst/>
          </a:prstGeom>
          <a:solidFill>
            <a:srgbClr val="E2E8F0"/>
          </a:solidFill>
          <a:ln w="12700">
            <a:solidFill>
              <a:srgbClr val="E2E8F0"/>
            </a:solidFill>
            <a:prstDash val="solid"/>
          </a:ln>
        </p:spPr>
        <p:txBody>
          <a:bodyPr/>
          <a:lstStyle/>
          <a:p>
            <a:endParaRPr lang="en-US"/>
          </a:p>
        </p:txBody>
      </p:sp>
      <p:sp>
        <p:nvSpPr>
          <p:cNvPr id="19" name="Text 17"/>
          <p:cNvSpPr/>
          <p:nvPr/>
        </p:nvSpPr>
        <p:spPr>
          <a:xfrm>
            <a:off x="594360" y="3255264"/>
            <a:ext cx="1554480" cy="420624"/>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Revision Guard</a:t>
            </a:r>
            <a:endParaRPr lang="en-US" sz="950" dirty="0"/>
          </a:p>
        </p:txBody>
      </p:sp>
      <p:sp>
        <p:nvSpPr>
          <p:cNvPr id="20" name="Text 18"/>
          <p:cNvSpPr/>
          <p:nvPr/>
        </p:nvSpPr>
        <p:spPr>
          <a:xfrm>
            <a:off x="2176272" y="3255264"/>
            <a:ext cx="219456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shouldApplyAuctionSnapshot() prevents stale overwrites</a:t>
            </a:r>
            <a:endParaRPr lang="en-US" sz="950" dirty="0"/>
          </a:p>
        </p:txBody>
      </p:sp>
      <p:sp>
        <p:nvSpPr>
          <p:cNvPr id="21" name="Shape 19"/>
          <p:cNvSpPr/>
          <p:nvPr/>
        </p:nvSpPr>
        <p:spPr>
          <a:xfrm>
            <a:off x="594360" y="3657600"/>
            <a:ext cx="3520440" cy="9144"/>
          </a:xfrm>
          <a:prstGeom prst="rect">
            <a:avLst/>
          </a:prstGeom>
          <a:solidFill>
            <a:srgbClr val="E2E8F0"/>
          </a:solidFill>
          <a:ln w="12700">
            <a:solidFill>
              <a:srgbClr val="E2E8F0"/>
            </a:solidFill>
            <a:prstDash val="solid"/>
          </a:ln>
        </p:spPr>
        <p:txBody>
          <a:bodyPr/>
          <a:lstStyle/>
          <a:p>
            <a:endParaRPr lang="en-US"/>
          </a:p>
        </p:txBody>
      </p:sp>
      <p:sp>
        <p:nvSpPr>
          <p:cNvPr id="22" name="Text 20"/>
          <p:cNvSpPr/>
          <p:nvPr/>
        </p:nvSpPr>
        <p:spPr>
          <a:xfrm>
            <a:off x="594360" y="3730752"/>
            <a:ext cx="1554480" cy="420624"/>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Reconnect Handler</a:t>
            </a:r>
            <a:endParaRPr lang="en-US" sz="950" dirty="0"/>
          </a:p>
        </p:txBody>
      </p:sp>
      <p:sp>
        <p:nvSpPr>
          <p:cNvPr id="23" name="Text 21"/>
          <p:cNvSpPr/>
          <p:nvPr/>
        </p:nvSpPr>
        <p:spPr>
          <a:xfrm>
            <a:off x="2176272" y="3730752"/>
            <a:ext cx="219456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socket.on('connect', rejoin) re-enters room after drop</a:t>
            </a:r>
            <a:endParaRPr lang="en-US" sz="950" dirty="0"/>
          </a:p>
        </p:txBody>
      </p:sp>
      <p:sp>
        <p:nvSpPr>
          <p:cNvPr id="24" name="Shape 22"/>
          <p:cNvSpPr/>
          <p:nvPr/>
        </p:nvSpPr>
        <p:spPr>
          <a:xfrm>
            <a:off x="594360" y="4133088"/>
            <a:ext cx="3520440" cy="9144"/>
          </a:xfrm>
          <a:prstGeom prst="rect">
            <a:avLst/>
          </a:prstGeom>
          <a:solidFill>
            <a:srgbClr val="E2E8F0"/>
          </a:solidFill>
          <a:ln w="12700">
            <a:solidFill>
              <a:srgbClr val="E2E8F0"/>
            </a:solidFill>
            <a:prstDash val="solid"/>
          </a:ln>
        </p:spPr>
        <p:txBody>
          <a:bodyPr/>
          <a:lstStyle/>
          <a:p>
            <a:endParaRPr lang="en-US"/>
          </a:p>
        </p:txBody>
      </p:sp>
      <p:sp>
        <p:nvSpPr>
          <p:cNvPr id="25" name="Text 23"/>
          <p:cNvSpPr/>
          <p:nvPr/>
        </p:nvSpPr>
        <p:spPr>
          <a:xfrm>
            <a:off x="594360" y="4206240"/>
            <a:ext cx="1554480" cy="420624"/>
          </a:xfrm>
          <a:prstGeom prst="rect">
            <a:avLst/>
          </a:prstGeom>
          <a:noFill/>
          <a:ln/>
        </p:spPr>
        <p:txBody>
          <a:bodyPr wrap="square" lIns="0" tIns="0" rIns="0" bIns="0" rtlCol="0" anchor="t"/>
          <a:lstStyle/>
          <a:p>
            <a:pPr marL="0" indent="0" algn="l">
              <a:buNone/>
            </a:pPr>
            <a:r>
              <a:rPr lang="en-US" sz="950" b="1" dirty="0">
                <a:solidFill>
                  <a:srgbClr val="2563EB"/>
                </a:solidFill>
                <a:latin typeface="Calibri" pitchFamily="34" charset="0"/>
                <a:ea typeface="Calibri" pitchFamily="34" charset="-122"/>
                <a:cs typeface="Calibri" pitchFamily="34" charset="-120"/>
              </a:rPr>
              <a:t>Broadcast Scope</a:t>
            </a:r>
            <a:endParaRPr lang="en-US" sz="950" dirty="0"/>
          </a:p>
        </p:txBody>
      </p:sp>
      <p:sp>
        <p:nvSpPr>
          <p:cNvPr id="26" name="Text 24"/>
          <p:cNvSpPr/>
          <p:nvPr/>
        </p:nvSpPr>
        <p:spPr>
          <a:xfrm>
            <a:off x="2176272" y="4206240"/>
            <a:ext cx="219456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Server filters broadcast to matching scopeType + scopeId</a:t>
            </a:r>
            <a:endParaRPr lang="en-US" sz="950" dirty="0"/>
          </a:p>
        </p:txBody>
      </p:sp>
      <p:sp>
        <p:nvSpPr>
          <p:cNvPr id="27" name="Shape 25"/>
          <p:cNvSpPr/>
          <p:nvPr/>
        </p:nvSpPr>
        <p:spPr>
          <a:xfrm>
            <a:off x="4663440" y="914400"/>
            <a:ext cx="4023360" cy="3977640"/>
          </a:xfrm>
          <a:prstGeom prst="roundRect">
            <a:avLst>
              <a:gd name="adj" fmla="val 2299"/>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8" name="Text 26"/>
          <p:cNvSpPr/>
          <p:nvPr/>
        </p:nvSpPr>
        <p:spPr>
          <a:xfrm>
            <a:off x="4800600" y="987552"/>
            <a:ext cx="3749040" cy="274320"/>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Auction Controls &amp; Validation</a:t>
            </a:r>
            <a:endParaRPr lang="en-US" sz="1200" dirty="0"/>
          </a:p>
        </p:txBody>
      </p:sp>
      <p:sp>
        <p:nvSpPr>
          <p:cNvPr id="29" name="Text 27"/>
          <p:cNvSpPr/>
          <p:nvPr/>
        </p:nvSpPr>
        <p:spPr>
          <a:xfrm>
            <a:off x="4800600" y="1353312"/>
            <a:ext cx="1463040" cy="420624"/>
          </a:xfrm>
          <a:prstGeom prst="rect">
            <a:avLst/>
          </a:prstGeom>
          <a:noFill/>
          <a:ln/>
        </p:spPr>
        <p:txBody>
          <a:bodyPr wrap="square" lIns="0" tIns="0" rIns="0" bIns="0" rtlCol="0" anchor="t"/>
          <a:lstStyle/>
          <a:p>
            <a:pPr marL="0" indent="0" algn="l">
              <a:buNone/>
            </a:pPr>
            <a:r>
              <a:rPr lang="en-US" sz="950" b="1" dirty="0">
                <a:solidFill>
                  <a:srgbClr val="0891B2"/>
                </a:solidFill>
                <a:latin typeface="Calibri" pitchFamily="34" charset="0"/>
                <a:ea typeface="Calibri" pitchFamily="34" charset="-122"/>
                <a:cs typeface="Calibri" pitchFamily="34" charset="-120"/>
              </a:rPr>
              <a:t>Budget Enforcement</a:t>
            </a:r>
            <a:endParaRPr lang="en-US" sz="950" dirty="0"/>
          </a:p>
        </p:txBody>
      </p:sp>
      <p:sp>
        <p:nvSpPr>
          <p:cNvPr id="30" name="Text 28"/>
          <p:cNvSpPr/>
          <p:nvPr/>
        </p:nvSpPr>
        <p:spPr>
          <a:xfrm>
            <a:off x="6291072" y="1353312"/>
            <a:ext cx="228600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Bids rejected if team budget &lt; bid amount</a:t>
            </a:r>
            <a:endParaRPr lang="en-US" sz="950" dirty="0"/>
          </a:p>
        </p:txBody>
      </p:sp>
      <p:sp>
        <p:nvSpPr>
          <p:cNvPr id="31" name="Shape 29"/>
          <p:cNvSpPr/>
          <p:nvPr/>
        </p:nvSpPr>
        <p:spPr>
          <a:xfrm>
            <a:off x="4800600" y="1755648"/>
            <a:ext cx="3520440" cy="9144"/>
          </a:xfrm>
          <a:prstGeom prst="rect">
            <a:avLst/>
          </a:prstGeom>
          <a:solidFill>
            <a:srgbClr val="E2E8F0"/>
          </a:solidFill>
          <a:ln w="12700">
            <a:solidFill>
              <a:srgbClr val="E2E8F0"/>
            </a:solidFill>
            <a:prstDash val="solid"/>
          </a:ln>
        </p:spPr>
        <p:txBody>
          <a:bodyPr/>
          <a:lstStyle/>
          <a:p>
            <a:endParaRPr lang="en-US"/>
          </a:p>
        </p:txBody>
      </p:sp>
      <p:sp>
        <p:nvSpPr>
          <p:cNvPr id="32" name="Text 30"/>
          <p:cNvSpPr/>
          <p:nvPr/>
        </p:nvSpPr>
        <p:spPr>
          <a:xfrm>
            <a:off x="4800600" y="1828800"/>
            <a:ext cx="1463040" cy="420624"/>
          </a:xfrm>
          <a:prstGeom prst="rect">
            <a:avLst/>
          </a:prstGeom>
          <a:noFill/>
          <a:ln/>
        </p:spPr>
        <p:txBody>
          <a:bodyPr wrap="square" lIns="0" tIns="0" rIns="0" bIns="0" rtlCol="0" anchor="t"/>
          <a:lstStyle/>
          <a:p>
            <a:pPr marL="0" indent="0" algn="l">
              <a:buNone/>
            </a:pPr>
            <a:r>
              <a:rPr lang="en-US" sz="950" b="1" dirty="0">
                <a:solidFill>
                  <a:srgbClr val="0891B2"/>
                </a:solidFill>
                <a:latin typeface="Calibri" pitchFamily="34" charset="0"/>
                <a:ea typeface="Calibri" pitchFamily="34" charset="-122"/>
                <a:cs typeface="Calibri" pitchFamily="34" charset="-120"/>
              </a:rPr>
              <a:t>Minimum Increment</a:t>
            </a:r>
            <a:endParaRPr lang="en-US" sz="950" dirty="0"/>
          </a:p>
        </p:txBody>
      </p:sp>
      <p:sp>
        <p:nvSpPr>
          <p:cNvPr id="33" name="Text 31"/>
          <p:cNvSpPr/>
          <p:nvPr/>
        </p:nvSpPr>
        <p:spPr>
          <a:xfrm>
            <a:off x="6291072" y="1828800"/>
            <a:ext cx="228600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Configurable minimum bid step (e.g. +5 credits)</a:t>
            </a:r>
            <a:endParaRPr lang="en-US" sz="950" dirty="0"/>
          </a:p>
        </p:txBody>
      </p:sp>
      <p:sp>
        <p:nvSpPr>
          <p:cNvPr id="34" name="Shape 32"/>
          <p:cNvSpPr/>
          <p:nvPr/>
        </p:nvSpPr>
        <p:spPr>
          <a:xfrm>
            <a:off x="4800600" y="2231136"/>
            <a:ext cx="3520440" cy="9144"/>
          </a:xfrm>
          <a:prstGeom prst="rect">
            <a:avLst/>
          </a:prstGeom>
          <a:solidFill>
            <a:srgbClr val="E2E8F0"/>
          </a:solidFill>
          <a:ln w="12700">
            <a:solidFill>
              <a:srgbClr val="E2E8F0"/>
            </a:solidFill>
            <a:prstDash val="solid"/>
          </a:ln>
        </p:spPr>
        <p:txBody>
          <a:bodyPr/>
          <a:lstStyle/>
          <a:p>
            <a:endParaRPr lang="en-US"/>
          </a:p>
        </p:txBody>
      </p:sp>
      <p:sp>
        <p:nvSpPr>
          <p:cNvPr id="35" name="Text 33"/>
          <p:cNvSpPr/>
          <p:nvPr/>
        </p:nvSpPr>
        <p:spPr>
          <a:xfrm>
            <a:off x="4800600" y="2304288"/>
            <a:ext cx="1463040" cy="420624"/>
          </a:xfrm>
          <a:prstGeom prst="rect">
            <a:avLst/>
          </a:prstGeom>
          <a:noFill/>
          <a:ln/>
        </p:spPr>
        <p:txBody>
          <a:bodyPr wrap="square" lIns="0" tIns="0" rIns="0" bIns="0" rtlCol="0" anchor="t"/>
          <a:lstStyle/>
          <a:p>
            <a:pPr marL="0" indent="0" algn="l">
              <a:buNone/>
            </a:pPr>
            <a:r>
              <a:rPr lang="en-US" sz="950" b="1" dirty="0">
                <a:solidFill>
                  <a:srgbClr val="0891B2"/>
                </a:solidFill>
                <a:latin typeface="Calibri" pitchFamily="34" charset="0"/>
                <a:ea typeface="Calibri" pitchFamily="34" charset="-122"/>
                <a:cs typeface="Calibri" pitchFamily="34" charset="-120"/>
              </a:rPr>
              <a:t>Timer Countdown</a:t>
            </a:r>
            <a:endParaRPr lang="en-US" sz="950" dirty="0"/>
          </a:p>
        </p:txBody>
      </p:sp>
      <p:sp>
        <p:nvSpPr>
          <p:cNvPr id="36" name="Text 34"/>
          <p:cNvSpPr/>
          <p:nvPr/>
        </p:nvSpPr>
        <p:spPr>
          <a:xfrm>
            <a:off x="6291072" y="2304288"/>
            <a:ext cx="228600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Admin-controlled auction clock per participant</a:t>
            </a:r>
            <a:endParaRPr lang="en-US" sz="950" dirty="0"/>
          </a:p>
        </p:txBody>
      </p:sp>
      <p:sp>
        <p:nvSpPr>
          <p:cNvPr id="37" name="Shape 35"/>
          <p:cNvSpPr/>
          <p:nvPr/>
        </p:nvSpPr>
        <p:spPr>
          <a:xfrm>
            <a:off x="4800600" y="2706624"/>
            <a:ext cx="3520440" cy="9144"/>
          </a:xfrm>
          <a:prstGeom prst="rect">
            <a:avLst/>
          </a:prstGeom>
          <a:solidFill>
            <a:srgbClr val="E2E8F0"/>
          </a:solidFill>
          <a:ln w="12700">
            <a:solidFill>
              <a:srgbClr val="E2E8F0"/>
            </a:solidFill>
            <a:prstDash val="solid"/>
          </a:ln>
        </p:spPr>
        <p:txBody>
          <a:bodyPr/>
          <a:lstStyle/>
          <a:p>
            <a:endParaRPr lang="en-US"/>
          </a:p>
        </p:txBody>
      </p:sp>
      <p:sp>
        <p:nvSpPr>
          <p:cNvPr id="38" name="Text 36"/>
          <p:cNvSpPr/>
          <p:nvPr/>
        </p:nvSpPr>
        <p:spPr>
          <a:xfrm>
            <a:off x="4800600" y="2779776"/>
            <a:ext cx="1463040" cy="420624"/>
          </a:xfrm>
          <a:prstGeom prst="rect">
            <a:avLst/>
          </a:prstGeom>
          <a:noFill/>
          <a:ln/>
        </p:spPr>
        <p:txBody>
          <a:bodyPr wrap="square" lIns="0" tIns="0" rIns="0" bIns="0" rtlCol="0" anchor="t"/>
          <a:lstStyle/>
          <a:p>
            <a:pPr marL="0" indent="0" algn="l">
              <a:buNone/>
            </a:pPr>
            <a:r>
              <a:rPr lang="en-US" sz="950" b="1" dirty="0">
                <a:solidFill>
                  <a:srgbClr val="0891B2"/>
                </a:solidFill>
                <a:latin typeface="Calibri" pitchFamily="34" charset="0"/>
                <a:ea typeface="Calibri" pitchFamily="34" charset="-122"/>
                <a:cs typeface="Calibri" pitchFamily="34" charset="-120"/>
              </a:rPr>
              <a:t>Pause / Resume</a:t>
            </a:r>
            <a:endParaRPr lang="en-US" sz="950" dirty="0"/>
          </a:p>
        </p:txBody>
      </p:sp>
      <p:sp>
        <p:nvSpPr>
          <p:cNvPr id="39" name="Text 37"/>
          <p:cNvSpPr/>
          <p:nvPr/>
        </p:nvSpPr>
        <p:spPr>
          <a:xfrm>
            <a:off x="6291072" y="2779776"/>
            <a:ext cx="228600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Admin can pause the entire auction at any point</a:t>
            </a:r>
            <a:endParaRPr lang="en-US" sz="950" dirty="0"/>
          </a:p>
        </p:txBody>
      </p:sp>
      <p:sp>
        <p:nvSpPr>
          <p:cNvPr id="40" name="Shape 38"/>
          <p:cNvSpPr/>
          <p:nvPr/>
        </p:nvSpPr>
        <p:spPr>
          <a:xfrm>
            <a:off x="4800600" y="3182112"/>
            <a:ext cx="3520440" cy="9144"/>
          </a:xfrm>
          <a:prstGeom prst="rect">
            <a:avLst/>
          </a:prstGeom>
          <a:solidFill>
            <a:srgbClr val="E2E8F0"/>
          </a:solidFill>
          <a:ln w="12700">
            <a:solidFill>
              <a:srgbClr val="E2E8F0"/>
            </a:solidFill>
            <a:prstDash val="solid"/>
          </a:ln>
        </p:spPr>
        <p:txBody>
          <a:bodyPr/>
          <a:lstStyle/>
          <a:p>
            <a:endParaRPr lang="en-US"/>
          </a:p>
        </p:txBody>
      </p:sp>
      <p:sp>
        <p:nvSpPr>
          <p:cNvPr id="41" name="Text 39"/>
          <p:cNvSpPr/>
          <p:nvPr/>
        </p:nvSpPr>
        <p:spPr>
          <a:xfrm>
            <a:off x="4800600" y="3255264"/>
            <a:ext cx="1463040" cy="420624"/>
          </a:xfrm>
          <a:prstGeom prst="rect">
            <a:avLst/>
          </a:prstGeom>
          <a:noFill/>
          <a:ln/>
        </p:spPr>
        <p:txBody>
          <a:bodyPr wrap="square" lIns="0" tIns="0" rIns="0" bIns="0" rtlCol="0" anchor="t"/>
          <a:lstStyle/>
          <a:p>
            <a:pPr marL="0" indent="0" algn="l">
              <a:buNone/>
            </a:pPr>
            <a:r>
              <a:rPr lang="en-US" sz="950" b="1" dirty="0">
                <a:solidFill>
                  <a:srgbClr val="0891B2"/>
                </a:solidFill>
                <a:latin typeface="Calibri" pitchFamily="34" charset="0"/>
                <a:ea typeface="Calibri" pitchFamily="34" charset="-122"/>
                <a:cs typeface="Calibri" pitchFamily="34" charset="-120"/>
              </a:rPr>
              <a:t>Extend Timer</a:t>
            </a:r>
            <a:endParaRPr lang="en-US" sz="950" dirty="0"/>
          </a:p>
        </p:txBody>
      </p:sp>
      <p:sp>
        <p:nvSpPr>
          <p:cNvPr id="42" name="Text 40"/>
          <p:cNvSpPr/>
          <p:nvPr/>
        </p:nvSpPr>
        <p:spPr>
          <a:xfrm>
            <a:off x="6291072" y="3255264"/>
            <a:ext cx="228600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Admin can extend time for active participant</a:t>
            </a:r>
            <a:endParaRPr lang="en-US" sz="950" dirty="0"/>
          </a:p>
        </p:txBody>
      </p:sp>
      <p:sp>
        <p:nvSpPr>
          <p:cNvPr id="43" name="Shape 41"/>
          <p:cNvSpPr/>
          <p:nvPr/>
        </p:nvSpPr>
        <p:spPr>
          <a:xfrm>
            <a:off x="4800600" y="3657600"/>
            <a:ext cx="3520440" cy="9144"/>
          </a:xfrm>
          <a:prstGeom prst="rect">
            <a:avLst/>
          </a:prstGeom>
          <a:solidFill>
            <a:srgbClr val="E2E8F0"/>
          </a:solidFill>
          <a:ln w="12700">
            <a:solidFill>
              <a:srgbClr val="E2E8F0"/>
            </a:solidFill>
            <a:prstDash val="solid"/>
          </a:ln>
        </p:spPr>
        <p:txBody>
          <a:bodyPr/>
          <a:lstStyle/>
          <a:p>
            <a:endParaRPr lang="en-US"/>
          </a:p>
        </p:txBody>
      </p:sp>
      <p:sp>
        <p:nvSpPr>
          <p:cNvPr id="44" name="Text 42"/>
          <p:cNvSpPr/>
          <p:nvPr/>
        </p:nvSpPr>
        <p:spPr>
          <a:xfrm>
            <a:off x="4800600" y="3730752"/>
            <a:ext cx="1463040" cy="420624"/>
          </a:xfrm>
          <a:prstGeom prst="rect">
            <a:avLst/>
          </a:prstGeom>
          <a:noFill/>
          <a:ln/>
        </p:spPr>
        <p:txBody>
          <a:bodyPr wrap="square" lIns="0" tIns="0" rIns="0" bIns="0" rtlCol="0" anchor="t"/>
          <a:lstStyle/>
          <a:p>
            <a:pPr marL="0" indent="0" algn="l">
              <a:buNone/>
            </a:pPr>
            <a:r>
              <a:rPr lang="en-US" sz="950" b="1" dirty="0">
                <a:solidFill>
                  <a:srgbClr val="0891B2"/>
                </a:solidFill>
                <a:latin typeface="Calibri" pitchFamily="34" charset="0"/>
                <a:ea typeface="Calibri" pitchFamily="34" charset="-122"/>
                <a:cs typeface="Calibri" pitchFamily="34" charset="-120"/>
              </a:rPr>
              <a:t>Mark Unsold</a:t>
            </a:r>
            <a:endParaRPr lang="en-US" sz="950" dirty="0"/>
          </a:p>
        </p:txBody>
      </p:sp>
      <p:sp>
        <p:nvSpPr>
          <p:cNvPr id="45" name="Text 43"/>
          <p:cNvSpPr/>
          <p:nvPr/>
        </p:nvSpPr>
        <p:spPr>
          <a:xfrm>
            <a:off x="6291072" y="3730752"/>
            <a:ext cx="228600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Admin marks participant unsold if no bids placed</a:t>
            </a:r>
            <a:endParaRPr lang="en-US" sz="950" dirty="0"/>
          </a:p>
        </p:txBody>
      </p:sp>
      <p:sp>
        <p:nvSpPr>
          <p:cNvPr id="46" name="Shape 44"/>
          <p:cNvSpPr/>
          <p:nvPr/>
        </p:nvSpPr>
        <p:spPr>
          <a:xfrm>
            <a:off x="4800600" y="4133088"/>
            <a:ext cx="3520440" cy="9144"/>
          </a:xfrm>
          <a:prstGeom prst="rect">
            <a:avLst/>
          </a:prstGeom>
          <a:solidFill>
            <a:srgbClr val="E2E8F0"/>
          </a:solidFill>
          <a:ln w="12700">
            <a:solidFill>
              <a:srgbClr val="E2E8F0"/>
            </a:solidFill>
            <a:prstDash val="solid"/>
          </a:ln>
        </p:spPr>
        <p:txBody>
          <a:bodyPr/>
          <a:lstStyle/>
          <a:p>
            <a:endParaRPr lang="en-US"/>
          </a:p>
        </p:txBody>
      </p:sp>
      <p:sp>
        <p:nvSpPr>
          <p:cNvPr id="47" name="Text 45"/>
          <p:cNvSpPr/>
          <p:nvPr/>
        </p:nvSpPr>
        <p:spPr>
          <a:xfrm>
            <a:off x="4800600" y="4206240"/>
            <a:ext cx="1463040" cy="420624"/>
          </a:xfrm>
          <a:prstGeom prst="rect">
            <a:avLst/>
          </a:prstGeom>
          <a:noFill/>
          <a:ln/>
        </p:spPr>
        <p:txBody>
          <a:bodyPr wrap="square" lIns="0" tIns="0" rIns="0" bIns="0" rtlCol="0" anchor="t"/>
          <a:lstStyle/>
          <a:p>
            <a:pPr marL="0" indent="0" algn="l">
              <a:buNone/>
            </a:pPr>
            <a:r>
              <a:rPr lang="en-US" sz="950" b="1" dirty="0">
                <a:solidFill>
                  <a:srgbClr val="0891B2"/>
                </a:solidFill>
                <a:latin typeface="Calibri" pitchFamily="34" charset="0"/>
                <a:ea typeface="Calibri" pitchFamily="34" charset="-122"/>
                <a:cs typeface="Calibri" pitchFamily="34" charset="-120"/>
              </a:rPr>
              <a:t>Re-Auction</a:t>
            </a:r>
            <a:endParaRPr lang="en-US" sz="950" dirty="0"/>
          </a:p>
        </p:txBody>
      </p:sp>
      <p:sp>
        <p:nvSpPr>
          <p:cNvPr id="48" name="Text 46"/>
          <p:cNvSpPr/>
          <p:nvPr/>
        </p:nvSpPr>
        <p:spPr>
          <a:xfrm>
            <a:off x="6291072" y="4206240"/>
            <a:ext cx="228600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Admin can return a participant to the pool</a:t>
            </a:r>
            <a:endParaRPr lang="en-US" sz="950" dirty="0"/>
          </a:p>
        </p:txBody>
      </p:sp>
      <p:sp>
        <p:nvSpPr>
          <p:cNvPr id="49" name="Shape 47"/>
          <p:cNvSpPr/>
          <p:nvPr/>
        </p:nvSpPr>
        <p:spPr>
          <a:xfrm>
            <a:off x="4800600" y="4608576"/>
            <a:ext cx="3520440" cy="9144"/>
          </a:xfrm>
          <a:prstGeom prst="rect">
            <a:avLst/>
          </a:prstGeom>
          <a:solidFill>
            <a:srgbClr val="E2E8F0"/>
          </a:solidFill>
          <a:ln w="12700">
            <a:solidFill>
              <a:srgbClr val="E2E8F0"/>
            </a:solidFill>
            <a:prstDash val="solid"/>
          </a:ln>
        </p:spPr>
        <p:txBody>
          <a:bodyPr/>
          <a:lstStyle/>
          <a:p>
            <a:endParaRPr lang="en-US"/>
          </a:p>
        </p:txBody>
      </p:sp>
      <p:sp>
        <p:nvSpPr>
          <p:cNvPr id="50" name="Text 48"/>
          <p:cNvSpPr/>
          <p:nvPr/>
        </p:nvSpPr>
        <p:spPr>
          <a:xfrm>
            <a:off x="4800600" y="4681728"/>
            <a:ext cx="1463040" cy="420624"/>
          </a:xfrm>
          <a:prstGeom prst="rect">
            <a:avLst/>
          </a:prstGeom>
          <a:noFill/>
          <a:ln/>
        </p:spPr>
        <p:txBody>
          <a:bodyPr wrap="square" lIns="0" tIns="0" rIns="0" bIns="0" rtlCol="0" anchor="t"/>
          <a:lstStyle/>
          <a:p>
            <a:pPr marL="0" indent="0" algn="l">
              <a:buNone/>
            </a:pPr>
            <a:r>
              <a:rPr lang="en-US" sz="950" b="1" dirty="0">
                <a:solidFill>
                  <a:srgbClr val="0891B2"/>
                </a:solidFill>
                <a:latin typeface="Calibri" pitchFamily="34" charset="0"/>
                <a:ea typeface="Calibri" pitchFamily="34" charset="-122"/>
                <a:cs typeface="Calibri" pitchFamily="34" charset="-120"/>
              </a:rPr>
              <a:t>Toast Notifications</a:t>
            </a:r>
            <a:endParaRPr lang="en-US" sz="950" dirty="0"/>
          </a:p>
        </p:txBody>
      </p:sp>
      <p:sp>
        <p:nvSpPr>
          <p:cNvPr id="51" name="Text 49"/>
          <p:cNvSpPr/>
          <p:nvPr/>
        </p:nvSpPr>
        <p:spPr>
          <a:xfrm>
            <a:off x="6291072" y="4681728"/>
            <a:ext cx="2286000" cy="420624"/>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Sold/unsold result shown to all roles instantly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TECHNICAL ARCHITECTURE</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System Architecture</a:t>
            </a:r>
            <a:endParaRPr lang="en-US" sz="2600" dirty="0"/>
          </a:p>
        </p:txBody>
      </p:sp>
      <p:sp>
        <p:nvSpPr>
          <p:cNvPr id="4" name="Shape 2"/>
          <p:cNvSpPr/>
          <p:nvPr/>
        </p:nvSpPr>
        <p:spPr>
          <a:xfrm>
            <a:off x="457200" y="749808"/>
            <a:ext cx="8229600" cy="18288"/>
          </a:xfrm>
          <a:prstGeom prst="rect">
            <a:avLst/>
          </a:prstGeom>
          <a:solidFill>
            <a:srgbClr val="1E3A5E"/>
          </a:solidFill>
          <a:ln w="12700">
            <a:solidFill>
              <a:srgbClr val="1E3A5E"/>
            </a:solidFill>
            <a:prstDash val="solid"/>
          </a:ln>
        </p:spPr>
        <p:txBody>
          <a:bodyPr/>
          <a:lstStyle/>
          <a:p>
            <a:endParaRPr lang="en-US"/>
          </a:p>
        </p:txBody>
      </p:sp>
      <p:sp>
        <p:nvSpPr>
          <p:cNvPr id="5" name="Shape 3"/>
          <p:cNvSpPr/>
          <p:nvPr/>
        </p:nvSpPr>
        <p:spPr>
          <a:xfrm>
            <a:off x="2743200" y="914400"/>
            <a:ext cx="3657600" cy="731520"/>
          </a:xfrm>
          <a:prstGeom prst="roundRect">
            <a:avLst>
              <a:gd name="adj" fmla="val 12500"/>
            </a:avLst>
          </a:prstGeom>
          <a:solidFill>
            <a:srgbClr val="1E3A8A"/>
          </a:solidFill>
          <a:ln w="12700">
            <a:solidFill>
              <a:srgbClr val="2563EB"/>
            </a:solidFill>
            <a:prstDash val="solid"/>
          </a:ln>
        </p:spPr>
        <p:txBody>
          <a:bodyPr/>
          <a:lstStyle/>
          <a:p>
            <a:endParaRPr lang="en-US"/>
          </a:p>
        </p:txBody>
      </p:sp>
      <p:sp>
        <p:nvSpPr>
          <p:cNvPr id="6" name="Text 4"/>
          <p:cNvSpPr/>
          <p:nvPr/>
        </p:nvSpPr>
        <p:spPr>
          <a:xfrm>
            <a:off x="2743200" y="914400"/>
            <a:ext cx="36576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  Browser — React 19 SPA</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Vite 6  ·  MUI 6  ·  React Router 7  ·  socket.io-client</a:t>
            </a:r>
            <a:endParaRPr lang="en-US" sz="1000" dirty="0"/>
          </a:p>
        </p:txBody>
      </p:sp>
      <p:sp>
        <p:nvSpPr>
          <p:cNvPr id="7" name="Text 5"/>
          <p:cNvSpPr/>
          <p:nvPr/>
        </p:nvSpPr>
        <p:spPr>
          <a:xfrm>
            <a:off x="548640" y="1691640"/>
            <a:ext cx="3474720" cy="274320"/>
          </a:xfrm>
          <a:prstGeom prst="rect">
            <a:avLst/>
          </a:prstGeom>
          <a:noFill/>
          <a:ln/>
        </p:spPr>
        <p:txBody>
          <a:bodyPr wrap="square" lIns="0" tIns="0" rIns="0" bIns="0" rtlCol="0" anchor="ctr"/>
          <a:lstStyle/>
          <a:p>
            <a:pPr marL="0" indent="0" algn="ctr">
              <a:buNone/>
            </a:pPr>
            <a:r>
              <a:rPr lang="en-US" sz="900" dirty="0">
                <a:solidFill>
                  <a:srgbClr val="F0A030"/>
                </a:solidFill>
                <a:latin typeface="Calibri" pitchFamily="34" charset="0"/>
                <a:ea typeface="Calibri" pitchFamily="34" charset="-122"/>
                <a:cs typeface="Calibri" pitchFamily="34" charset="-120"/>
              </a:rPr>
              <a:t>HTTPS REST /api/v1, /api/v2</a:t>
            </a:r>
            <a:endParaRPr lang="en-US" sz="900" dirty="0"/>
          </a:p>
        </p:txBody>
      </p:sp>
      <p:sp>
        <p:nvSpPr>
          <p:cNvPr id="8" name="Text 6"/>
          <p:cNvSpPr/>
          <p:nvPr/>
        </p:nvSpPr>
        <p:spPr>
          <a:xfrm>
            <a:off x="5120640" y="1691640"/>
            <a:ext cx="3474720" cy="274320"/>
          </a:xfrm>
          <a:prstGeom prst="rect">
            <a:avLst/>
          </a:prstGeom>
          <a:noFill/>
          <a:ln/>
        </p:spPr>
        <p:txBody>
          <a:bodyPr wrap="square" lIns="0" tIns="0" rIns="0" bIns="0" rtlCol="0" anchor="ctr"/>
          <a:lstStyle/>
          <a:p>
            <a:pPr marL="0" indent="0" algn="ctr">
              <a:buNone/>
            </a:pPr>
            <a:r>
              <a:rPr lang="en-US" sz="900" dirty="0">
                <a:solidFill>
                  <a:srgbClr val="7DD3FC"/>
                </a:solidFill>
                <a:latin typeface="Calibri" pitchFamily="34" charset="0"/>
                <a:ea typeface="Calibri" pitchFamily="34" charset="-122"/>
                <a:cs typeface="Calibri" pitchFamily="34" charset="-120"/>
              </a:rPr>
              <a:t>WebSocket (Socket.IO)</a:t>
            </a:r>
            <a:endParaRPr lang="en-US" sz="900" dirty="0"/>
          </a:p>
        </p:txBody>
      </p:sp>
      <p:sp>
        <p:nvSpPr>
          <p:cNvPr id="9" name="Shape 7"/>
          <p:cNvSpPr/>
          <p:nvPr/>
        </p:nvSpPr>
        <p:spPr>
          <a:xfrm>
            <a:off x="4572000" y="1664208"/>
            <a:ext cx="0" cy="457200"/>
          </a:xfrm>
          <a:prstGeom prst="line">
            <a:avLst/>
          </a:prstGeom>
          <a:noFill/>
          <a:ln w="12700">
            <a:solidFill>
              <a:srgbClr val="334155"/>
            </a:solidFill>
            <a:prstDash val="dash"/>
          </a:ln>
        </p:spPr>
        <p:txBody>
          <a:bodyPr/>
          <a:lstStyle/>
          <a:p>
            <a:endParaRPr lang="en-US"/>
          </a:p>
        </p:txBody>
      </p:sp>
      <p:sp>
        <p:nvSpPr>
          <p:cNvPr id="10" name="Shape 8"/>
          <p:cNvSpPr/>
          <p:nvPr/>
        </p:nvSpPr>
        <p:spPr>
          <a:xfrm>
            <a:off x="1371600" y="2011680"/>
            <a:ext cx="6400800" cy="914400"/>
          </a:xfrm>
          <a:prstGeom prst="roundRect">
            <a:avLst>
              <a:gd name="adj" fmla="val 10000"/>
            </a:avLst>
          </a:prstGeom>
          <a:solidFill>
            <a:srgbClr val="0F2A50"/>
          </a:solidFill>
          <a:ln w="12700">
            <a:solidFill>
              <a:srgbClr val="1D4ED8"/>
            </a:solidFill>
            <a:prstDash val="solid"/>
          </a:ln>
        </p:spPr>
        <p:txBody>
          <a:bodyPr/>
          <a:lstStyle/>
          <a:p>
            <a:endParaRPr lang="en-US"/>
          </a:p>
        </p:txBody>
      </p:sp>
      <p:sp>
        <p:nvSpPr>
          <p:cNvPr id="11" name="Text 9"/>
          <p:cNvSpPr/>
          <p:nvPr/>
        </p:nvSpPr>
        <p:spPr>
          <a:xfrm>
            <a:off x="1371600" y="2011680"/>
            <a:ext cx="64008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Node.js + Express 4 API Server
</a:t>
            </a:r>
            <a:endParaRPr lang="en-US" sz="1100" dirty="0"/>
          </a:p>
        </p:txBody>
      </p:sp>
      <p:sp>
        <p:nvSpPr>
          <p:cNvPr id="12" name="Text 10"/>
          <p:cNvSpPr/>
          <p:nvPr/>
        </p:nvSpPr>
        <p:spPr>
          <a:xfrm>
            <a:off x="1371600" y="2340864"/>
            <a:ext cx="6400800" cy="512064"/>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JWT Auth Middleware  ·  Role Guards  ·  Zod Validation  ·  Socket.IO 4 Server  ·  Sequelize 6 ORM  ·  16+ Controllers</a:t>
            </a:r>
            <a:endParaRPr lang="en-US" sz="900" dirty="0"/>
          </a:p>
        </p:txBody>
      </p:sp>
      <p:sp>
        <p:nvSpPr>
          <p:cNvPr id="13" name="Shape 11"/>
          <p:cNvSpPr/>
          <p:nvPr/>
        </p:nvSpPr>
        <p:spPr>
          <a:xfrm>
            <a:off x="4572000" y="2944368"/>
            <a:ext cx="0" cy="457200"/>
          </a:xfrm>
          <a:prstGeom prst="line">
            <a:avLst/>
          </a:prstGeom>
          <a:noFill/>
          <a:ln w="12700">
            <a:solidFill>
              <a:srgbClr val="334155"/>
            </a:solidFill>
            <a:prstDash val="dash"/>
          </a:ln>
        </p:spPr>
        <p:txBody>
          <a:bodyPr/>
          <a:lstStyle/>
          <a:p>
            <a:endParaRPr lang="en-US"/>
          </a:p>
        </p:txBody>
      </p:sp>
      <p:sp>
        <p:nvSpPr>
          <p:cNvPr id="14" name="Text 12"/>
          <p:cNvSpPr/>
          <p:nvPr/>
        </p:nvSpPr>
        <p:spPr>
          <a:xfrm>
            <a:off x="4663440" y="2971800"/>
            <a:ext cx="2286000" cy="228600"/>
          </a:xfrm>
          <a:prstGeom prst="rect">
            <a:avLst/>
          </a:prstGeom>
          <a:noFill/>
          <a:ln/>
        </p:spPr>
        <p:txBody>
          <a:bodyPr wrap="square" lIns="0" tIns="0" rIns="0" bIns="0" rtlCol="0" anchor="ctr"/>
          <a:lstStyle/>
          <a:p>
            <a:pPr marL="0" indent="0">
              <a:buNone/>
            </a:pPr>
            <a:r>
              <a:rPr lang="en-US" sz="800" dirty="0">
                <a:solidFill>
                  <a:srgbClr val="F0A030"/>
                </a:solidFill>
                <a:latin typeface="Calibri" pitchFamily="34" charset="0"/>
                <a:ea typeface="Calibri" pitchFamily="34" charset="-122"/>
                <a:cs typeface="Calibri" pitchFamily="34" charset="-120"/>
              </a:rPr>
              <a:t>Sequelize ORM queries</a:t>
            </a:r>
            <a:endParaRPr lang="en-US" sz="800" dirty="0"/>
          </a:p>
        </p:txBody>
      </p:sp>
      <p:sp>
        <p:nvSpPr>
          <p:cNvPr id="15" name="Shape 13"/>
          <p:cNvSpPr/>
          <p:nvPr/>
        </p:nvSpPr>
        <p:spPr>
          <a:xfrm>
            <a:off x="2743200" y="3401568"/>
            <a:ext cx="3657600" cy="658368"/>
          </a:xfrm>
          <a:prstGeom prst="roundRect">
            <a:avLst>
              <a:gd name="adj" fmla="val 13889"/>
            </a:avLst>
          </a:prstGeom>
          <a:solidFill>
            <a:srgbClr val="064E3B"/>
          </a:solidFill>
          <a:ln w="12700">
            <a:solidFill>
              <a:srgbClr val="059669"/>
            </a:solidFill>
            <a:prstDash val="solid"/>
          </a:ln>
        </p:spPr>
        <p:txBody>
          <a:bodyPr/>
          <a:lstStyle/>
          <a:p>
            <a:endParaRPr lang="en-US"/>
          </a:p>
        </p:txBody>
      </p:sp>
      <p:sp>
        <p:nvSpPr>
          <p:cNvPr id="16" name="Text 14"/>
          <p:cNvSpPr/>
          <p:nvPr/>
        </p:nvSpPr>
        <p:spPr>
          <a:xfrm>
            <a:off x="2743200" y="3401568"/>
            <a:ext cx="3657600" cy="65836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  MySQL / TiDB Database</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35+ Sequelize models  ·  Migrations  ·  Foreign keys  ·  Transactions</a:t>
            </a:r>
            <a:endParaRPr lang="en-US" sz="950" dirty="0"/>
          </a:p>
        </p:txBody>
      </p:sp>
      <p:sp>
        <p:nvSpPr>
          <p:cNvPr id="17" name="Shape 15"/>
          <p:cNvSpPr/>
          <p:nvPr/>
        </p:nvSpPr>
        <p:spPr>
          <a:xfrm>
            <a:off x="6858000" y="2606040"/>
            <a:ext cx="2011680" cy="594360"/>
          </a:xfrm>
          <a:prstGeom prst="roundRect">
            <a:avLst>
              <a:gd name="adj" fmla="val 15385"/>
            </a:avLst>
          </a:prstGeom>
          <a:solidFill>
            <a:srgbClr val="1C1C3E"/>
          </a:solidFill>
          <a:ln w="12700">
            <a:solidFill>
              <a:srgbClr val="7C3AED"/>
            </a:solidFill>
            <a:prstDash val="solid"/>
          </a:ln>
        </p:spPr>
        <p:txBody>
          <a:bodyPr/>
          <a:lstStyle/>
          <a:p>
            <a:endParaRPr lang="en-US"/>
          </a:p>
        </p:txBody>
      </p:sp>
      <p:sp>
        <p:nvSpPr>
          <p:cNvPr id="18" name="Text 16"/>
          <p:cNvSpPr/>
          <p:nvPr/>
        </p:nvSpPr>
        <p:spPr>
          <a:xfrm>
            <a:off x="6858000" y="2606040"/>
            <a:ext cx="2011680" cy="594360"/>
          </a:xfrm>
          <a:prstGeom prst="rect">
            <a:avLst/>
          </a:prstGeom>
          <a:noFill/>
          <a:ln/>
        </p:spPr>
        <p:txBody>
          <a:bodyPr wrap="square" lIns="0" tIns="0" rIns="0" bIns="0" rtlCol="0" anchor="ctr"/>
          <a:lstStyle/>
          <a:p>
            <a:pPr marL="0" indent="0" algn="ctr">
              <a:buNone/>
            </a:pPr>
            <a:r>
              <a:rPr lang="en-US" sz="900" dirty="0">
                <a:solidFill>
                  <a:srgbClr val="C4B5FD"/>
                </a:solidFill>
                <a:latin typeface="Calibri" pitchFamily="34" charset="0"/>
                <a:ea typeface="Calibri" pitchFamily="34" charset="-122"/>
                <a:cs typeface="Calibri" pitchFamily="34" charset="-120"/>
              </a:rPr>
              <a:t>📧 Email</a:t>
            </a:r>
            <a:endParaRPr lang="en-US" sz="900" dirty="0"/>
          </a:p>
          <a:p>
            <a:pPr marL="0" indent="0" algn="ctr">
              <a:buNone/>
            </a:pPr>
            <a:r>
              <a:rPr lang="en-US" sz="900" dirty="0">
                <a:solidFill>
                  <a:srgbClr val="C4B5FD"/>
                </a:solidFill>
                <a:latin typeface="Calibri" pitchFamily="34" charset="0"/>
                <a:ea typeface="Calibri" pitchFamily="34" charset="-122"/>
                <a:cs typeface="Calibri" pitchFamily="34" charset="-120"/>
              </a:rPr>
              <a:t>Nodemailer / SMTP</a:t>
            </a:r>
            <a:endParaRPr lang="en-US" sz="900" dirty="0"/>
          </a:p>
        </p:txBody>
      </p:sp>
      <p:sp>
        <p:nvSpPr>
          <p:cNvPr id="19" name="Shape 17"/>
          <p:cNvSpPr/>
          <p:nvPr/>
        </p:nvSpPr>
        <p:spPr>
          <a:xfrm>
            <a:off x="7772400" y="2944368"/>
            <a:ext cx="0" cy="0"/>
          </a:xfrm>
          <a:prstGeom prst="line">
            <a:avLst/>
          </a:prstGeom>
          <a:noFill/>
          <a:ln w="12700">
            <a:solidFill>
              <a:srgbClr val="334155"/>
            </a:solidFill>
            <a:prstDash val="solid"/>
          </a:ln>
        </p:spPr>
        <p:txBody>
          <a:bodyPr/>
          <a:lstStyle/>
          <a:p>
            <a:endParaRPr lang="en-US"/>
          </a:p>
        </p:txBody>
      </p:sp>
      <p:sp>
        <p:nvSpPr>
          <p:cNvPr id="20" name="Shape 18"/>
          <p:cNvSpPr/>
          <p:nvPr/>
        </p:nvSpPr>
        <p:spPr>
          <a:xfrm>
            <a:off x="457200" y="4434840"/>
            <a:ext cx="3931920" cy="548640"/>
          </a:xfrm>
          <a:prstGeom prst="roundRect">
            <a:avLst>
              <a:gd name="adj" fmla="val 16667"/>
            </a:avLst>
          </a:prstGeom>
          <a:solidFill>
            <a:srgbClr val="0A1628"/>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1" name="Text 19"/>
          <p:cNvSpPr/>
          <p:nvPr/>
        </p:nvSpPr>
        <p:spPr>
          <a:xfrm>
            <a:off x="457200" y="4434840"/>
            <a:ext cx="3931920" cy="548640"/>
          </a:xfrm>
          <a:prstGeom prst="rect">
            <a:avLst/>
          </a:prstGeom>
          <a:noFill/>
          <a:ln/>
        </p:spPr>
        <p:txBody>
          <a:bodyPr wrap="square" lIns="0" tIns="0" rIns="0" bIns="0" rtlCol="0" anchor="ctr"/>
          <a:lstStyle/>
          <a:p>
            <a:pPr marL="0" indent="0" algn="ctr">
              <a:buNone/>
            </a:pPr>
            <a:r>
              <a:rPr lang="en-US" sz="1000" dirty="0">
                <a:solidFill>
                  <a:srgbClr val="60A5FA"/>
                </a:solidFill>
                <a:latin typeface="Calibri" pitchFamily="34" charset="0"/>
                <a:ea typeface="Calibri" pitchFamily="34" charset="-122"/>
                <a:cs typeface="Calibri" pitchFamily="34" charset="-120"/>
              </a:rPr>
              <a:t>Frontend → Vercel (static CDN)</a:t>
            </a:r>
            <a:endParaRPr lang="en-US" sz="1000" dirty="0"/>
          </a:p>
        </p:txBody>
      </p:sp>
      <p:sp>
        <p:nvSpPr>
          <p:cNvPr id="22" name="Shape 20"/>
          <p:cNvSpPr/>
          <p:nvPr/>
        </p:nvSpPr>
        <p:spPr>
          <a:xfrm>
            <a:off x="4663440" y="4434840"/>
            <a:ext cx="4023360" cy="548640"/>
          </a:xfrm>
          <a:prstGeom prst="roundRect">
            <a:avLst>
              <a:gd name="adj" fmla="val 16667"/>
            </a:avLst>
          </a:prstGeom>
          <a:solidFill>
            <a:srgbClr val="0A1628"/>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3" name="Text 21"/>
          <p:cNvSpPr/>
          <p:nvPr/>
        </p:nvSpPr>
        <p:spPr>
          <a:xfrm>
            <a:off x="4663440" y="4434840"/>
            <a:ext cx="4023360" cy="548640"/>
          </a:xfrm>
          <a:prstGeom prst="rect">
            <a:avLst/>
          </a:prstGeom>
          <a:noFill/>
          <a:ln/>
        </p:spPr>
        <p:txBody>
          <a:bodyPr wrap="square" lIns="0" tIns="0" rIns="0" bIns="0" rtlCol="0" anchor="ctr"/>
          <a:lstStyle/>
          <a:p>
            <a:pPr marL="0" indent="0" algn="ctr">
              <a:buNone/>
            </a:pPr>
            <a:r>
              <a:rPr lang="en-US" sz="1000" dirty="0">
                <a:solidFill>
                  <a:srgbClr val="34D399"/>
                </a:solidFill>
                <a:latin typeface="Calibri" pitchFamily="34" charset="0"/>
                <a:ea typeface="Calibri" pitchFamily="34" charset="-122"/>
                <a:cs typeface="Calibri" pitchFamily="34" charset="-120"/>
              </a:rPr>
              <a:t>Backend → Render (Node.js service)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DATABASE ARCHITECTURE</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Data Model — Key Entity Groups</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2011680" cy="1371600"/>
          </a:xfrm>
          <a:prstGeom prst="roundRect">
            <a:avLst>
              <a:gd name="adj" fmla="val 6667"/>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457200" y="914400"/>
            <a:ext cx="2011680" cy="292608"/>
          </a:xfrm>
          <a:prstGeom prst="roundRect">
            <a:avLst>
              <a:gd name="adj" fmla="val 25000"/>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457200" y="914400"/>
            <a:ext cx="20116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Auth &amp; Users</a:t>
            </a:r>
            <a:endParaRPr lang="en-US" sz="950" dirty="0"/>
          </a:p>
        </p:txBody>
      </p:sp>
      <p:sp>
        <p:nvSpPr>
          <p:cNvPr id="8" name="Text 6"/>
          <p:cNvSpPr/>
          <p:nvPr/>
        </p:nvSpPr>
        <p:spPr>
          <a:xfrm>
            <a:off x="548640" y="1261872"/>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User</a:t>
            </a:r>
            <a:endParaRPr lang="en-US" sz="850" dirty="0"/>
          </a:p>
        </p:txBody>
      </p:sp>
      <p:sp>
        <p:nvSpPr>
          <p:cNvPr id="9" name="Text 7"/>
          <p:cNvSpPr/>
          <p:nvPr/>
        </p:nvSpPr>
        <p:spPr>
          <a:xfrm>
            <a:off x="548640" y="1481328"/>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Employee</a:t>
            </a:r>
            <a:endParaRPr lang="en-US" sz="850" dirty="0"/>
          </a:p>
        </p:txBody>
      </p:sp>
      <p:sp>
        <p:nvSpPr>
          <p:cNvPr id="10" name="Text 8"/>
          <p:cNvSpPr/>
          <p:nvPr/>
        </p:nvSpPr>
        <p:spPr>
          <a:xfrm>
            <a:off x="548640" y="1700784"/>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PasswordResetToken</a:t>
            </a:r>
            <a:endParaRPr lang="en-US" sz="850" dirty="0"/>
          </a:p>
        </p:txBody>
      </p:sp>
      <p:sp>
        <p:nvSpPr>
          <p:cNvPr id="11" name="Shape 9"/>
          <p:cNvSpPr/>
          <p:nvPr/>
        </p:nvSpPr>
        <p:spPr>
          <a:xfrm>
            <a:off x="2651760" y="914400"/>
            <a:ext cx="2011680" cy="1371600"/>
          </a:xfrm>
          <a:prstGeom prst="roundRect">
            <a:avLst>
              <a:gd name="adj" fmla="val 6667"/>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2" name="Shape 10"/>
          <p:cNvSpPr/>
          <p:nvPr/>
        </p:nvSpPr>
        <p:spPr>
          <a:xfrm>
            <a:off x="2651760" y="914400"/>
            <a:ext cx="2011680" cy="292608"/>
          </a:xfrm>
          <a:prstGeom prst="roundRect">
            <a:avLst>
              <a:gd name="adj" fmla="val 25000"/>
            </a:avLst>
          </a:prstGeom>
          <a:solidFill>
            <a:srgbClr val="2563EB"/>
          </a:solidFill>
          <a:ln w="12700">
            <a:solidFill>
              <a:srgbClr val="2563EB"/>
            </a:solidFill>
            <a:prstDash val="solid"/>
          </a:ln>
        </p:spPr>
        <p:txBody>
          <a:bodyPr/>
          <a:lstStyle/>
          <a:p>
            <a:endParaRPr lang="en-US"/>
          </a:p>
        </p:txBody>
      </p:sp>
      <p:sp>
        <p:nvSpPr>
          <p:cNvPr id="13" name="Text 11"/>
          <p:cNvSpPr/>
          <p:nvPr/>
        </p:nvSpPr>
        <p:spPr>
          <a:xfrm>
            <a:off x="2651760" y="914400"/>
            <a:ext cx="20116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Festival System</a:t>
            </a:r>
            <a:endParaRPr lang="en-US" sz="950" dirty="0"/>
          </a:p>
        </p:txBody>
      </p:sp>
      <p:sp>
        <p:nvSpPr>
          <p:cNvPr id="14" name="Text 12"/>
          <p:cNvSpPr/>
          <p:nvPr/>
        </p:nvSpPr>
        <p:spPr>
          <a:xfrm>
            <a:off x="2743200" y="1261872"/>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a:t>
            </a:r>
            <a:endParaRPr lang="en-US" sz="850" dirty="0"/>
          </a:p>
        </p:txBody>
      </p:sp>
      <p:sp>
        <p:nvSpPr>
          <p:cNvPr id="15" name="Text 13"/>
          <p:cNvSpPr/>
          <p:nvPr/>
        </p:nvSpPr>
        <p:spPr>
          <a:xfrm>
            <a:off x="2743200" y="1481328"/>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FestivalTeam</a:t>
            </a:r>
            <a:endParaRPr lang="en-US" sz="850" dirty="0"/>
          </a:p>
        </p:txBody>
      </p:sp>
      <p:sp>
        <p:nvSpPr>
          <p:cNvPr id="16" name="Text 14"/>
          <p:cNvSpPr/>
          <p:nvPr/>
        </p:nvSpPr>
        <p:spPr>
          <a:xfrm>
            <a:off x="2743200" y="1700784"/>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FestivalParticipant</a:t>
            </a:r>
            <a:endParaRPr lang="en-US" sz="850" dirty="0"/>
          </a:p>
        </p:txBody>
      </p:sp>
      <p:sp>
        <p:nvSpPr>
          <p:cNvPr id="17" name="Text 15"/>
          <p:cNvSpPr/>
          <p:nvPr/>
        </p:nvSpPr>
        <p:spPr>
          <a:xfrm>
            <a:off x="2743200" y="1920240"/>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FestivalTeamOwner</a:t>
            </a:r>
            <a:endParaRPr lang="en-US" sz="850" dirty="0"/>
          </a:p>
        </p:txBody>
      </p:sp>
      <p:sp>
        <p:nvSpPr>
          <p:cNvPr id="18" name="Text 16"/>
          <p:cNvSpPr/>
          <p:nvPr/>
        </p:nvSpPr>
        <p:spPr>
          <a:xfrm>
            <a:off x="2743200" y="2139696"/>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FestivalOperationAudit</a:t>
            </a:r>
            <a:endParaRPr lang="en-US" sz="850" dirty="0"/>
          </a:p>
        </p:txBody>
      </p:sp>
      <p:sp>
        <p:nvSpPr>
          <p:cNvPr id="19" name="Shape 17"/>
          <p:cNvSpPr/>
          <p:nvPr/>
        </p:nvSpPr>
        <p:spPr>
          <a:xfrm>
            <a:off x="4846320" y="914400"/>
            <a:ext cx="2011680" cy="1371600"/>
          </a:xfrm>
          <a:prstGeom prst="roundRect">
            <a:avLst>
              <a:gd name="adj" fmla="val 6667"/>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0" name="Shape 18"/>
          <p:cNvSpPr/>
          <p:nvPr/>
        </p:nvSpPr>
        <p:spPr>
          <a:xfrm>
            <a:off x="4846320" y="914400"/>
            <a:ext cx="2011680" cy="292608"/>
          </a:xfrm>
          <a:prstGeom prst="roundRect">
            <a:avLst>
              <a:gd name="adj" fmla="val 25000"/>
            </a:avLst>
          </a:prstGeom>
          <a:solidFill>
            <a:srgbClr val="EA580C"/>
          </a:solidFill>
          <a:ln w="12700">
            <a:solidFill>
              <a:srgbClr val="EA580C"/>
            </a:solidFill>
            <a:prstDash val="solid"/>
          </a:ln>
        </p:spPr>
        <p:txBody>
          <a:bodyPr/>
          <a:lstStyle/>
          <a:p>
            <a:endParaRPr lang="en-US"/>
          </a:p>
        </p:txBody>
      </p:sp>
      <p:sp>
        <p:nvSpPr>
          <p:cNvPr id="21" name="Text 19"/>
          <p:cNvSpPr/>
          <p:nvPr/>
        </p:nvSpPr>
        <p:spPr>
          <a:xfrm>
            <a:off x="4846320" y="914400"/>
            <a:ext cx="20116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Festival Auction</a:t>
            </a:r>
            <a:endParaRPr lang="en-US" sz="950" dirty="0"/>
          </a:p>
        </p:txBody>
      </p:sp>
      <p:sp>
        <p:nvSpPr>
          <p:cNvPr id="22" name="Text 20"/>
          <p:cNvSpPr/>
          <p:nvPr/>
        </p:nvSpPr>
        <p:spPr>
          <a:xfrm>
            <a:off x="4937760" y="1261872"/>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FestivalAuction</a:t>
            </a:r>
            <a:endParaRPr lang="en-US" sz="850" dirty="0"/>
          </a:p>
        </p:txBody>
      </p:sp>
      <p:sp>
        <p:nvSpPr>
          <p:cNvPr id="23" name="Text 21"/>
          <p:cNvSpPr/>
          <p:nvPr/>
        </p:nvSpPr>
        <p:spPr>
          <a:xfrm>
            <a:off x="4937760" y="1481328"/>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FestivalAuctionBid</a:t>
            </a:r>
            <a:endParaRPr lang="en-US" sz="850" dirty="0"/>
          </a:p>
        </p:txBody>
      </p:sp>
      <p:sp>
        <p:nvSpPr>
          <p:cNvPr id="24" name="Text 22"/>
          <p:cNvSpPr/>
          <p:nvPr/>
        </p:nvSpPr>
        <p:spPr>
          <a:xfrm>
            <a:off x="4937760" y="1700784"/>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FestivalAuctionPool</a:t>
            </a:r>
            <a:endParaRPr lang="en-US" sz="850" dirty="0"/>
          </a:p>
        </p:txBody>
      </p:sp>
      <p:sp>
        <p:nvSpPr>
          <p:cNvPr id="25" name="Text 23"/>
          <p:cNvSpPr/>
          <p:nvPr/>
        </p:nvSpPr>
        <p:spPr>
          <a:xfrm>
            <a:off x="4937760" y="1920240"/>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FestivalAuctionResult</a:t>
            </a:r>
            <a:endParaRPr lang="en-US" sz="850" dirty="0"/>
          </a:p>
        </p:txBody>
      </p:sp>
      <p:sp>
        <p:nvSpPr>
          <p:cNvPr id="26" name="Shape 24"/>
          <p:cNvSpPr/>
          <p:nvPr/>
        </p:nvSpPr>
        <p:spPr>
          <a:xfrm>
            <a:off x="7040880" y="914400"/>
            <a:ext cx="1737360" cy="1371600"/>
          </a:xfrm>
          <a:prstGeom prst="roundRect">
            <a:avLst>
              <a:gd name="adj" fmla="val 6667"/>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7" name="Shape 25"/>
          <p:cNvSpPr/>
          <p:nvPr/>
        </p:nvSpPr>
        <p:spPr>
          <a:xfrm>
            <a:off x="7040880" y="914400"/>
            <a:ext cx="1737360" cy="292608"/>
          </a:xfrm>
          <a:prstGeom prst="roundRect">
            <a:avLst>
              <a:gd name="adj" fmla="val 25000"/>
            </a:avLst>
          </a:prstGeom>
          <a:solidFill>
            <a:srgbClr val="64748B"/>
          </a:solidFill>
          <a:ln w="12700">
            <a:solidFill>
              <a:srgbClr val="64748B"/>
            </a:solidFill>
            <a:prstDash val="solid"/>
          </a:ln>
        </p:spPr>
        <p:txBody>
          <a:bodyPr/>
          <a:lstStyle/>
          <a:p>
            <a:endParaRPr lang="en-US"/>
          </a:p>
        </p:txBody>
      </p:sp>
      <p:sp>
        <p:nvSpPr>
          <p:cNvPr id="28" name="Text 26"/>
          <p:cNvSpPr/>
          <p:nvPr/>
        </p:nvSpPr>
        <p:spPr>
          <a:xfrm>
            <a:off x="7040880" y="914400"/>
            <a:ext cx="17373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Legacy Auction</a:t>
            </a:r>
            <a:endParaRPr lang="en-US" sz="950" dirty="0"/>
          </a:p>
        </p:txBody>
      </p:sp>
      <p:sp>
        <p:nvSpPr>
          <p:cNvPr id="29" name="Text 27"/>
          <p:cNvSpPr/>
          <p:nvPr/>
        </p:nvSpPr>
        <p:spPr>
          <a:xfrm>
            <a:off x="7132320" y="1261872"/>
            <a:ext cx="155448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Tournament</a:t>
            </a:r>
            <a:endParaRPr lang="en-US" sz="850" dirty="0"/>
          </a:p>
        </p:txBody>
      </p:sp>
      <p:sp>
        <p:nvSpPr>
          <p:cNvPr id="30" name="Text 28"/>
          <p:cNvSpPr/>
          <p:nvPr/>
        </p:nvSpPr>
        <p:spPr>
          <a:xfrm>
            <a:off x="7132320" y="1481328"/>
            <a:ext cx="155448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Team</a:t>
            </a:r>
            <a:endParaRPr lang="en-US" sz="850" dirty="0"/>
          </a:p>
        </p:txBody>
      </p:sp>
      <p:sp>
        <p:nvSpPr>
          <p:cNvPr id="31" name="Text 29"/>
          <p:cNvSpPr/>
          <p:nvPr/>
        </p:nvSpPr>
        <p:spPr>
          <a:xfrm>
            <a:off x="7132320" y="1700784"/>
            <a:ext cx="155448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Player</a:t>
            </a:r>
            <a:endParaRPr lang="en-US" sz="850" dirty="0"/>
          </a:p>
        </p:txBody>
      </p:sp>
      <p:sp>
        <p:nvSpPr>
          <p:cNvPr id="32" name="Text 30"/>
          <p:cNvSpPr/>
          <p:nvPr/>
        </p:nvSpPr>
        <p:spPr>
          <a:xfrm>
            <a:off x="7132320" y="1920240"/>
            <a:ext cx="155448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Auction</a:t>
            </a:r>
            <a:endParaRPr lang="en-US" sz="850" dirty="0"/>
          </a:p>
        </p:txBody>
      </p:sp>
      <p:sp>
        <p:nvSpPr>
          <p:cNvPr id="33" name="Text 31"/>
          <p:cNvSpPr/>
          <p:nvPr/>
        </p:nvSpPr>
        <p:spPr>
          <a:xfrm>
            <a:off x="7132320" y="2139696"/>
            <a:ext cx="155448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Bid</a:t>
            </a:r>
            <a:endParaRPr lang="en-US" sz="850" dirty="0"/>
          </a:p>
        </p:txBody>
      </p:sp>
      <p:sp>
        <p:nvSpPr>
          <p:cNvPr id="34" name="Shape 32"/>
          <p:cNvSpPr/>
          <p:nvPr/>
        </p:nvSpPr>
        <p:spPr>
          <a:xfrm>
            <a:off x="457200" y="2468880"/>
            <a:ext cx="2011680" cy="1508760"/>
          </a:xfrm>
          <a:prstGeom prst="roundRect">
            <a:avLst>
              <a:gd name="adj" fmla="val 6061"/>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5" name="Shape 33"/>
          <p:cNvSpPr/>
          <p:nvPr/>
        </p:nvSpPr>
        <p:spPr>
          <a:xfrm>
            <a:off x="457200" y="2468880"/>
            <a:ext cx="2011680" cy="292608"/>
          </a:xfrm>
          <a:prstGeom prst="roundRect">
            <a:avLst>
              <a:gd name="adj" fmla="val 25000"/>
            </a:avLst>
          </a:prstGeom>
          <a:solidFill>
            <a:srgbClr val="0891B2"/>
          </a:solidFill>
          <a:ln w="12700">
            <a:solidFill>
              <a:srgbClr val="0891B2"/>
            </a:solidFill>
            <a:prstDash val="solid"/>
          </a:ln>
        </p:spPr>
        <p:txBody>
          <a:bodyPr/>
          <a:lstStyle/>
          <a:p>
            <a:endParaRPr lang="en-US"/>
          </a:p>
        </p:txBody>
      </p:sp>
      <p:sp>
        <p:nvSpPr>
          <p:cNvPr id="36" name="Text 34"/>
          <p:cNvSpPr/>
          <p:nvPr/>
        </p:nvSpPr>
        <p:spPr>
          <a:xfrm>
            <a:off x="457200" y="2468880"/>
            <a:ext cx="20116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Sport System</a:t>
            </a:r>
            <a:endParaRPr lang="en-US" sz="950" dirty="0"/>
          </a:p>
        </p:txBody>
      </p:sp>
      <p:sp>
        <p:nvSpPr>
          <p:cNvPr id="37" name="Text 35"/>
          <p:cNvSpPr/>
          <p:nvPr/>
        </p:nvSpPr>
        <p:spPr>
          <a:xfrm>
            <a:off x="548640" y="2816352"/>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SportTournament</a:t>
            </a:r>
            <a:endParaRPr lang="en-US" sz="850" dirty="0"/>
          </a:p>
        </p:txBody>
      </p:sp>
      <p:sp>
        <p:nvSpPr>
          <p:cNvPr id="38" name="Text 36"/>
          <p:cNvSpPr/>
          <p:nvPr/>
        </p:nvSpPr>
        <p:spPr>
          <a:xfrm>
            <a:off x="548640" y="3035808"/>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SportTeam</a:t>
            </a:r>
            <a:endParaRPr lang="en-US" sz="850" dirty="0"/>
          </a:p>
        </p:txBody>
      </p:sp>
      <p:sp>
        <p:nvSpPr>
          <p:cNvPr id="39" name="Text 37"/>
          <p:cNvSpPr/>
          <p:nvPr/>
        </p:nvSpPr>
        <p:spPr>
          <a:xfrm>
            <a:off x="548640" y="3255264"/>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SportTeamCaptain</a:t>
            </a:r>
            <a:endParaRPr lang="en-US" sz="850" dirty="0"/>
          </a:p>
        </p:txBody>
      </p:sp>
      <p:sp>
        <p:nvSpPr>
          <p:cNvPr id="40" name="Text 38"/>
          <p:cNvSpPr/>
          <p:nvPr/>
        </p:nvSpPr>
        <p:spPr>
          <a:xfrm>
            <a:off x="548640" y="3474720"/>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SportTeamBudget</a:t>
            </a:r>
            <a:endParaRPr lang="en-US" sz="850" dirty="0"/>
          </a:p>
        </p:txBody>
      </p:sp>
      <p:sp>
        <p:nvSpPr>
          <p:cNvPr id="41" name="Text 39"/>
          <p:cNvSpPr/>
          <p:nvPr/>
        </p:nvSpPr>
        <p:spPr>
          <a:xfrm>
            <a:off x="548640" y="3694176"/>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SportOperationAudit</a:t>
            </a:r>
            <a:endParaRPr lang="en-US" sz="850" dirty="0"/>
          </a:p>
        </p:txBody>
      </p:sp>
      <p:sp>
        <p:nvSpPr>
          <p:cNvPr id="42" name="Shape 40"/>
          <p:cNvSpPr/>
          <p:nvPr/>
        </p:nvSpPr>
        <p:spPr>
          <a:xfrm>
            <a:off x="2651760" y="2468880"/>
            <a:ext cx="2011680" cy="1508760"/>
          </a:xfrm>
          <a:prstGeom prst="roundRect">
            <a:avLst>
              <a:gd name="adj" fmla="val 6061"/>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43" name="Shape 41"/>
          <p:cNvSpPr/>
          <p:nvPr/>
        </p:nvSpPr>
        <p:spPr>
          <a:xfrm>
            <a:off x="2651760" y="2468880"/>
            <a:ext cx="2011680" cy="292608"/>
          </a:xfrm>
          <a:prstGeom prst="roundRect">
            <a:avLst>
              <a:gd name="adj" fmla="val 25000"/>
            </a:avLst>
          </a:prstGeom>
          <a:solidFill>
            <a:srgbClr val="7C3AED"/>
          </a:solidFill>
          <a:ln w="12700">
            <a:solidFill>
              <a:srgbClr val="7C3AED"/>
            </a:solidFill>
            <a:prstDash val="solid"/>
          </a:ln>
        </p:spPr>
        <p:txBody>
          <a:bodyPr/>
          <a:lstStyle/>
          <a:p>
            <a:endParaRPr lang="en-US"/>
          </a:p>
        </p:txBody>
      </p:sp>
      <p:sp>
        <p:nvSpPr>
          <p:cNvPr id="44" name="Text 42"/>
          <p:cNvSpPr/>
          <p:nvPr/>
        </p:nvSpPr>
        <p:spPr>
          <a:xfrm>
            <a:off x="2651760" y="2468880"/>
            <a:ext cx="20116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Sport Auction</a:t>
            </a:r>
            <a:endParaRPr lang="en-US" sz="950" dirty="0"/>
          </a:p>
        </p:txBody>
      </p:sp>
      <p:sp>
        <p:nvSpPr>
          <p:cNvPr id="45" name="Text 43"/>
          <p:cNvSpPr/>
          <p:nvPr/>
        </p:nvSpPr>
        <p:spPr>
          <a:xfrm>
            <a:off x="2743200" y="2816352"/>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SportAuction</a:t>
            </a:r>
            <a:endParaRPr lang="en-US" sz="850" dirty="0"/>
          </a:p>
        </p:txBody>
      </p:sp>
      <p:sp>
        <p:nvSpPr>
          <p:cNvPr id="46" name="Text 44"/>
          <p:cNvSpPr/>
          <p:nvPr/>
        </p:nvSpPr>
        <p:spPr>
          <a:xfrm>
            <a:off x="2743200" y="3035808"/>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SportAuctionBid</a:t>
            </a:r>
            <a:endParaRPr lang="en-US" sz="850" dirty="0"/>
          </a:p>
        </p:txBody>
      </p:sp>
      <p:sp>
        <p:nvSpPr>
          <p:cNvPr id="47" name="Text 45"/>
          <p:cNvSpPr/>
          <p:nvPr/>
        </p:nvSpPr>
        <p:spPr>
          <a:xfrm>
            <a:off x="2743200" y="3255264"/>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SportAuctionPool</a:t>
            </a:r>
            <a:endParaRPr lang="en-US" sz="850" dirty="0"/>
          </a:p>
        </p:txBody>
      </p:sp>
      <p:sp>
        <p:nvSpPr>
          <p:cNvPr id="48" name="Text 46"/>
          <p:cNvSpPr/>
          <p:nvPr/>
        </p:nvSpPr>
        <p:spPr>
          <a:xfrm>
            <a:off x="2743200" y="3474720"/>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SportAuctionResult</a:t>
            </a:r>
            <a:endParaRPr lang="en-US" sz="850" dirty="0"/>
          </a:p>
        </p:txBody>
      </p:sp>
      <p:sp>
        <p:nvSpPr>
          <p:cNvPr id="49" name="Text 47"/>
          <p:cNvSpPr/>
          <p:nvPr/>
        </p:nvSpPr>
        <p:spPr>
          <a:xfrm>
            <a:off x="2743200" y="3694176"/>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AuctionConfig</a:t>
            </a:r>
            <a:endParaRPr lang="en-US" sz="850" dirty="0"/>
          </a:p>
        </p:txBody>
      </p:sp>
      <p:sp>
        <p:nvSpPr>
          <p:cNvPr id="50" name="Shape 48"/>
          <p:cNvSpPr/>
          <p:nvPr/>
        </p:nvSpPr>
        <p:spPr>
          <a:xfrm>
            <a:off x="4846320" y="2468880"/>
            <a:ext cx="2011680" cy="1508760"/>
          </a:xfrm>
          <a:prstGeom prst="roundRect">
            <a:avLst>
              <a:gd name="adj" fmla="val 6061"/>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51" name="Shape 49"/>
          <p:cNvSpPr/>
          <p:nvPr/>
        </p:nvSpPr>
        <p:spPr>
          <a:xfrm>
            <a:off x="4846320" y="2468880"/>
            <a:ext cx="2011680" cy="292608"/>
          </a:xfrm>
          <a:prstGeom prst="roundRect">
            <a:avLst>
              <a:gd name="adj" fmla="val 25000"/>
            </a:avLst>
          </a:prstGeom>
          <a:solidFill>
            <a:srgbClr val="D97706"/>
          </a:solidFill>
          <a:ln w="12700">
            <a:solidFill>
              <a:srgbClr val="D97706"/>
            </a:solidFill>
            <a:prstDash val="solid"/>
          </a:ln>
        </p:spPr>
        <p:txBody>
          <a:bodyPr/>
          <a:lstStyle/>
          <a:p>
            <a:endParaRPr lang="en-US"/>
          </a:p>
        </p:txBody>
      </p:sp>
      <p:sp>
        <p:nvSpPr>
          <p:cNvPr id="52" name="Text 50"/>
          <p:cNvSpPr/>
          <p:nvPr/>
        </p:nvSpPr>
        <p:spPr>
          <a:xfrm>
            <a:off x="4846320" y="2468880"/>
            <a:ext cx="20116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Festival Config</a:t>
            </a:r>
            <a:endParaRPr lang="en-US" sz="950" dirty="0"/>
          </a:p>
        </p:txBody>
      </p:sp>
      <p:sp>
        <p:nvSpPr>
          <p:cNvPr id="53" name="Text 51"/>
          <p:cNvSpPr/>
          <p:nvPr/>
        </p:nvSpPr>
        <p:spPr>
          <a:xfrm>
            <a:off x="4937760" y="2816352"/>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FestivalSportSetting</a:t>
            </a:r>
            <a:endParaRPr lang="en-US" sz="850" dirty="0"/>
          </a:p>
        </p:txBody>
      </p:sp>
      <p:sp>
        <p:nvSpPr>
          <p:cNvPr id="54" name="Text 52"/>
          <p:cNvSpPr/>
          <p:nvPr/>
        </p:nvSpPr>
        <p:spPr>
          <a:xfrm>
            <a:off x="4937760" y="3035808"/>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FestivalTeamSportSetting</a:t>
            </a:r>
            <a:endParaRPr lang="en-US" sz="850" dirty="0"/>
          </a:p>
        </p:txBody>
      </p:sp>
      <p:sp>
        <p:nvSpPr>
          <p:cNvPr id="55" name="Text 53"/>
          <p:cNvSpPr/>
          <p:nvPr/>
        </p:nvSpPr>
        <p:spPr>
          <a:xfrm>
            <a:off x="4937760" y="3255264"/>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FestivalAuctionRetention</a:t>
            </a:r>
            <a:endParaRPr lang="en-US" sz="850" dirty="0"/>
          </a:p>
        </p:txBody>
      </p:sp>
      <p:sp>
        <p:nvSpPr>
          <p:cNvPr id="56" name="Text 54"/>
          <p:cNvSpPr/>
          <p:nvPr/>
        </p:nvSpPr>
        <p:spPr>
          <a:xfrm>
            <a:off x="4937760" y="3474720"/>
            <a:ext cx="182880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FestivalSetup</a:t>
            </a:r>
            <a:endParaRPr lang="en-US" sz="850" dirty="0"/>
          </a:p>
        </p:txBody>
      </p:sp>
      <p:sp>
        <p:nvSpPr>
          <p:cNvPr id="57" name="Shape 55"/>
          <p:cNvSpPr/>
          <p:nvPr/>
        </p:nvSpPr>
        <p:spPr>
          <a:xfrm>
            <a:off x="7040880" y="2468880"/>
            <a:ext cx="1737360" cy="1508760"/>
          </a:xfrm>
          <a:prstGeom prst="roundRect">
            <a:avLst>
              <a:gd name="adj" fmla="val 6061"/>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58" name="Shape 56"/>
          <p:cNvSpPr/>
          <p:nvPr/>
        </p:nvSpPr>
        <p:spPr>
          <a:xfrm>
            <a:off x="7040880" y="2468880"/>
            <a:ext cx="1737360" cy="292608"/>
          </a:xfrm>
          <a:prstGeom prst="roundRect">
            <a:avLst>
              <a:gd name="adj" fmla="val 25000"/>
            </a:avLst>
          </a:prstGeom>
          <a:solidFill>
            <a:srgbClr val="64748B"/>
          </a:solidFill>
          <a:ln w="12700">
            <a:solidFill>
              <a:srgbClr val="64748B"/>
            </a:solidFill>
            <a:prstDash val="solid"/>
          </a:ln>
        </p:spPr>
        <p:txBody>
          <a:bodyPr/>
          <a:lstStyle/>
          <a:p>
            <a:endParaRPr lang="en-US"/>
          </a:p>
        </p:txBody>
      </p:sp>
      <p:sp>
        <p:nvSpPr>
          <p:cNvPr id="59" name="Text 57"/>
          <p:cNvSpPr/>
          <p:nvPr/>
        </p:nvSpPr>
        <p:spPr>
          <a:xfrm>
            <a:off x="7040880" y="2468880"/>
            <a:ext cx="17373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Shared / Misc</a:t>
            </a:r>
            <a:endParaRPr lang="en-US" sz="950" dirty="0"/>
          </a:p>
        </p:txBody>
      </p:sp>
      <p:sp>
        <p:nvSpPr>
          <p:cNvPr id="60" name="Text 58"/>
          <p:cNvSpPr/>
          <p:nvPr/>
        </p:nvSpPr>
        <p:spPr>
          <a:xfrm>
            <a:off x="7132320" y="2816352"/>
            <a:ext cx="155448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AuctionDirectory</a:t>
            </a:r>
            <a:endParaRPr lang="en-US" sz="850" dirty="0"/>
          </a:p>
        </p:txBody>
      </p:sp>
      <p:sp>
        <p:nvSpPr>
          <p:cNvPr id="61" name="Text 59"/>
          <p:cNvSpPr/>
          <p:nvPr/>
        </p:nvSpPr>
        <p:spPr>
          <a:xfrm>
            <a:off x="7132320" y="3035808"/>
            <a:ext cx="155448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SportTournamentDirectory</a:t>
            </a:r>
            <a:endParaRPr lang="en-US" sz="850" dirty="0"/>
          </a:p>
        </p:txBody>
      </p:sp>
      <p:sp>
        <p:nvSpPr>
          <p:cNvPr id="62" name="Text 60"/>
          <p:cNvSpPr/>
          <p:nvPr/>
        </p:nvSpPr>
        <p:spPr>
          <a:xfrm>
            <a:off x="7132320" y="3255264"/>
            <a:ext cx="155448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Notification</a:t>
            </a:r>
            <a:endParaRPr lang="en-US" sz="850" dirty="0"/>
          </a:p>
        </p:txBody>
      </p:sp>
      <p:sp>
        <p:nvSpPr>
          <p:cNvPr id="63" name="Shape 61"/>
          <p:cNvSpPr/>
          <p:nvPr/>
        </p:nvSpPr>
        <p:spPr>
          <a:xfrm>
            <a:off x="457200" y="4187952"/>
            <a:ext cx="8229600" cy="658368"/>
          </a:xfrm>
          <a:prstGeom prst="roundRect">
            <a:avLst>
              <a:gd name="adj" fmla="val 13889"/>
            </a:avLst>
          </a:prstGeom>
          <a:solidFill>
            <a:srgbClr val="0D1B3E"/>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4" name="Text 62"/>
          <p:cNvSpPr/>
          <p:nvPr/>
        </p:nvSpPr>
        <p:spPr>
          <a:xfrm>
            <a:off x="457200" y="4187952"/>
            <a:ext cx="8229600" cy="658368"/>
          </a:xfrm>
          <a:prstGeom prst="rect">
            <a:avLst/>
          </a:prstGeom>
          <a:noFill/>
          <a:ln/>
        </p:spPr>
        <p:txBody>
          <a:bodyPr wrap="square" lIns="0" tIns="0" rIns="0" bIns="0" rtlCol="0" anchor="ctr"/>
          <a:lstStyle/>
          <a:p>
            <a:pPr marL="0" indent="0" algn="ctr">
              <a:buNone/>
            </a:pPr>
            <a:r>
              <a:rPr lang="en-US" sz="1000" dirty="0">
                <a:solidFill>
                  <a:srgbClr val="F0A030"/>
                </a:solidFill>
                <a:latin typeface="Calibri" pitchFamily="34" charset="0"/>
                <a:ea typeface="Calibri" pitchFamily="34" charset="-122"/>
                <a:cs typeface="Calibri" pitchFamily="34" charset="-120"/>
              </a:rPr>
              <a:t>35+ Sequelize Models  ·  Full FK Relationships  ·  Soft Deletes via Paranoid Mode  ·  Database Transactions for Bid Atomicity  ·  Migrations for All Schema Changes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TECHNOLOGY STACK</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Technology Stack</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2011680" cy="3977640"/>
          </a:xfrm>
          <a:prstGeom prst="roundRect">
            <a:avLst>
              <a:gd name="adj" fmla="val 4545"/>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457200" y="914400"/>
            <a:ext cx="2011680" cy="402336"/>
          </a:xfrm>
          <a:prstGeom prst="roundRect">
            <a:avLst>
              <a:gd name="adj" fmla="val 22727"/>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457200" y="914400"/>
            <a:ext cx="201168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Frontend</a:t>
            </a:r>
            <a:endParaRPr lang="en-US" sz="1200" dirty="0"/>
          </a:p>
        </p:txBody>
      </p:sp>
      <p:sp>
        <p:nvSpPr>
          <p:cNvPr id="8" name="Text 6"/>
          <p:cNvSpPr/>
          <p:nvPr/>
        </p:nvSpPr>
        <p:spPr>
          <a:xfrm>
            <a:off x="548640" y="1389888"/>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React</a:t>
            </a:r>
            <a:endParaRPr lang="en-US" sz="900" dirty="0"/>
          </a:p>
        </p:txBody>
      </p:sp>
      <p:sp>
        <p:nvSpPr>
          <p:cNvPr id="9" name="Text 7"/>
          <p:cNvSpPr/>
          <p:nvPr/>
        </p:nvSpPr>
        <p:spPr>
          <a:xfrm>
            <a:off x="548640" y="1554480"/>
            <a:ext cx="1828800" cy="146304"/>
          </a:xfrm>
          <a:prstGeom prst="rect">
            <a:avLst/>
          </a:prstGeom>
          <a:noFill/>
          <a:ln/>
        </p:spPr>
        <p:txBody>
          <a:bodyPr wrap="square" lIns="0" tIns="0" rIns="0" bIns="0" rtlCol="0" anchor="ctr"/>
          <a:lstStyle/>
          <a:p>
            <a:pPr marL="0" indent="0">
              <a:buNone/>
            </a:pPr>
            <a:r>
              <a:rPr lang="en-US" sz="800" dirty="0">
                <a:solidFill>
                  <a:srgbClr val="1E3A8A"/>
                </a:solidFill>
                <a:latin typeface="Calibri" pitchFamily="34" charset="0"/>
                <a:ea typeface="Calibri" pitchFamily="34" charset="-122"/>
                <a:cs typeface="Calibri" pitchFamily="34" charset="-120"/>
              </a:rPr>
              <a:t>19.0.0</a:t>
            </a:r>
            <a:endParaRPr lang="en-US" sz="800" dirty="0"/>
          </a:p>
        </p:txBody>
      </p:sp>
      <p:sp>
        <p:nvSpPr>
          <p:cNvPr id="10" name="Text 8"/>
          <p:cNvSpPr/>
          <p:nvPr/>
        </p:nvSpPr>
        <p:spPr>
          <a:xfrm>
            <a:off x="548640" y="1773936"/>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React Router</a:t>
            </a:r>
            <a:endParaRPr lang="en-US" sz="900" dirty="0"/>
          </a:p>
        </p:txBody>
      </p:sp>
      <p:sp>
        <p:nvSpPr>
          <p:cNvPr id="11" name="Text 9"/>
          <p:cNvSpPr/>
          <p:nvPr/>
        </p:nvSpPr>
        <p:spPr>
          <a:xfrm>
            <a:off x="548640" y="1938528"/>
            <a:ext cx="1828800" cy="146304"/>
          </a:xfrm>
          <a:prstGeom prst="rect">
            <a:avLst/>
          </a:prstGeom>
          <a:noFill/>
          <a:ln/>
        </p:spPr>
        <p:txBody>
          <a:bodyPr wrap="square" lIns="0" tIns="0" rIns="0" bIns="0" rtlCol="0" anchor="ctr"/>
          <a:lstStyle/>
          <a:p>
            <a:pPr marL="0" indent="0">
              <a:buNone/>
            </a:pPr>
            <a:r>
              <a:rPr lang="en-US" sz="800" dirty="0">
                <a:solidFill>
                  <a:srgbClr val="1E3A8A"/>
                </a:solidFill>
                <a:latin typeface="Calibri" pitchFamily="34" charset="0"/>
                <a:ea typeface="Calibri" pitchFamily="34" charset="-122"/>
                <a:cs typeface="Calibri" pitchFamily="34" charset="-120"/>
              </a:rPr>
              <a:t>7.4.0</a:t>
            </a:r>
            <a:endParaRPr lang="en-US" sz="800" dirty="0"/>
          </a:p>
        </p:txBody>
      </p:sp>
      <p:sp>
        <p:nvSpPr>
          <p:cNvPr id="12" name="Text 10"/>
          <p:cNvSpPr/>
          <p:nvPr/>
        </p:nvSpPr>
        <p:spPr>
          <a:xfrm>
            <a:off x="548640" y="2157984"/>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Material UI</a:t>
            </a:r>
            <a:endParaRPr lang="en-US" sz="900" dirty="0"/>
          </a:p>
        </p:txBody>
      </p:sp>
      <p:sp>
        <p:nvSpPr>
          <p:cNvPr id="13" name="Text 11"/>
          <p:cNvSpPr/>
          <p:nvPr/>
        </p:nvSpPr>
        <p:spPr>
          <a:xfrm>
            <a:off x="548640" y="2322576"/>
            <a:ext cx="1828800" cy="146304"/>
          </a:xfrm>
          <a:prstGeom prst="rect">
            <a:avLst/>
          </a:prstGeom>
          <a:noFill/>
          <a:ln/>
        </p:spPr>
        <p:txBody>
          <a:bodyPr wrap="square" lIns="0" tIns="0" rIns="0" bIns="0" rtlCol="0" anchor="ctr"/>
          <a:lstStyle/>
          <a:p>
            <a:pPr marL="0" indent="0">
              <a:buNone/>
            </a:pPr>
            <a:r>
              <a:rPr lang="en-US" sz="800" dirty="0">
                <a:solidFill>
                  <a:srgbClr val="1E3A8A"/>
                </a:solidFill>
                <a:latin typeface="Calibri" pitchFamily="34" charset="0"/>
                <a:ea typeface="Calibri" pitchFamily="34" charset="-122"/>
                <a:cs typeface="Calibri" pitchFamily="34" charset="-120"/>
              </a:rPr>
              <a:t>6.4.8</a:t>
            </a:r>
            <a:endParaRPr lang="en-US" sz="800" dirty="0"/>
          </a:p>
        </p:txBody>
      </p:sp>
      <p:sp>
        <p:nvSpPr>
          <p:cNvPr id="14" name="Text 12"/>
          <p:cNvSpPr/>
          <p:nvPr/>
        </p:nvSpPr>
        <p:spPr>
          <a:xfrm>
            <a:off x="548640" y="2542032"/>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Vite</a:t>
            </a:r>
            <a:endParaRPr lang="en-US" sz="900" dirty="0"/>
          </a:p>
        </p:txBody>
      </p:sp>
      <p:sp>
        <p:nvSpPr>
          <p:cNvPr id="15" name="Text 13"/>
          <p:cNvSpPr/>
          <p:nvPr/>
        </p:nvSpPr>
        <p:spPr>
          <a:xfrm>
            <a:off x="548640" y="2706624"/>
            <a:ext cx="1828800" cy="146304"/>
          </a:xfrm>
          <a:prstGeom prst="rect">
            <a:avLst/>
          </a:prstGeom>
          <a:noFill/>
          <a:ln/>
        </p:spPr>
        <p:txBody>
          <a:bodyPr wrap="square" lIns="0" tIns="0" rIns="0" bIns="0" rtlCol="0" anchor="ctr"/>
          <a:lstStyle/>
          <a:p>
            <a:pPr marL="0" indent="0">
              <a:buNone/>
            </a:pPr>
            <a:r>
              <a:rPr lang="en-US" sz="800" dirty="0">
                <a:solidFill>
                  <a:srgbClr val="1E3A8A"/>
                </a:solidFill>
                <a:latin typeface="Calibri" pitchFamily="34" charset="0"/>
                <a:ea typeface="Calibri" pitchFamily="34" charset="-122"/>
                <a:cs typeface="Calibri" pitchFamily="34" charset="-120"/>
              </a:rPr>
              <a:t>6.2.0</a:t>
            </a:r>
            <a:endParaRPr lang="en-US" sz="800" dirty="0"/>
          </a:p>
        </p:txBody>
      </p:sp>
      <p:sp>
        <p:nvSpPr>
          <p:cNvPr id="16" name="Text 14"/>
          <p:cNvSpPr/>
          <p:nvPr/>
        </p:nvSpPr>
        <p:spPr>
          <a:xfrm>
            <a:off x="548640" y="2926080"/>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Axios</a:t>
            </a:r>
            <a:endParaRPr lang="en-US" sz="900" dirty="0"/>
          </a:p>
        </p:txBody>
      </p:sp>
      <p:sp>
        <p:nvSpPr>
          <p:cNvPr id="17" name="Text 15"/>
          <p:cNvSpPr/>
          <p:nvPr/>
        </p:nvSpPr>
        <p:spPr>
          <a:xfrm>
            <a:off x="548640" y="3090672"/>
            <a:ext cx="1828800" cy="146304"/>
          </a:xfrm>
          <a:prstGeom prst="rect">
            <a:avLst/>
          </a:prstGeom>
          <a:noFill/>
          <a:ln/>
        </p:spPr>
        <p:txBody>
          <a:bodyPr wrap="square" lIns="0" tIns="0" rIns="0" bIns="0" rtlCol="0" anchor="ctr"/>
          <a:lstStyle/>
          <a:p>
            <a:pPr marL="0" indent="0">
              <a:buNone/>
            </a:pPr>
            <a:r>
              <a:rPr lang="en-US" sz="800" dirty="0">
                <a:solidFill>
                  <a:srgbClr val="1E3A8A"/>
                </a:solidFill>
                <a:latin typeface="Calibri" pitchFamily="34" charset="0"/>
                <a:ea typeface="Calibri" pitchFamily="34" charset="-122"/>
                <a:cs typeface="Calibri" pitchFamily="34" charset="-120"/>
              </a:rPr>
              <a:t>1.8.4</a:t>
            </a:r>
            <a:endParaRPr lang="en-US" sz="800" dirty="0"/>
          </a:p>
        </p:txBody>
      </p:sp>
      <p:sp>
        <p:nvSpPr>
          <p:cNvPr id="18" name="Text 16"/>
          <p:cNvSpPr/>
          <p:nvPr/>
        </p:nvSpPr>
        <p:spPr>
          <a:xfrm>
            <a:off x="548640" y="3310128"/>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socket.io-client</a:t>
            </a:r>
            <a:endParaRPr lang="en-US" sz="900" dirty="0"/>
          </a:p>
        </p:txBody>
      </p:sp>
      <p:sp>
        <p:nvSpPr>
          <p:cNvPr id="19" name="Text 17"/>
          <p:cNvSpPr/>
          <p:nvPr/>
        </p:nvSpPr>
        <p:spPr>
          <a:xfrm>
            <a:off x="548640" y="3474720"/>
            <a:ext cx="1828800" cy="146304"/>
          </a:xfrm>
          <a:prstGeom prst="rect">
            <a:avLst/>
          </a:prstGeom>
          <a:noFill/>
          <a:ln/>
        </p:spPr>
        <p:txBody>
          <a:bodyPr wrap="square" lIns="0" tIns="0" rIns="0" bIns="0" rtlCol="0" anchor="ctr"/>
          <a:lstStyle/>
          <a:p>
            <a:pPr marL="0" indent="0">
              <a:buNone/>
            </a:pPr>
            <a:r>
              <a:rPr lang="en-US" sz="800" dirty="0">
                <a:solidFill>
                  <a:srgbClr val="1E3A8A"/>
                </a:solidFill>
                <a:latin typeface="Calibri" pitchFamily="34" charset="0"/>
                <a:ea typeface="Calibri" pitchFamily="34" charset="-122"/>
                <a:cs typeface="Calibri" pitchFamily="34" charset="-120"/>
              </a:rPr>
              <a:t>4.8.1</a:t>
            </a:r>
            <a:endParaRPr lang="en-US" sz="800" dirty="0"/>
          </a:p>
        </p:txBody>
      </p:sp>
      <p:sp>
        <p:nvSpPr>
          <p:cNvPr id="20" name="Text 18"/>
          <p:cNvSpPr/>
          <p:nvPr/>
        </p:nvSpPr>
        <p:spPr>
          <a:xfrm>
            <a:off x="548640" y="3694176"/>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Emotion</a:t>
            </a:r>
            <a:endParaRPr lang="en-US" sz="900" dirty="0"/>
          </a:p>
        </p:txBody>
      </p:sp>
      <p:sp>
        <p:nvSpPr>
          <p:cNvPr id="21" name="Text 19"/>
          <p:cNvSpPr/>
          <p:nvPr/>
        </p:nvSpPr>
        <p:spPr>
          <a:xfrm>
            <a:off x="548640" y="3858768"/>
            <a:ext cx="1828800" cy="146304"/>
          </a:xfrm>
          <a:prstGeom prst="rect">
            <a:avLst/>
          </a:prstGeom>
          <a:noFill/>
          <a:ln/>
        </p:spPr>
        <p:txBody>
          <a:bodyPr wrap="square" lIns="0" tIns="0" rIns="0" bIns="0" rtlCol="0" anchor="ctr"/>
          <a:lstStyle/>
          <a:p>
            <a:pPr marL="0" indent="0">
              <a:buNone/>
            </a:pPr>
            <a:r>
              <a:rPr lang="en-US" sz="800" dirty="0">
                <a:solidFill>
                  <a:srgbClr val="1E3A8A"/>
                </a:solidFill>
                <a:latin typeface="Calibri" pitchFamily="34" charset="0"/>
                <a:ea typeface="Calibri" pitchFamily="34" charset="-122"/>
                <a:cs typeface="Calibri" pitchFamily="34" charset="-120"/>
              </a:rPr>
              <a:t>11.14.0</a:t>
            </a:r>
            <a:endParaRPr lang="en-US" sz="800" dirty="0"/>
          </a:p>
        </p:txBody>
      </p:sp>
      <p:sp>
        <p:nvSpPr>
          <p:cNvPr id="22" name="Shape 20"/>
          <p:cNvSpPr/>
          <p:nvPr/>
        </p:nvSpPr>
        <p:spPr>
          <a:xfrm>
            <a:off x="2633472" y="914400"/>
            <a:ext cx="2011680" cy="3977640"/>
          </a:xfrm>
          <a:prstGeom prst="roundRect">
            <a:avLst>
              <a:gd name="adj" fmla="val 4545"/>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3" name="Shape 21"/>
          <p:cNvSpPr/>
          <p:nvPr/>
        </p:nvSpPr>
        <p:spPr>
          <a:xfrm>
            <a:off x="2633472" y="914400"/>
            <a:ext cx="2011680" cy="402336"/>
          </a:xfrm>
          <a:prstGeom prst="roundRect">
            <a:avLst>
              <a:gd name="adj" fmla="val 22727"/>
            </a:avLst>
          </a:prstGeom>
          <a:solidFill>
            <a:srgbClr val="0891B2"/>
          </a:solidFill>
          <a:ln w="12700">
            <a:solidFill>
              <a:srgbClr val="0891B2"/>
            </a:solidFill>
            <a:prstDash val="solid"/>
          </a:ln>
        </p:spPr>
        <p:txBody>
          <a:bodyPr/>
          <a:lstStyle/>
          <a:p>
            <a:endParaRPr lang="en-US"/>
          </a:p>
        </p:txBody>
      </p:sp>
      <p:sp>
        <p:nvSpPr>
          <p:cNvPr id="24" name="Text 22"/>
          <p:cNvSpPr/>
          <p:nvPr/>
        </p:nvSpPr>
        <p:spPr>
          <a:xfrm>
            <a:off x="2633472" y="914400"/>
            <a:ext cx="201168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Backend</a:t>
            </a:r>
            <a:endParaRPr lang="en-US" sz="1200" dirty="0"/>
          </a:p>
        </p:txBody>
      </p:sp>
      <p:sp>
        <p:nvSpPr>
          <p:cNvPr id="25" name="Text 23"/>
          <p:cNvSpPr/>
          <p:nvPr/>
        </p:nvSpPr>
        <p:spPr>
          <a:xfrm>
            <a:off x="2724912" y="1389888"/>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Node.js</a:t>
            </a:r>
            <a:endParaRPr lang="en-US" sz="900" dirty="0"/>
          </a:p>
        </p:txBody>
      </p:sp>
      <p:sp>
        <p:nvSpPr>
          <p:cNvPr id="26" name="Text 24"/>
          <p:cNvSpPr/>
          <p:nvPr/>
        </p:nvSpPr>
        <p:spPr>
          <a:xfrm>
            <a:off x="2724912" y="1554480"/>
            <a:ext cx="1828800" cy="146304"/>
          </a:xfrm>
          <a:prstGeom prst="rect">
            <a:avLst/>
          </a:prstGeom>
          <a:noFill/>
          <a:ln/>
        </p:spPr>
        <p:txBody>
          <a:bodyPr wrap="square" lIns="0" tIns="0" rIns="0" bIns="0" rtlCol="0" anchor="ctr"/>
          <a:lstStyle/>
          <a:p>
            <a:pPr marL="0" indent="0">
              <a:buNone/>
            </a:pPr>
            <a:r>
              <a:rPr lang="en-US" sz="800" dirty="0">
                <a:solidFill>
                  <a:srgbClr val="0891B2"/>
                </a:solidFill>
                <a:latin typeface="Calibri" pitchFamily="34" charset="0"/>
                <a:ea typeface="Calibri" pitchFamily="34" charset="-122"/>
                <a:cs typeface="Calibri" pitchFamily="34" charset="-120"/>
              </a:rPr>
              <a:t>ES Modules</a:t>
            </a:r>
            <a:endParaRPr lang="en-US" sz="800" dirty="0"/>
          </a:p>
        </p:txBody>
      </p:sp>
      <p:sp>
        <p:nvSpPr>
          <p:cNvPr id="27" name="Text 25"/>
          <p:cNvSpPr/>
          <p:nvPr/>
        </p:nvSpPr>
        <p:spPr>
          <a:xfrm>
            <a:off x="2724912" y="1773936"/>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Express</a:t>
            </a:r>
            <a:endParaRPr lang="en-US" sz="900" dirty="0"/>
          </a:p>
        </p:txBody>
      </p:sp>
      <p:sp>
        <p:nvSpPr>
          <p:cNvPr id="28" name="Text 26"/>
          <p:cNvSpPr/>
          <p:nvPr/>
        </p:nvSpPr>
        <p:spPr>
          <a:xfrm>
            <a:off x="2724912" y="1938528"/>
            <a:ext cx="1828800" cy="146304"/>
          </a:xfrm>
          <a:prstGeom prst="rect">
            <a:avLst/>
          </a:prstGeom>
          <a:noFill/>
          <a:ln/>
        </p:spPr>
        <p:txBody>
          <a:bodyPr wrap="square" lIns="0" tIns="0" rIns="0" bIns="0" rtlCol="0" anchor="ctr"/>
          <a:lstStyle/>
          <a:p>
            <a:pPr marL="0" indent="0">
              <a:buNone/>
            </a:pPr>
            <a:r>
              <a:rPr lang="en-US" sz="800" dirty="0">
                <a:solidFill>
                  <a:srgbClr val="0891B2"/>
                </a:solidFill>
                <a:latin typeface="Calibri" pitchFamily="34" charset="0"/>
                <a:ea typeface="Calibri" pitchFamily="34" charset="-122"/>
                <a:cs typeface="Calibri" pitchFamily="34" charset="-120"/>
              </a:rPr>
              <a:t>4.x</a:t>
            </a:r>
            <a:endParaRPr lang="en-US" sz="800" dirty="0"/>
          </a:p>
        </p:txBody>
      </p:sp>
      <p:sp>
        <p:nvSpPr>
          <p:cNvPr id="29" name="Text 27"/>
          <p:cNvSpPr/>
          <p:nvPr/>
        </p:nvSpPr>
        <p:spPr>
          <a:xfrm>
            <a:off x="2724912" y="2157984"/>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Socket.IO</a:t>
            </a:r>
            <a:endParaRPr lang="en-US" sz="900" dirty="0"/>
          </a:p>
        </p:txBody>
      </p:sp>
      <p:sp>
        <p:nvSpPr>
          <p:cNvPr id="30" name="Text 28"/>
          <p:cNvSpPr/>
          <p:nvPr/>
        </p:nvSpPr>
        <p:spPr>
          <a:xfrm>
            <a:off x="2724912" y="2322576"/>
            <a:ext cx="1828800" cy="146304"/>
          </a:xfrm>
          <a:prstGeom prst="rect">
            <a:avLst/>
          </a:prstGeom>
          <a:noFill/>
          <a:ln/>
        </p:spPr>
        <p:txBody>
          <a:bodyPr wrap="square" lIns="0" tIns="0" rIns="0" bIns="0" rtlCol="0" anchor="ctr"/>
          <a:lstStyle/>
          <a:p>
            <a:pPr marL="0" indent="0">
              <a:buNone/>
            </a:pPr>
            <a:r>
              <a:rPr lang="en-US" sz="800" dirty="0">
                <a:solidFill>
                  <a:srgbClr val="0891B2"/>
                </a:solidFill>
                <a:latin typeface="Calibri" pitchFamily="34" charset="0"/>
                <a:ea typeface="Calibri" pitchFamily="34" charset="-122"/>
                <a:cs typeface="Calibri" pitchFamily="34" charset="-120"/>
              </a:rPr>
              <a:t>4.x</a:t>
            </a:r>
            <a:endParaRPr lang="en-US" sz="800" dirty="0"/>
          </a:p>
        </p:txBody>
      </p:sp>
      <p:sp>
        <p:nvSpPr>
          <p:cNvPr id="31" name="Text 29"/>
          <p:cNvSpPr/>
          <p:nvPr/>
        </p:nvSpPr>
        <p:spPr>
          <a:xfrm>
            <a:off x="2724912" y="2542032"/>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Sequelize</a:t>
            </a:r>
            <a:endParaRPr lang="en-US" sz="900" dirty="0"/>
          </a:p>
        </p:txBody>
      </p:sp>
      <p:sp>
        <p:nvSpPr>
          <p:cNvPr id="32" name="Text 30"/>
          <p:cNvSpPr/>
          <p:nvPr/>
        </p:nvSpPr>
        <p:spPr>
          <a:xfrm>
            <a:off x="2724912" y="2706624"/>
            <a:ext cx="1828800" cy="146304"/>
          </a:xfrm>
          <a:prstGeom prst="rect">
            <a:avLst/>
          </a:prstGeom>
          <a:noFill/>
          <a:ln/>
        </p:spPr>
        <p:txBody>
          <a:bodyPr wrap="square" lIns="0" tIns="0" rIns="0" bIns="0" rtlCol="0" anchor="ctr"/>
          <a:lstStyle/>
          <a:p>
            <a:pPr marL="0" indent="0">
              <a:buNone/>
            </a:pPr>
            <a:r>
              <a:rPr lang="en-US" sz="800" dirty="0">
                <a:solidFill>
                  <a:srgbClr val="0891B2"/>
                </a:solidFill>
                <a:latin typeface="Calibri" pitchFamily="34" charset="0"/>
                <a:ea typeface="Calibri" pitchFamily="34" charset="-122"/>
                <a:cs typeface="Calibri" pitchFamily="34" charset="-120"/>
              </a:rPr>
              <a:t>6.x</a:t>
            </a:r>
            <a:endParaRPr lang="en-US" sz="800" dirty="0"/>
          </a:p>
        </p:txBody>
      </p:sp>
      <p:sp>
        <p:nvSpPr>
          <p:cNvPr id="33" name="Text 31"/>
          <p:cNvSpPr/>
          <p:nvPr/>
        </p:nvSpPr>
        <p:spPr>
          <a:xfrm>
            <a:off x="2724912" y="2926080"/>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jsonwebtoken</a:t>
            </a:r>
            <a:endParaRPr lang="en-US" sz="900" dirty="0"/>
          </a:p>
        </p:txBody>
      </p:sp>
      <p:sp>
        <p:nvSpPr>
          <p:cNvPr id="34" name="Text 32"/>
          <p:cNvSpPr/>
          <p:nvPr/>
        </p:nvSpPr>
        <p:spPr>
          <a:xfrm>
            <a:off x="2724912" y="3090672"/>
            <a:ext cx="1828800" cy="146304"/>
          </a:xfrm>
          <a:prstGeom prst="rect">
            <a:avLst/>
          </a:prstGeom>
          <a:noFill/>
          <a:ln/>
        </p:spPr>
        <p:txBody>
          <a:bodyPr wrap="square" lIns="0" tIns="0" rIns="0" bIns="0" rtlCol="0" anchor="ctr"/>
          <a:lstStyle/>
          <a:p>
            <a:pPr marL="0" indent="0">
              <a:buNone/>
            </a:pPr>
            <a:r>
              <a:rPr lang="en-US" sz="800" dirty="0">
                <a:solidFill>
                  <a:srgbClr val="0891B2"/>
                </a:solidFill>
                <a:latin typeface="Calibri" pitchFamily="34" charset="0"/>
                <a:ea typeface="Calibri" pitchFamily="34" charset="-122"/>
                <a:cs typeface="Calibri" pitchFamily="34" charset="-120"/>
              </a:rPr>
              <a:t>9.x</a:t>
            </a:r>
            <a:endParaRPr lang="en-US" sz="800" dirty="0"/>
          </a:p>
        </p:txBody>
      </p:sp>
      <p:sp>
        <p:nvSpPr>
          <p:cNvPr id="35" name="Text 33"/>
          <p:cNvSpPr/>
          <p:nvPr/>
        </p:nvSpPr>
        <p:spPr>
          <a:xfrm>
            <a:off x="2724912" y="3310128"/>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Zod</a:t>
            </a:r>
            <a:endParaRPr lang="en-US" sz="900" dirty="0"/>
          </a:p>
        </p:txBody>
      </p:sp>
      <p:sp>
        <p:nvSpPr>
          <p:cNvPr id="36" name="Text 34"/>
          <p:cNvSpPr/>
          <p:nvPr/>
        </p:nvSpPr>
        <p:spPr>
          <a:xfrm>
            <a:off x="2724912" y="3474720"/>
            <a:ext cx="1828800" cy="146304"/>
          </a:xfrm>
          <a:prstGeom prst="rect">
            <a:avLst/>
          </a:prstGeom>
          <a:noFill/>
          <a:ln/>
        </p:spPr>
        <p:txBody>
          <a:bodyPr wrap="square" lIns="0" tIns="0" rIns="0" bIns="0" rtlCol="0" anchor="ctr"/>
          <a:lstStyle/>
          <a:p>
            <a:pPr marL="0" indent="0">
              <a:buNone/>
            </a:pPr>
            <a:r>
              <a:rPr lang="en-US" sz="800" dirty="0">
                <a:solidFill>
                  <a:srgbClr val="0891B2"/>
                </a:solidFill>
                <a:latin typeface="Calibri" pitchFamily="34" charset="0"/>
                <a:ea typeface="Calibri" pitchFamily="34" charset="-122"/>
                <a:cs typeface="Calibri" pitchFamily="34" charset="-120"/>
              </a:rPr>
              <a:t>3.x</a:t>
            </a:r>
            <a:endParaRPr lang="en-US" sz="800" dirty="0"/>
          </a:p>
        </p:txBody>
      </p:sp>
      <p:sp>
        <p:nvSpPr>
          <p:cNvPr id="37" name="Text 35"/>
          <p:cNvSpPr/>
          <p:nvPr/>
        </p:nvSpPr>
        <p:spPr>
          <a:xfrm>
            <a:off x="2724912" y="3694176"/>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Nodemailer</a:t>
            </a:r>
            <a:endParaRPr lang="en-US" sz="900" dirty="0"/>
          </a:p>
        </p:txBody>
      </p:sp>
      <p:sp>
        <p:nvSpPr>
          <p:cNvPr id="38" name="Text 36"/>
          <p:cNvSpPr/>
          <p:nvPr/>
        </p:nvSpPr>
        <p:spPr>
          <a:xfrm>
            <a:off x="2724912" y="3858768"/>
            <a:ext cx="1828800" cy="146304"/>
          </a:xfrm>
          <a:prstGeom prst="rect">
            <a:avLst/>
          </a:prstGeom>
          <a:noFill/>
          <a:ln/>
        </p:spPr>
        <p:txBody>
          <a:bodyPr wrap="square" lIns="0" tIns="0" rIns="0" bIns="0" rtlCol="0" anchor="ctr"/>
          <a:lstStyle/>
          <a:p>
            <a:pPr marL="0" indent="0">
              <a:buNone/>
            </a:pPr>
            <a:r>
              <a:rPr lang="en-US" sz="800" dirty="0">
                <a:solidFill>
                  <a:srgbClr val="0891B2"/>
                </a:solidFill>
                <a:latin typeface="Calibri" pitchFamily="34" charset="0"/>
                <a:ea typeface="Calibri" pitchFamily="34" charset="-122"/>
                <a:cs typeface="Calibri" pitchFamily="34" charset="-120"/>
              </a:rPr>
              <a:t>6.x</a:t>
            </a:r>
            <a:endParaRPr lang="en-US" sz="800" dirty="0"/>
          </a:p>
        </p:txBody>
      </p:sp>
      <p:sp>
        <p:nvSpPr>
          <p:cNvPr id="39" name="Text 37"/>
          <p:cNvSpPr/>
          <p:nvPr/>
        </p:nvSpPr>
        <p:spPr>
          <a:xfrm>
            <a:off x="2724912" y="4078224"/>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bcrypt</a:t>
            </a:r>
            <a:endParaRPr lang="en-US" sz="900" dirty="0"/>
          </a:p>
        </p:txBody>
      </p:sp>
      <p:sp>
        <p:nvSpPr>
          <p:cNvPr id="40" name="Text 38"/>
          <p:cNvSpPr/>
          <p:nvPr/>
        </p:nvSpPr>
        <p:spPr>
          <a:xfrm>
            <a:off x="2724912" y="4242816"/>
            <a:ext cx="1828800" cy="146304"/>
          </a:xfrm>
          <a:prstGeom prst="rect">
            <a:avLst/>
          </a:prstGeom>
          <a:noFill/>
          <a:ln/>
        </p:spPr>
        <p:txBody>
          <a:bodyPr wrap="square" lIns="0" tIns="0" rIns="0" bIns="0" rtlCol="0" anchor="ctr"/>
          <a:lstStyle/>
          <a:p>
            <a:pPr marL="0" indent="0">
              <a:buNone/>
            </a:pPr>
            <a:r>
              <a:rPr lang="en-US" sz="800" dirty="0">
                <a:solidFill>
                  <a:srgbClr val="0891B2"/>
                </a:solidFill>
                <a:latin typeface="Calibri" pitchFamily="34" charset="0"/>
                <a:ea typeface="Calibri" pitchFamily="34" charset="-122"/>
                <a:cs typeface="Calibri" pitchFamily="34" charset="-120"/>
              </a:rPr>
              <a:t>5.x</a:t>
            </a:r>
            <a:endParaRPr lang="en-US" sz="800" dirty="0"/>
          </a:p>
        </p:txBody>
      </p:sp>
      <p:sp>
        <p:nvSpPr>
          <p:cNvPr id="41" name="Shape 39"/>
          <p:cNvSpPr/>
          <p:nvPr/>
        </p:nvSpPr>
        <p:spPr>
          <a:xfrm>
            <a:off x="4809744" y="914400"/>
            <a:ext cx="2011680" cy="3977640"/>
          </a:xfrm>
          <a:prstGeom prst="roundRect">
            <a:avLst>
              <a:gd name="adj" fmla="val 4545"/>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42" name="Shape 40"/>
          <p:cNvSpPr/>
          <p:nvPr/>
        </p:nvSpPr>
        <p:spPr>
          <a:xfrm>
            <a:off x="4809744" y="914400"/>
            <a:ext cx="2011680" cy="402336"/>
          </a:xfrm>
          <a:prstGeom prst="roundRect">
            <a:avLst>
              <a:gd name="adj" fmla="val 22727"/>
            </a:avLst>
          </a:prstGeom>
          <a:solidFill>
            <a:srgbClr val="059669"/>
          </a:solidFill>
          <a:ln w="12700">
            <a:solidFill>
              <a:srgbClr val="059669"/>
            </a:solidFill>
            <a:prstDash val="solid"/>
          </a:ln>
        </p:spPr>
        <p:txBody>
          <a:bodyPr/>
          <a:lstStyle/>
          <a:p>
            <a:endParaRPr lang="en-US"/>
          </a:p>
        </p:txBody>
      </p:sp>
      <p:sp>
        <p:nvSpPr>
          <p:cNvPr id="43" name="Text 41"/>
          <p:cNvSpPr/>
          <p:nvPr/>
        </p:nvSpPr>
        <p:spPr>
          <a:xfrm>
            <a:off x="4809744" y="914400"/>
            <a:ext cx="201168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Database</a:t>
            </a:r>
            <a:endParaRPr lang="en-US" sz="1200" dirty="0"/>
          </a:p>
        </p:txBody>
      </p:sp>
      <p:sp>
        <p:nvSpPr>
          <p:cNvPr id="44" name="Text 42"/>
          <p:cNvSpPr/>
          <p:nvPr/>
        </p:nvSpPr>
        <p:spPr>
          <a:xfrm>
            <a:off x="4901184" y="1389888"/>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MySQL</a:t>
            </a:r>
            <a:endParaRPr lang="en-US" sz="900" dirty="0"/>
          </a:p>
        </p:txBody>
      </p:sp>
      <p:sp>
        <p:nvSpPr>
          <p:cNvPr id="45" name="Text 43"/>
          <p:cNvSpPr/>
          <p:nvPr/>
        </p:nvSpPr>
        <p:spPr>
          <a:xfrm>
            <a:off x="4901184" y="1554480"/>
            <a:ext cx="1828800" cy="146304"/>
          </a:xfrm>
          <a:prstGeom prst="rect">
            <a:avLst/>
          </a:prstGeom>
          <a:noFill/>
          <a:ln/>
        </p:spPr>
        <p:txBody>
          <a:bodyPr wrap="square" lIns="0" tIns="0" rIns="0" bIns="0" rtlCol="0" anchor="ctr"/>
          <a:lstStyle/>
          <a:p>
            <a:pPr marL="0" indent="0">
              <a:buNone/>
            </a:pPr>
            <a:r>
              <a:rPr lang="en-US" sz="800" dirty="0">
                <a:solidFill>
                  <a:srgbClr val="059669"/>
                </a:solidFill>
                <a:latin typeface="Calibri" pitchFamily="34" charset="0"/>
                <a:ea typeface="Calibri" pitchFamily="34" charset="-122"/>
                <a:cs typeface="Calibri" pitchFamily="34" charset="-120"/>
              </a:rPr>
              <a:t>8.x</a:t>
            </a:r>
            <a:endParaRPr lang="en-US" sz="800" dirty="0"/>
          </a:p>
        </p:txBody>
      </p:sp>
      <p:sp>
        <p:nvSpPr>
          <p:cNvPr id="46" name="Text 44"/>
          <p:cNvSpPr/>
          <p:nvPr/>
        </p:nvSpPr>
        <p:spPr>
          <a:xfrm>
            <a:off x="4901184" y="1773936"/>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TiDB</a:t>
            </a:r>
            <a:endParaRPr lang="en-US" sz="900" dirty="0"/>
          </a:p>
        </p:txBody>
      </p:sp>
      <p:sp>
        <p:nvSpPr>
          <p:cNvPr id="47" name="Text 45"/>
          <p:cNvSpPr/>
          <p:nvPr/>
        </p:nvSpPr>
        <p:spPr>
          <a:xfrm>
            <a:off x="4901184" y="1938528"/>
            <a:ext cx="1828800" cy="146304"/>
          </a:xfrm>
          <a:prstGeom prst="rect">
            <a:avLst/>
          </a:prstGeom>
          <a:noFill/>
          <a:ln/>
        </p:spPr>
        <p:txBody>
          <a:bodyPr wrap="square" lIns="0" tIns="0" rIns="0" bIns="0" rtlCol="0" anchor="ctr"/>
          <a:lstStyle/>
          <a:p>
            <a:pPr marL="0" indent="0">
              <a:buNone/>
            </a:pPr>
            <a:r>
              <a:rPr lang="en-US" sz="800" dirty="0">
                <a:solidFill>
                  <a:srgbClr val="059669"/>
                </a:solidFill>
                <a:latin typeface="Calibri" pitchFamily="34" charset="0"/>
                <a:ea typeface="Calibri" pitchFamily="34" charset="-122"/>
                <a:cs typeface="Calibri" pitchFamily="34" charset="-120"/>
              </a:rPr>
              <a:t>Compatible</a:t>
            </a:r>
            <a:endParaRPr lang="en-US" sz="800" dirty="0"/>
          </a:p>
        </p:txBody>
      </p:sp>
      <p:sp>
        <p:nvSpPr>
          <p:cNvPr id="48" name="Text 46"/>
          <p:cNvSpPr/>
          <p:nvPr/>
        </p:nvSpPr>
        <p:spPr>
          <a:xfrm>
            <a:off x="4901184" y="2157984"/>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Migrations</a:t>
            </a:r>
            <a:endParaRPr lang="en-US" sz="900" dirty="0"/>
          </a:p>
        </p:txBody>
      </p:sp>
      <p:sp>
        <p:nvSpPr>
          <p:cNvPr id="49" name="Text 47"/>
          <p:cNvSpPr/>
          <p:nvPr/>
        </p:nvSpPr>
        <p:spPr>
          <a:xfrm>
            <a:off x="4901184" y="2322576"/>
            <a:ext cx="1828800" cy="146304"/>
          </a:xfrm>
          <a:prstGeom prst="rect">
            <a:avLst/>
          </a:prstGeom>
          <a:noFill/>
          <a:ln/>
        </p:spPr>
        <p:txBody>
          <a:bodyPr wrap="square" lIns="0" tIns="0" rIns="0" bIns="0" rtlCol="0" anchor="ctr"/>
          <a:lstStyle/>
          <a:p>
            <a:pPr marL="0" indent="0">
              <a:buNone/>
            </a:pPr>
            <a:r>
              <a:rPr lang="en-US" sz="800" dirty="0">
                <a:solidFill>
                  <a:srgbClr val="059669"/>
                </a:solidFill>
                <a:latin typeface="Calibri" pitchFamily="34" charset="0"/>
                <a:ea typeface="Calibri" pitchFamily="34" charset="-122"/>
                <a:cs typeface="Calibri" pitchFamily="34" charset="-120"/>
              </a:rPr>
              <a:t>Sequelize</a:t>
            </a:r>
            <a:endParaRPr lang="en-US" sz="800" dirty="0"/>
          </a:p>
        </p:txBody>
      </p:sp>
      <p:sp>
        <p:nvSpPr>
          <p:cNvPr id="50" name="Text 48"/>
          <p:cNvSpPr/>
          <p:nvPr/>
        </p:nvSpPr>
        <p:spPr>
          <a:xfrm>
            <a:off x="4901184" y="2542032"/>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Transactions</a:t>
            </a:r>
            <a:endParaRPr lang="en-US" sz="900" dirty="0"/>
          </a:p>
        </p:txBody>
      </p:sp>
      <p:sp>
        <p:nvSpPr>
          <p:cNvPr id="51" name="Text 49"/>
          <p:cNvSpPr/>
          <p:nvPr/>
        </p:nvSpPr>
        <p:spPr>
          <a:xfrm>
            <a:off x="4901184" y="2706624"/>
            <a:ext cx="1828800" cy="146304"/>
          </a:xfrm>
          <a:prstGeom prst="rect">
            <a:avLst/>
          </a:prstGeom>
          <a:noFill/>
          <a:ln/>
        </p:spPr>
        <p:txBody>
          <a:bodyPr wrap="square" lIns="0" tIns="0" rIns="0" bIns="0" rtlCol="0" anchor="ctr"/>
          <a:lstStyle/>
          <a:p>
            <a:pPr marL="0" indent="0">
              <a:buNone/>
            </a:pPr>
            <a:r>
              <a:rPr lang="en-US" sz="800" dirty="0">
                <a:solidFill>
                  <a:srgbClr val="059669"/>
                </a:solidFill>
                <a:latin typeface="Calibri" pitchFamily="34" charset="0"/>
                <a:ea typeface="Calibri" pitchFamily="34" charset="-122"/>
                <a:cs typeface="Calibri" pitchFamily="34" charset="-120"/>
              </a:rPr>
              <a:t>Sequelize</a:t>
            </a:r>
            <a:endParaRPr lang="en-US" sz="800" dirty="0"/>
          </a:p>
        </p:txBody>
      </p:sp>
      <p:sp>
        <p:nvSpPr>
          <p:cNvPr id="52" name="Text 50"/>
          <p:cNvSpPr/>
          <p:nvPr/>
        </p:nvSpPr>
        <p:spPr>
          <a:xfrm>
            <a:off x="4901184" y="2926080"/>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FK Constraints</a:t>
            </a:r>
            <a:endParaRPr lang="en-US" sz="900" dirty="0"/>
          </a:p>
        </p:txBody>
      </p:sp>
      <p:sp>
        <p:nvSpPr>
          <p:cNvPr id="53" name="Text 51"/>
          <p:cNvSpPr/>
          <p:nvPr/>
        </p:nvSpPr>
        <p:spPr>
          <a:xfrm>
            <a:off x="4901184" y="3090672"/>
            <a:ext cx="1828800" cy="146304"/>
          </a:xfrm>
          <a:prstGeom prst="rect">
            <a:avLst/>
          </a:prstGeom>
          <a:noFill/>
          <a:ln/>
        </p:spPr>
        <p:txBody>
          <a:bodyPr wrap="square" lIns="0" tIns="0" rIns="0" bIns="0" rtlCol="0" anchor="ctr"/>
          <a:lstStyle/>
          <a:p>
            <a:pPr marL="0" indent="0">
              <a:buNone/>
            </a:pPr>
            <a:r>
              <a:rPr lang="en-US" sz="800" dirty="0">
                <a:solidFill>
                  <a:srgbClr val="059669"/>
                </a:solidFill>
                <a:latin typeface="Calibri" pitchFamily="34" charset="0"/>
                <a:ea typeface="Calibri" pitchFamily="34" charset="-122"/>
                <a:cs typeface="Calibri" pitchFamily="34" charset="-120"/>
              </a:rPr>
              <a:t>InnoDB</a:t>
            </a:r>
            <a:endParaRPr lang="en-US" sz="800" dirty="0"/>
          </a:p>
        </p:txBody>
      </p:sp>
      <p:sp>
        <p:nvSpPr>
          <p:cNvPr id="54" name="Shape 52"/>
          <p:cNvSpPr/>
          <p:nvPr/>
        </p:nvSpPr>
        <p:spPr>
          <a:xfrm>
            <a:off x="6986016" y="914400"/>
            <a:ext cx="2011680" cy="3977640"/>
          </a:xfrm>
          <a:prstGeom prst="roundRect">
            <a:avLst>
              <a:gd name="adj" fmla="val 4545"/>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55" name="Shape 53"/>
          <p:cNvSpPr/>
          <p:nvPr/>
        </p:nvSpPr>
        <p:spPr>
          <a:xfrm>
            <a:off x="6986016" y="914400"/>
            <a:ext cx="2011680" cy="402336"/>
          </a:xfrm>
          <a:prstGeom prst="roundRect">
            <a:avLst>
              <a:gd name="adj" fmla="val 22727"/>
            </a:avLst>
          </a:prstGeom>
          <a:solidFill>
            <a:srgbClr val="7C3AED"/>
          </a:solidFill>
          <a:ln w="12700">
            <a:solidFill>
              <a:srgbClr val="7C3AED"/>
            </a:solidFill>
            <a:prstDash val="solid"/>
          </a:ln>
        </p:spPr>
        <p:txBody>
          <a:bodyPr/>
          <a:lstStyle/>
          <a:p>
            <a:endParaRPr lang="en-US"/>
          </a:p>
        </p:txBody>
      </p:sp>
      <p:sp>
        <p:nvSpPr>
          <p:cNvPr id="56" name="Text 54"/>
          <p:cNvSpPr/>
          <p:nvPr/>
        </p:nvSpPr>
        <p:spPr>
          <a:xfrm>
            <a:off x="6986016" y="914400"/>
            <a:ext cx="201168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Deployment</a:t>
            </a:r>
            <a:endParaRPr lang="en-US" sz="1200" dirty="0"/>
          </a:p>
        </p:txBody>
      </p:sp>
      <p:sp>
        <p:nvSpPr>
          <p:cNvPr id="57" name="Text 55"/>
          <p:cNvSpPr/>
          <p:nvPr/>
        </p:nvSpPr>
        <p:spPr>
          <a:xfrm>
            <a:off x="7077456" y="1389888"/>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Vercel</a:t>
            </a:r>
            <a:endParaRPr lang="en-US" sz="900" dirty="0"/>
          </a:p>
        </p:txBody>
      </p:sp>
      <p:sp>
        <p:nvSpPr>
          <p:cNvPr id="58" name="Text 56"/>
          <p:cNvSpPr/>
          <p:nvPr/>
        </p:nvSpPr>
        <p:spPr>
          <a:xfrm>
            <a:off x="7077456" y="1554480"/>
            <a:ext cx="1828800" cy="146304"/>
          </a:xfrm>
          <a:prstGeom prst="rect">
            <a:avLst/>
          </a:prstGeom>
          <a:noFill/>
          <a:ln/>
        </p:spPr>
        <p:txBody>
          <a:bodyPr wrap="square" lIns="0" tIns="0" rIns="0" bIns="0" rtlCol="0" anchor="ctr"/>
          <a:lstStyle/>
          <a:p>
            <a:pPr marL="0" indent="0">
              <a:buNone/>
            </a:pPr>
            <a:r>
              <a:rPr lang="en-US" sz="800" dirty="0">
                <a:solidFill>
                  <a:srgbClr val="7C3AED"/>
                </a:solidFill>
                <a:latin typeface="Calibri" pitchFamily="34" charset="0"/>
                <a:ea typeface="Calibri" pitchFamily="34" charset="-122"/>
                <a:cs typeface="Calibri" pitchFamily="34" charset="-120"/>
              </a:rPr>
              <a:t>Frontend</a:t>
            </a:r>
            <a:endParaRPr lang="en-US" sz="800" dirty="0"/>
          </a:p>
        </p:txBody>
      </p:sp>
      <p:sp>
        <p:nvSpPr>
          <p:cNvPr id="59" name="Text 57"/>
          <p:cNvSpPr/>
          <p:nvPr/>
        </p:nvSpPr>
        <p:spPr>
          <a:xfrm>
            <a:off x="7077456" y="1773936"/>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Render</a:t>
            </a:r>
            <a:endParaRPr lang="en-US" sz="900" dirty="0"/>
          </a:p>
        </p:txBody>
      </p:sp>
      <p:sp>
        <p:nvSpPr>
          <p:cNvPr id="60" name="Text 58"/>
          <p:cNvSpPr/>
          <p:nvPr/>
        </p:nvSpPr>
        <p:spPr>
          <a:xfrm>
            <a:off x="7077456" y="1938528"/>
            <a:ext cx="1828800" cy="146304"/>
          </a:xfrm>
          <a:prstGeom prst="rect">
            <a:avLst/>
          </a:prstGeom>
          <a:noFill/>
          <a:ln/>
        </p:spPr>
        <p:txBody>
          <a:bodyPr wrap="square" lIns="0" tIns="0" rIns="0" bIns="0" rtlCol="0" anchor="ctr"/>
          <a:lstStyle/>
          <a:p>
            <a:pPr marL="0" indent="0">
              <a:buNone/>
            </a:pPr>
            <a:r>
              <a:rPr lang="en-US" sz="800" dirty="0">
                <a:solidFill>
                  <a:srgbClr val="7C3AED"/>
                </a:solidFill>
                <a:latin typeface="Calibri" pitchFamily="34" charset="0"/>
                <a:ea typeface="Calibri" pitchFamily="34" charset="-122"/>
                <a:cs typeface="Calibri" pitchFamily="34" charset="-120"/>
              </a:rPr>
              <a:t>Backend</a:t>
            </a:r>
            <a:endParaRPr lang="en-US" sz="800" dirty="0"/>
          </a:p>
        </p:txBody>
      </p:sp>
      <p:sp>
        <p:nvSpPr>
          <p:cNvPr id="61" name="Text 59"/>
          <p:cNvSpPr/>
          <p:nvPr/>
        </p:nvSpPr>
        <p:spPr>
          <a:xfrm>
            <a:off x="7077456" y="2157984"/>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dotenv</a:t>
            </a:r>
            <a:endParaRPr lang="en-US" sz="900" dirty="0"/>
          </a:p>
        </p:txBody>
      </p:sp>
      <p:sp>
        <p:nvSpPr>
          <p:cNvPr id="62" name="Text 60"/>
          <p:cNvSpPr/>
          <p:nvPr/>
        </p:nvSpPr>
        <p:spPr>
          <a:xfrm>
            <a:off x="7077456" y="2322576"/>
            <a:ext cx="1828800" cy="146304"/>
          </a:xfrm>
          <a:prstGeom prst="rect">
            <a:avLst/>
          </a:prstGeom>
          <a:noFill/>
          <a:ln/>
        </p:spPr>
        <p:txBody>
          <a:bodyPr wrap="square" lIns="0" tIns="0" rIns="0" bIns="0" rtlCol="0" anchor="ctr"/>
          <a:lstStyle/>
          <a:p>
            <a:pPr marL="0" indent="0">
              <a:buNone/>
            </a:pPr>
            <a:r>
              <a:rPr lang="en-US" sz="800" dirty="0">
                <a:solidFill>
                  <a:srgbClr val="7C3AED"/>
                </a:solidFill>
                <a:latin typeface="Calibri" pitchFamily="34" charset="0"/>
                <a:ea typeface="Calibri" pitchFamily="34" charset="-122"/>
                <a:cs typeface="Calibri" pitchFamily="34" charset="-120"/>
              </a:rPr>
              <a:t>Config</a:t>
            </a:r>
            <a:endParaRPr lang="en-US" sz="800" dirty="0"/>
          </a:p>
        </p:txBody>
      </p:sp>
      <p:sp>
        <p:nvSpPr>
          <p:cNvPr id="63" name="Text 61"/>
          <p:cNvSpPr/>
          <p:nvPr/>
        </p:nvSpPr>
        <p:spPr>
          <a:xfrm>
            <a:off x="7077456" y="2542032"/>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CORS</a:t>
            </a:r>
            <a:endParaRPr lang="en-US" sz="900" dirty="0"/>
          </a:p>
        </p:txBody>
      </p:sp>
      <p:sp>
        <p:nvSpPr>
          <p:cNvPr id="64" name="Text 62"/>
          <p:cNvSpPr/>
          <p:nvPr/>
        </p:nvSpPr>
        <p:spPr>
          <a:xfrm>
            <a:off x="7077456" y="2706624"/>
            <a:ext cx="1828800" cy="146304"/>
          </a:xfrm>
          <a:prstGeom prst="rect">
            <a:avLst/>
          </a:prstGeom>
          <a:noFill/>
          <a:ln/>
        </p:spPr>
        <p:txBody>
          <a:bodyPr wrap="square" lIns="0" tIns="0" rIns="0" bIns="0" rtlCol="0" anchor="ctr"/>
          <a:lstStyle/>
          <a:p>
            <a:pPr marL="0" indent="0">
              <a:buNone/>
            </a:pPr>
            <a:r>
              <a:rPr lang="en-US" sz="800" dirty="0">
                <a:solidFill>
                  <a:srgbClr val="7C3AED"/>
                </a:solidFill>
                <a:latin typeface="Calibri" pitchFamily="34" charset="0"/>
                <a:ea typeface="Calibri" pitchFamily="34" charset="-122"/>
                <a:cs typeface="Calibri" pitchFamily="34" charset="-120"/>
              </a:rPr>
              <a:t>Configured</a:t>
            </a:r>
            <a:endParaRPr lang="en-US" sz="800" dirty="0"/>
          </a:p>
        </p:txBody>
      </p:sp>
      <p:sp>
        <p:nvSpPr>
          <p:cNvPr id="65" name="Text 63"/>
          <p:cNvSpPr/>
          <p:nvPr/>
        </p:nvSpPr>
        <p:spPr>
          <a:xfrm>
            <a:off x="7077456" y="2926080"/>
            <a:ext cx="1005840" cy="16459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ESLint</a:t>
            </a:r>
            <a:endParaRPr lang="en-US" sz="900" dirty="0"/>
          </a:p>
        </p:txBody>
      </p:sp>
      <p:sp>
        <p:nvSpPr>
          <p:cNvPr id="66" name="Text 64"/>
          <p:cNvSpPr/>
          <p:nvPr/>
        </p:nvSpPr>
        <p:spPr>
          <a:xfrm>
            <a:off x="7077456" y="3090672"/>
            <a:ext cx="1828800" cy="146304"/>
          </a:xfrm>
          <a:prstGeom prst="rect">
            <a:avLst/>
          </a:prstGeom>
          <a:noFill/>
          <a:ln/>
        </p:spPr>
        <p:txBody>
          <a:bodyPr wrap="square" lIns="0" tIns="0" rIns="0" bIns="0" rtlCol="0" anchor="ctr"/>
          <a:lstStyle/>
          <a:p>
            <a:pPr marL="0" indent="0">
              <a:buNone/>
            </a:pPr>
            <a:r>
              <a:rPr lang="en-US" sz="800" dirty="0">
                <a:solidFill>
                  <a:srgbClr val="7C3AED"/>
                </a:solidFill>
                <a:latin typeface="Calibri" pitchFamily="34" charset="0"/>
                <a:ea typeface="Calibri" pitchFamily="34" charset="-122"/>
                <a:cs typeface="Calibri" pitchFamily="34" charset="-120"/>
              </a:rPr>
              <a:t>9.x</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PROJECT PLAN</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Development Phases &amp; Milestones</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822960" cy="365760"/>
          </a:xfrm>
          <a:prstGeom prst="roundRect">
            <a:avLst>
              <a:gd name="adj" fmla="val 20000"/>
            </a:avLst>
          </a:prstGeom>
          <a:solidFill>
            <a:srgbClr val="059669"/>
          </a:solidFill>
          <a:ln w="12700">
            <a:solidFill>
              <a:srgbClr val="059669"/>
            </a:solidFill>
            <a:prstDash val="solid"/>
          </a:ln>
        </p:spPr>
        <p:txBody>
          <a:bodyPr/>
          <a:lstStyle/>
          <a:p>
            <a:endParaRPr lang="en-US"/>
          </a:p>
        </p:txBody>
      </p:sp>
      <p:sp>
        <p:nvSpPr>
          <p:cNvPr id="6" name="Text 4"/>
          <p:cNvSpPr/>
          <p:nvPr/>
        </p:nvSpPr>
        <p:spPr>
          <a:xfrm>
            <a:off x="457200" y="914400"/>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7" name="Text 5"/>
          <p:cNvSpPr/>
          <p:nvPr/>
        </p:nvSpPr>
        <p:spPr>
          <a:xfrm>
            <a:off x="1371600" y="932688"/>
            <a:ext cx="914400"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Phase 1</a:t>
            </a:r>
            <a:endParaRPr lang="en-US" sz="900" dirty="0"/>
          </a:p>
        </p:txBody>
      </p:sp>
      <p:sp>
        <p:nvSpPr>
          <p:cNvPr id="8" name="Text 6"/>
          <p:cNvSpPr/>
          <p:nvPr/>
        </p:nvSpPr>
        <p:spPr>
          <a:xfrm>
            <a:off x="1371600" y="1097280"/>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Foundation</a:t>
            </a:r>
            <a:endParaRPr lang="en-US" sz="850" dirty="0"/>
          </a:p>
        </p:txBody>
      </p:sp>
      <p:sp>
        <p:nvSpPr>
          <p:cNvPr id="9" name="Text 7"/>
          <p:cNvSpPr/>
          <p:nvPr/>
        </p:nvSpPr>
        <p:spPr>
          <a:xfrm>
            <a:off x="2834640" y="969264"/>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JWT Auth · Email verification · Role model · React scaffold</a:t>
            </a:r>
            <a:endParaRPr lang="en-US" sz="950" dirty="0"/>
          </a:p>
        </p:txBody>
      </p:sp>
      <p:sp>
        <p:nvSpPr>
          <p:cNvPr id="10" name="Shape 8"/>
          <p:cNvSpPr/>
          <p:nvPr/>
        </p:nvSpPr>
        <p:spPr>
          <a:xfrm>
            <a:off x="457200" y="1362456"/>
            <a:ext cx="822960" cy="365760"/>
          </a:xfrm>
          <a:prstGeom prst="roundRect">
            <a:avLst>
              <a:gd name="adj" fmla="val 20000"/>
            </a:avLst>
          </a:prstGeom>
          <a:solidFill>
            <a:srgbClr val="059669"/>
          </a:solidFill>
          <a:ln w="12700">
            <a:solidFill>
              <a:srgbClr val="059669"/>
            </a:solidFill>
            <a:prstDash val="solid"/>
          </a:ln>
        </p:spPr>
        <p:txBody>
          <a:bodyPr/>
          <a:lstStyle/>
          <a:p>
            <a:endParaRPr lang="en-US"/>
          </a:p>
        </p:txBody>
      </p:sp>
      <p:sp>
        <p:nvSpPr>
          <p:cNvPr id="11" name="Text 9"/>
          <p:cNvSpPr/>
          <p:nvPr/>
        </p:nvSpPr>
        <p:spPr>
          <a:xfrm>
            <a:off x="457200" y="1362456"/>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12" name="Text 10"/>
          <p:cNvSpPr/>
          <p:nvPr/>
        </p:nvSpPr>
        <p:spPr>
          <a:xfrm>
            <a:off x="1371600" y="1380744"/>
            <a:ext cx="914400"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Phase 2</a:t>
            </a:r>
            <a:endParaRPr lang="en-US" sz="900" dirty="0"/>
          </a:p>
        </p:txBody>
      </p:sp>
      <p:sp>
        <p:nvSpPr>
          <p:cNvPr id="13" name="Text 11"/>
          <p:cNvSpPr/>
          <p:nvPr/>
        </p:nvSpPr>
        <p:spPr>
          <a:xfrm>
            <a:off x="1371600" y="1545336"/>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Legacy Auction</a:t>
            </a:r>
            <a:endParaRPr lang="en-US" sz="850" dirty="0"/>
          </a:p>
        </p:txBody>
      </p:sp>
      <p:sp>
        <p:nvSpPr>
          <p:cNvPr id="14" name="Text 12"/>
          <p:cNvSpPr/>
          <p:nvPr/>
        </p:nvSpPr>
        <p:spPr>
          <a:xfrm>
            <a:off x="2834640" y="1417320"/>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Teams · Players · Tournaments · Bids · Basic Socket.IO</a:t>
            </a:r>
            <a:endParaRPr lang="en-US" sz="950" dirty="0"/>
          </a:p>
        </p:txBody>
      </p:sp>
      <p:sp>
        <p:nvSpPr>
          <p:cNvPr id="15" name="Shape 13"/>
          <p:cNvSpPr/>
          <p:nvPr/>
        </p:nvSpPr>
        <p:spPr>
          <a:xfrm>
            <a:off x="457200" y="1810512"/>
            <a:ext cx="822960" cy="365760"/>
          </a:xfrm>
          <a:prstGeom prst="roundRect">
            <a:avLst>
              <a:gd name="adj" fmla="val 20000"/>
            </a:avLst>
          </a:prstGeom>
          <a:solidFill>
            <a:srgbClr val="059669"/>
          </a:solidFill>
          <a:ln w="12700">
            <a:solidFill>
              <a:srgbClr val="059669"/>
            </a:solidFill>
            <a:prstDash val="solid"/>
          </a:ln>
        </p:spPr>
        <p:txBody>
          <a:bodyPr/>
          <a:lstStyle/>
          <a:p>
            <a:endParaRPr lang="en-US"/>
          </a:p>
        </p:txBody>
      </p:sp>
      <p:sp>
        <p:nvSpPr>
          <p:cNvPr id="16" name="Text 14"/>
          <p:cNvSpPr/>
          <p:nvPr/>
        </p:nvSpPr>
        <p:spPr>
          <a:xfrm>
            <a:off x="457200" y="1810512"/>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17" name="Text 15"/>
          <p:cNvSpPr/>
          <p:nvPr/>
        </p:nvSpPr>
        <p:spPr>
          <a:xfrm>
            <a:off x="1371600" y="1828800"/>
            <a:ext cx="914400"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Phase 3</a:t>
            </a:r>
            <a:endParaRPr lang="en-US" sz="900" dirty="0"/>
          </a:p>
        </p:txBody>
      </p:sp>
      <p:sp>
        <p:nvSpPr>
          <p:cNvPr id="18" name="Text 16"/>
          <p:cNvSpPr/>
          <p:nvPr/>
        </p:nvSpPr>
        <p:spPr>
          <a:xfrm>
            <a:off x="1371600" y="1993392"/>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Festival Module</a:t>
            </a:r>
            <a:endParaRPr lang="en-US" sz="850" dirty="0"/>
          </a:p>
        </p:txBody>
      </p:sp>
      <p:sp>
        <p:nvSpPr>
          <p:cNvPr id="19" name="Text 17"/>
          <p:cNvSpPr/>
          <p:nvPr/>
        </p:nvSpPr>
        <p:spPr>
          <a:xfrm>
            <a:off x="2834640" y="1865376"/>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Festival CRUD · Participants · Teams · Owner provisioning · Audit log</a:t>
            </a:r>
            <a:endParaRPr lang="en-US" sz="950" dirty="0"/>
          </a:p>
        </p:txBody>
      </p:sp>
      <p:sp>
        <p:nvSpPr>
          <p:cNvPr id="20" name="Shape 18"/>
          <p:cNvSpPr/>
          <p:nvPr/>
        </p:nvSpPr>
        <p:spPr>
          <a:xfrm>
            <a:off x="457200" y="2258568"/>
            <a:ext cx="822960" cy="365760"/>
          </a:xfrm>
          <a:prstGeom prst="roundRect">
            <a:avLst>
              <a:gd name="adj" fmla="val 20000"/>
            </a:avLst>
          </a:prstGeom>
          <a:solidFill>
            <a:srgbClr val="059669"/>
          </a:solidFill>
          <a:ln w="12700">
            <a:solidFill>
              <a:srgbClr val="059669"/>
            </a:solidFill>
            <a:prstDash val="solid"/>
          </a:ln>
        </p:spPr>
        <p:txBody>
          <a:bodyPr/>
          <a:lstStyle/>
          <a:p>
            <a:endParaRPr lang="en-US"/>
          </a:p>
        </p:txBody>
      </p:sp>
      <p:sp>
        <p:nvSpPr>
          <p:cNvPr id="21" name="Text 19"/>
          <p:cNvSpPr/>
          <p:nvPr/>
        </p:nvSpPr>
        <p:spPr>
          <a:xfrm>
            <a:off x="457200" y="2258568"/>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22" name="Text 20"/>
          <p:cNvSpPr/>
          <p:nvPr/>
        </p:nvSpPr>
        <p:spPr>
          <a:xfrm>
            <a:off x="1371600" y="2276856"/>
            <a:ext cx="914400"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Phase 4A-B</a:t>
            </a:r>
            <a:endParaRPr lang="en-US" sz="900" dirty="0"/>
          </a:p>
        </p:txBody>
      </p:sp>
      <p:sp>
        <p:nvSpPr>
          <p:cNvPr id="23" name="Text 21"/>
          <p:cNvSpPr/>
          <p:nvPr/>
        </p:nvSpPr>
        <p:spPr>
          <a:xfrm>
            <a:off x="1371600" y="2441448"/>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Festival Auction Engine</a:t>
            </a:r>
            <a:endParaRPr lang="en-US" sz="850" dirty="0"/>
          </a:p>
        </p:txBody>
      </p:sp>
      <p:sp>
        <p:nvSpPr>
          <p:cNvPr id="24" name="Text 22"/>
          <p:cNvSpPr/>
          <p:nvPr/>
        </p:nvSpPr>
        <p:spPr>
          <a:xfrm>
            <a:off x="2834640" y="2313432"/>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Auction lifecycle · Bidding · Retentions · Socket.IO rooms · Arena UI</a:t>
            </a:r>
            <a:endParaRPr lang="en-US" sz="950" dirty="0"/>
          </a:p>
        </p:txBody>
      </p:sp>
      <p:sp>
        <p:nvSpPr>
          <p:cNvPr id="25" name="Shape 23"/>
          <p:cNvSpPr/>
          <p:nvPr/>
        </p:nvSpPr>
        <p:spPr>
          <a:xfrm>
            <a:off x="457200" y="2706624"/>
            <a:ext cx="822960" cy="365760"/>
          </a:xfrm>
          <a:prstGeom prst="roundRect">
            <a:avLst>
              <a:gd name="adj" fmla="val 20000"/>
            </a:avLst>
          </a:prstGeom>
          <a:solidFill>
            <a:srgbClr val="059669"/>
          </a:solidFill>
          <a:ln w="12700">
            <a:solidFill>
              <a:srgbClr val="059669"/>
            </a:solidFill>
            <a:prstDash val="solid"/>
          </a:ln>
        </p:spPr>
        <p:txBody>
          <a:bodyPr/>
          <a:lstStyle/>
          <a:p>
            <a:endParaRPr lang="en-US"/>
          </a:p>
        </p:txBody>
      </p:sp>
      <p:sp>
        <p:nvSpPr>
          <p:cNvPr id="26" name="Text 24"/>
          <p:cNvSpPr/>
          <p:nvPr/>
        </p:nvSpPr>
        <p:spPr>
          <a:xfrm>
            <a:off x="457200" y="2706624"/>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27" name="Text 25"/>
          <p:cNvSpPr/>
          <p:nvPr/>
        </p:nvSpPr>
        <p:spPr>
          <a:xfrm>
            <a:off x="1371600" y="2724912"/>
            <a:ext cx="914400"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Phase 4C-D</a:t>
            </a:r>
            <a:endParaRPr lang="en-US" sz="900" dirty="0"/>
          </a:p>
        </p:txBody>
      </p:sp>
      <p:sp>
        <p:nvSpPr>
          <p:cNvPr id="28" name="Text 26"/>
          <p:cNvSpPr/>
          <p:nvPr/>
        </p:nvSpPr>
        <p:spPr>
          <a:xfrm>
            <a:off x="1371600" y="2889504"/>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Festival Polish</a:t>
            </a:r>
            <a:endParaRPr lang="en-US" sz="850" dirty="0"/>
          </a:p>
        </p:txBody>
      </p:sp>
      <p:sp>
        <p:nvSpPr>
          <p:cNvPr id="29" name="Text 27"/>
          <p:cNvSpPr/>
          <p:nvPr/>
        </p:nvSpPr>
        <p:spPr>
          <a:xfrm>
            <a:off x="2834640" y="2761488"/>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Command center · Setup wizard · Readiness check · Config lock · Bug fixes</a:t>
            </a:r>
            <a:endParaRPr lang="en-US" sz="950" dirty="0"/>
          </a:p>
        </p:txBody>
      </p:sp>
      <p:sp>
        <p:nvSpPr>
          <p:cNvPr id="30" name="Shape 28"/>
          <p:cNvSpPr/>
          <p:nvPr/>
        </p:nvSpPr>
        <p:spPr>
          <a:xfrm>
            <a:off x="457200" y="3154680"/>
            <a:ext cx="822960" cy="365760"/>
          </a:xfrm>
          <a:prstGeom prst="roundRect">
            <a:avLst>
              <a:gd name="adj" fmla="val 20000"/>
            </a:avLst>
          </a:prstGeom>
          <a:solidFill>
            <a:srgbClr val="059669"/>
          </a:solidFill>
          <a:ln w="12700">
            <a:solidFill>
              <a:srgbClr val="059669"/>
            </a:solidFill>
            <a:prstDash val="solid"/>
          </a:ln>
        </p:spPr>
        <p:txBody>
          <a:bodyPr/>
          <a:lstStyle/>
          <a:p>
            <a:endParaRPr lang="en-US"/>
          </a:p>
        </p:txBody>
      </p:sp>
      <p:sp>
        <p:nvSpPr>
          <p:cNvPr id="31" name="Text 29"/>
          <p:cNvSpPr/>
          <p:nvPr/>
        </p:nvSpPr>
        <p:spPr>
          <a:xfrm>
            <a:off x="457200" y="3154680"/>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32" name="Text 30"/>
          <p:cNvSpPr/>
          <p:nvPr/>
        </p:nvSpPr>
        <p:spPr>
          <a:xfrm>
            <a:off x="1371600" y="3172968"/>
            <a:ext cx="914400"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Phase 4E</a:t>
            </a:r>
            <a:endParaRPr lang="en-US" sz="900" dirty="0"/>
          </a:p>
        </p:txBody>
      </p:sp>
      <p:sp>
        <p:nvSpPr>
          <p:cNvPr id="33" name="Text 31"/>
          <p:cNvSpPr/>
          <p:nvPr/>
        </p:nvSpPr>
        <p:spPr>
          <a:xfrm>
            <a:off x="1371600" y="3337560"/>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Sport Module</a:t>
            </a:r>
            <a:endParaRPr lang="en-US" sz="850" dirty="0"/>
          </a:p>
        </p:txBody>
      </p:sp>
      <p:sp>
        <p:nvSpPr>
          <p:cNvPr id="34" name="Text 32"/>
          <p:cNvSpPr/>
          <p:nvPr/>
        </p:nvSpPr>
        <p:spPr>
          <a:xfrm>
            <a:off x="2834640" y="3209544"/>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Sport tournament · Teams · Captains · Budgets · Sport auction arena</a:t>
            </a:r>
            <a:endParaRPr lang="en-US" sz="950" dirty="0"/>
          </a:p>
        </p:txBody>
      </p:sp>
      <p:sp>
        <p:nvSpPr>
          <p:cNvPr id="35" name="Shape 33"/>
          <p:cNvSpPr/>
          <p:nvPr/>
        </p:nvSpPr>
        <p:spPr>
          <a:xfrm>
            <a:off x="457200" y="3602736"/>
            <a:ext cx="822960" cy="365760"/>
          </a:xfrm>
          <a:prstGeom prst="roundRect">
            <a:avLst>
              <a:gd name="adj" fmla="val 20000"/>
            </a:avLst>
          </a:prstGeom>
          <a:solidFill>
            <a:srgbClr val="059669"/>
          </a:solidFill>
          <a:ln w="12700">
            <a:solidFill>
              <a:srgbClr val="059669"/>
            </a:solidFill>
            <a:prstDash val="solid"/>
          </a:ln>
        </p:spPr>
        <p:txBody>
          <a:bodyPr/>
          <a:lstStyle/>
          <a:p>
            <a:endParaRPr lang="en-US"/>
          </a:p>
        </p:txBody>
      </p:sp>
      <p:sp>
        <p:nvSpPr>
          <p:cNvPr id="36" name="Text 34"/>
          <p:cNvSpPr/>
          <p:nvPr/>
        </p:nvSpPr>
        <p:spPr>
          <a:xfrm>
            <a:off x="457200" y="3602736"/>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37" name="Text 35"/>
          <p:cNvSpPr/>
          <p:nvPr/>
        </p:nvSpPr>
        <p:spPr>
          <a:xfrm>
            <a:off x="1371600" y="3621024"/>
            <a:ext cx="914400"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Phase 4E+</a:t>
            </a:r>
            <a:endParaRPr lang="en-US" sz="900" dirty="0"/>
          </a:p>
        </p:txBody>
      </p:sp>
      <p:sp>
        <p:nvSpPr>
          <p:cNvPr id="38" name="Text 36"/>
          <p:cNvSpPr/>
          <p:nvPr/>
        </p:nvSpPr>
        <p:spPr>
          <a:xfrm>
            <a:off x="1371600" y="3785616"/>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Product Polish</a:t>
            </a:r>
            <a:endParaRPr lang="en-US" sz="850" dirty="0"/>
          </a:p>
        </p:txBody>
      </p:sp>
      <p:sp>
        <p:nvSpPr>
          <p:cNvPr id="39" name="Text 37"/>
          <p:cNvSpPr/>
          <p:nvPr/>
        </p:nvSpPr>
        <p:spPr>
          <a:xfrm>
            <a:off x="2834640" y="3657600"/>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AuctionDirectory · AuctionHub · Product language audit · AppShell nav</a:t>
            </a:r>
            <a:endParaRPr lang="en-US" sz="950" dirty="0"/>
          </a:p>
        </p:txBody>
      </p:sp>
      <p:sp>
        <p:nvSpPr>
          <p:cNvPr id="40" name="Shape 38"/>
          <p:cNvSpPr/>
          <p:nvPr/>
        </p:nvSpPr>
        <p:spPr>
          <a:xfrm>
            <a:off x="457200" y="4050792"/>
            <a:ext cx="822960" cy="365760"/>
          </a:xfrm>
          <a:prstGeom prst="roundRect">
            <a:avLst>
              <a:gd name="adj" fmla="val 20000"/>
            </a:avLst>
          </a:prstGeom>
          <a:solidFill>
            <a:srgbClr val="F0A030"/>
          </a:solidFill>
          <a:ln w="12700">
            <a:solidFill>
              <a:srgbClr val="F0A030"/>
            </a:solidFill>
            <a:prstDash val="solid"/>
          </a:ln>
        </p:spPr>
        <p:txBody>
          <a:bodyPr/>
          <a:lstStyle/>
          <a:p>
            <a:endParaRPr lang="en-US"/>
          </a:p>
        </p:txBody>
      </p:sp>
      <p:sp>
        <p:nvSpPr>
          <p:cNvPr id="41" name="Text 39"/>
          <p:cNvSpPr/>
          <p:nvPr/>
        </p:nvSpPr>
        <p:spPr>
          <a:xfrm>
            <a:off x="457200" y="4050792"/>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42" name="Text 40"/>
          <p:cNvSpPr/>
          <p:nvPr/>
        </p:nvSpPr>
        <p:spPr>
          <a:xfrm>
            <a:off x="1371600" y="4069080"/>
            <a:ext cx="914400" cy="182880"/>
          </a:xfrm>
          <a:prstGeom prst="rect">
            <a:avLst/>
          </a:prstGeom>
          <a:noFill/>
          <a:ln/>
        </p:spPr>
        <p:txBody>
          <a:bodyPr wrap="square" lIns="0" tIns="0" rIns="0" bIns="0" rtlCol="0" anchor="ctr"/>
          <a:lstStyle/>
          <a:p>
            <a:pPr marL="0" indent="0">
              <a:buNone/>
            </a:pPr>
            <a:r>
              <a:rPr lang="en-US" sz="900" b="1" dirty="0">
                <a:solidFill>
                  <a:srgbClr val="F0A030"/>
                </a:solidFill>
                <a:latin typeface="Calibri" pitchFamily="34" charset="0"/>
                <a:ea typeface="Calibri" pitchFamily="34" charset="-122"/>
                <a:cs typeface="Calibri" pitchFamily="34" charset="-120"/>
              </a:rPr>
              <a:t>Phase 5</a:t>
            </a:r>
            <a:endParaRPr lang="en-US" sz="900" dirty="0"/>
          </a:p>
        </p:txBody>
      </p:sp>
      <p:sp>
        <p:nvSpPr>
          <p:cNvPr id="43" name="Text 41"/>
          <p:cNvSpPr/>
          <p:nvPr/>
        </p:nvSpPr>
        <p:spPr>
          <a:xfrm>
            <a:off x="1371600" y="4233672"/>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Sport Parity</a:t>
            </a:r>
            <a:endParaRPr lang="en-US" sz="850" dirty="0"/>
          </a:p>
        </p:txBody>
      </p:sp>
      <p:sp>
        <p:nvSpPr>
          <p:cNvPr id="44" name="Text 42"/>
          <p:cNvSpPr/>
          <p:nvPr/>
        </p:nvSpPr>
        <p:spPr>
          <a:xfrm>
            <a:off x="2834640" y="4105656"/>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Readiness fetch · Socket reconnect · Revision guard · Results page · Stability</a:t>
            </a:r>
            <a:endParaRPr lang="en-US" sz="950" dirty="0"/>
          </a:p>
        </p:txBody>
      </p:sp>
      <p:sp>
        <p:nvSpPr>
          <p:cNvPr id="45" name="Shape 43"/>
          <p:cNvSpPr/>
          <p:nvPr/>
        </p:nvSpPr>
        <p:spPr>
          <a:xfrm>
            <a:off x="457200" y="4498848"/>
            <a:ext cx="822960" cy="365760"/>
          </a:xfrm>
          <a:prstGeom prst="roundRect">
            <a:avLst>
              <a:gd name="adj" fmla="val 20000"/>
            </a:avLst>
          </a:prstGeom>
          <a:solidFill>
            <a:srgbClr val="64748B"/>
          </a:solidFill>
          <a:ln w="12700">
            <a:solidFill>
              <a:srgbClr val="64748B"/>
            </a:solidFill>
            <a:prstDash val="solid"/>
          </a:ln>
        </p:spPr>
        <p:txBody>
          <a:bodyPr/>
          <a:lstStyle/>
          <a:p>
            <a:endParaRPr lang="en-US"/>
          </a:p>
        </p:txBody>
      </p:sp>
      <p:sp>
        <p:nvSpPr>
          <p:cNvPr id="46" name="Text 44"/>
          <p:cNvSpPr/>
          <p:nvPr/>
        </p:nvSpPr>
        <p:spPr>
          <a:xfrm>
            <a:off x="457200" y="4498848"/>
            <a:ext cx="822960" cy="36576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47" name="Text 45"/>
          <p:cNvSpPr/>
          <p:nvPr/>
        </p:nvSpPr>
        <p:spPr>
          <a:xfrm>
            <a:off x="1371600" y="4517136"/>
            <a:ext cx="914400" cy="18288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M11</a:t>
            </a:r>
            <a:endParaRPr lang="en-US" sz="900" dirty="0"/>
          </a:p>
        </p:txBody>
      </p:sp>
      <p:sp>
        <p:nvSpPr>
          <p:cNvPr id="48" name="Text 46"/>
          <p:cNvSpPr/>
          <p:nvPr/>
        </p:nvSpPr>
        <p:spPr>
          <a:xfrm>
            <a:off x="1371600" y="4681728"/>
            <a:ext cx="137160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Production Hardening</a:t>
            </a:r>
            <a:endParaRPr lang="en-US" sz="850" dirty="0"/>
          </a:p>
        </p:txBody>
      </p:sp>
      <p:sp>
        <p:nvSpPr>
          <p:cNvPr id="49" name="Text 47"/>
          <p:cNvSpPr/>
          <p:nvPr/>
        </p:nvSpPr>
        <p:spPr>
          <a:xfrm>
            <a:off x="2834640" y="4553712"/>
            <a:ext cx="60350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Socket auth · Rate limiting · HTTPS cookies · Structured logging · Auto tests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ENGINEERING PRACTICES</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Source Code &amp; Repository Quality</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2651760" cy="914400"/>
          </a:xfrm>
          <a:prstGeom prst="roundRect">
            <a:avLst>
              <a:gd name="adj" fmla="val 10000"/>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457200" y="987552"/>
            <a:ext cx="2651760" cy="457200"/>
          </a:xfrm>
          <a:prstGeom prst="rect">
            <a:avLst/>
          </a:prstGeom>
          <a:noFill/>
          <a:ln/>
        </p:spPr>
        <p:txBody>
          <a:bodyPr wrap="square" lIns="0" tIns="0" rIns="0" bIns="0" rtlCol="0" anchor="ctr"/>
          <a:lstStyle/>
          <a:p>
            <a:pPr marL="0" indent="0" algn="ctr">
              <a:buNone/>
            </a:pPr>
            <a:r>
              <a:rPr lang="en-US" sz="3000" b="1" dirty="0">
                <a:solidFill>
                  <a:srgbClr val="1E3A8A"/>
                </a:solidFill>
                <a:latin typeface="Cambria" pitchFamily="34" charset="0"/>
                <a:ea typeface="Cambria" pitchFamily="34" charset="-122"/>
                <a:cs typeface="Cambria" pitchFamily="34" charset="-120"/>
              </a:rPr>
              <a:t>235+</a:t>
            </a:r>
            <a:endParaRPr lang="en-US" sz="3000" dirty="0"/>
          </a:p>
        </p:txBody>
      </p:sp>
      <p:sp>
        <p:nvSpPr>
          <p:cNvPr id="7" name="Text 5"/>
          <p:cNvSpPr/>
          <p:nvPr/>
        </p:nvSpPr>
        <p:spPr>
          <a:xfrm>
            <a:off x="457200" y="1463040"/>
            <a:ext cx="2651760" cy="292608"/>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Source Files</a:t>
            </a:r>
            <a:endParaRPr lang="en-US" sz="1100" dirty="0"/>
          </a:p>
        </p:txBody>
      </p:sp>
      <p:sp>
        <p:nvSpPr>
          <p:cNvPr id="8" name="Shape 6"/>
          <p:cNvSpPr/>
          <p:nvPr/>
        </p:nvSpPr>
        <p:spPr>
          <a:xfrm>
            <a:off x="3246120" y="914400"/>
            <a:ext cx="2651760" cy="914400"/>
          </a:xfrm>
          <a:prstGeom prst="roundRect">
            <a:avLst>
              <a:gd name="adj" fmla="val 10000"/>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9" name="Text 7"/>
          <p:cNvSpPr/>
          <p:nvPr/>
        </p:nvSpPr>
        <p:spPr>
          <a:xfrm>
            <a:off x="3246120" y="987552"/>
            <a:ext cx="2651760" cy="457200"/>
          </a:xfrm>
          <a:prstGeom prst="rect">
            <a:avLst/>
          </a:prstGeom>
          <a:noFill/>
          <a:ln/>
        </p:spPr>
        <p:txBody>
          <a:bodyPr wrap="square" lIns="0" tIns="0" rIns="0" bIns="0" rtlCol="0" anchor="ctr"/>
          <a:lstStyle/>
          <a:p>
            <a:pPr marL="0" indent="0" algn="ctr">
              <a:buNone/>
            </a:pPr>
            <a:r>
              <a:rPr lang="en-US" sz="3000" b="1" dirty="0">
                <a:solidFill>
                  <a:srgbClr val="1E3A8A"/>
                </a:solidFill>
                <a:latin typeface="Cambria" pitchFamily="34" charset="0"/>
                <a:ea typeface="Cambria" pitchFamily="34" charset="-122"/>
                <a:cs typeface="Cambria" pitchFamily="34" charset="-120"/>
              </a:rPr>
              <a:t>20+</a:t>
            </a:r>
            <a:endParaRPr lang="en-US" sz="3000" dirty="0"/>
          </a:p>
        </p:txBody>
      </p:sp>
      <p:sp>
        <p:nvSpPr>
          <p:cNvPr id="10" name="Text 8"/>
          <p:cNvSpPr/>
          <p:nvPr/>
        </p:nvSpPr>
        <p:spPr>
          <a:xfrm>
            <a:off x="3246120" y="1463040"/>
            <a:ext cx="2651760" cy="292608"/>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React Pages</a:t>
            </a:r>
            <a:endParaRPr lang="en-US" sz="1100" dirty="0"/>
          </a:p>
        </p:txBody>
      </p:sp>
      <p:sp>
        <p:nvSpPr>
          <p:cNvPr id="11" name="Shape 9"/>
          <p:cNvSpPr/>
          <p:nvPr/>
        </p:nvSpPr>
        <p:spPr>
          <a:xfrm>
            <a:off x="6035040" y="914400"/>
            <a:ext cx="2651760" cy="914400"/>
          </a:xfrm>
          <a:prstGeom prst="roundRect">
            <a:avLst>
              <a:gd name="adj" fmla="val 10000"/>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2" name="Text 10"/>
          <p:cNvSpPr/>
          <p:nvPr/>
        </p:nvSpPr>
        <p:spPr>
          <a:xfrm>
            <a:off x="6035040" y="987552"/>
            <a:ext cx="2651760" cy="457200"/>
          </a:xfrm>
          <a:prstGeom prst="rect">
            <a:avLst/>
          </a:prstGeom>
          <a:noFill/>
          <a:ln/>
        </p:spPr>
        <p:txBody>
          <a:bodyPr wrap="square" lIns="0" tIns="0" rIns="0" bIns="0" rtlCol="0" anchor="ctr"/>
          <a:lstStyle/>
          <a:p>
            <a:pPr marL="0" indent="0" algn="ctr">
              <a:buNone/>
            </a:pPr>
            <a:r>
              <a:rPr lang="en-US" sz="3000" b="1" dirty="0">
                <a:solidFill>
                  <a:srgbClr val="1E3A8A"/>
                </a:solidFill>
                <a:latin typeface="Cambria" pitchFamily="34" charset="0"/>
                <a:ea typeface="Cambria" pitchFamily="34" charset="-122"/>
                <a:cs typeface="Cambria" pitchFamily="34" charset="-120"/>
              </a:rPr>
              <a:t>50+</a:t>
            </a:r>
            <a:endParaRPr lang="en-US" sz="3000" dirty="0"/>
          </a:p>
        </p:txBody>
      </p:sp>
      <p:sp>
        <p:nvSpPr>
          <p:cNvPr id="13" name="Text 11"/>
          <p:cNvSpPr/>
          <p:nvPr/>
        </p:nvSpPr>
        <p:spPr>
          <a:xfrm>
            <a:off x="6035040" y="1463040"/>
            <a:ext cx="2651760" cy="292608"/>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React Components</a:t>
            </a:r>
            <a:endParaRPr lang="en-US" sz="1100" dirty="0"/>
          </a:p>
        </p:txBody>
      </p:sp>
      <p:sp>
        <p:nvSpPr>
          <p:cNvPr id="14" name="Shape 12"/>
          <p:cNvSpPr/>
          <p:nvPr/>
        </p:nvSpPr>
        <p:spPr>
          <a:xfrm>
            <a:off x="457200" y="1965960"/>
            <a:ext cx="2651760" cy="914400"/>
          </a:xfrm>
          <a:prstGeom prst="roundRect">
            <a:avLst>
              <a:gd name="adj" fmla="val 10000"/>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5" name="Text 13"/>
          <p:cNvSpPr/>
          <p:nvPr/>
        </p:nvSpPr>
        <p:spPr>
          <a:xfrm>
            <a:off x="457200" y="2039112"/>
            <a:ext cx="2651760" cy="457200"/>
          </a:xfrm>
          <a:prstGeom prst="rect">
            <a:avLst/>
          </a:prstGeom>
          <a:noFill/>
          <a:ln/>
        </p:spPr>
        <p:txBody>
          <a:bodyPr wrap="square" lIns="0" tIns="0" rIns="0" bIns="0" rtlCol="0" anchor="ctr"/>
          <a:lstStyle/>
          <a:p>
            <a:pPr marL="0" indent="0" algn="ctr">
              <a:buNone/>
            </a:pPr>
            <a:r>
              <a:rPr lang="en-US" sz="3000" b="1" dirty="0">
                <a:solidFill>
                  <a:srgbClr val="1E3A8A"/>
                </a:solidFill>
                <a:latin typeface="Cambria" pitchFamily="34" charset="0"/>
                <a:ea typeface="Cambria" pitchFamily="34" charset="-122"/>
                <a:cs typeface="Cambria" pitchFamily="34" charset="-120"/>
              </a:rPr>
              <a:t>35+</a:t>
            </a:r>
            <a:endParaRPr lang="en-US" sz="3000" dirty="0"/>
          </a:p>
        </p:txBody>
      </p:sp>
      <p:sp>
        <p:nvSpPr>
          <p:cNvPr id="16" name="Text 14"/>
          <p:cNvSpPr/>
          <p:nvPr/>
        </p:nvSpPr>
        <p:spPr>
          <a:xfrm>
            <a:off x="457200" y="2514600"/>
            <a:ext cx="2651760" cy="292608"/>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Sequelize Models</a:t>
            </a:r>
            <a:endParaRPr lang="en-US" sz="1100" dirty="0"/>
          </a:p>
        </p:txBody>
      </p:sp>
      <p:sp>
        <p:nvSpPr>
          <p:cNvPr id="17" name="Shape 15"/>
          <p:cNvSpPr/>
          <p:nvPr/>
        </p:nvSpPr>
        <p:spPr>
          <a:xfrm>
            <a:off x="3246120" y="1965960"/>
            <a:ext cx="2651760" cy="914400"/>
          </a:xfrm>
          <a:prstGeom prst="roundRect">
            <a:avLst>
              <a:gd name="adj" fmla="val 10000"/>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8" name="Text 16"/>
          <p:cNvSpPr/>
          <p:nvPr/>
        </p:nvSpPr>
        <p:spPr>
          <a:xfrm>
            <a:off x="3246120" y="2039112"/>
            <a:ext cx="2651760" cy="457200"/>
          </a:xfrm>
          <a:prstGeom prst="rect">
            <a:avLst/>
          </a:prstGeom>
          <a:noFill/>
          <a:ln/>
        </p:spPr>
        <p:txBody>
          <a:bodyPr wrap="square" lIns="0" tIns="0" rIns="0" bIns="0" rtlCol="0" anchor="ctr"/>
          <a:lstStyle/>
          <a:p>
            <a:pPr marL="0" indent="0" algn="ctr">
              <a:buNone/>
            </a:pPr>
            <a:r>
              <a:rPr lang="en-US" sz="3000" b="1" dirty="0">
                <a:solidFill>
                  <a:srgbClr val="1E3A8A"/>
                </a:solidFill>
                <a:latin typeface="Cambria" pitchFamily="34" charset="0"/>
                <a:ea typeface="Cambria" pitchFamily="34" charset="-122"/>
                <a:cs typeface="Cambria" pitchFamily="34" charset="-120"/>
              </a:rPr>
              <a:t>90+</a:t>
            </a:r>
            <a:endParaRPr lang="en-US" sz="3000" dirty="0"/>
          </a:p>
        </p:txBody>
      </p:sp>
      <p:sp>
        <p:nvSpPr>
          <p:cNvPr id="19" name="Text 17"/>
          <p:cNvSpPr/>
          <p:nvPr/>
        </p:nvSpPr>
        <p:spPr>
          <a:xfrm>
            <a:off x="3246120" y="2514600"/>
            <a:ext cx="2651760" cy="292608"/>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REST Endpoints</a:t>
            </a:r>
            <a:endParaRPr lang="en-US" sz="1100" dirty="0"/>
          </a:p>
        </p:txBody>
      </p:sp>
      <p:sp>
        <p:nvSpPr>
          <p:cNvPr id="20" name="Shape 18"/>
          <p:cNvSpPr/>
          <p:nvPr/>
        </p:nvSpPr>
        <p:spPr>
          <a:xfrm>
            <a:off x="6035040" y="1965960"/>
            <a:ext cx="2651760" cy="914400"/>
          </a:xfrm>
          <a:prstGeom prst="roundRect">
            <a:avLst>
              <a:gd name="adj" fmla="val 10000"/>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1" name="Text 19"/>
          <p:cNvSpPr/>
          <p:nvPr/>
        </p:nvSpPr>
        <p:spPr>
          <a:xfrm>
            <a:off x="6035040" y="2039112"/>
            <a:ext cx="2651760" cy="457200"/>
          </a:xfrm>
          <a:prstGeom prst="rect">
            <a:avLst/>
          </a:prstGeom>
          <a:noFill/>
          <a:ln/>
        </p:spPr>
        <p:txBody>
          <a:bodyPr wrap="square" lIns="0" tIns="0" rIns="0" bIns="0" rtlCol="0" anchor="ctr"/>
          <a:lstStyle/>
          <a:p>
            <a:pPr marL="0" indent="0" algn="ctr">
              <a:buNone/>
            </a:pPr>
            <a:r>
              <a:rPr lang="en-US" sz="3000" b="1" dirty="0">
                <a:solidFill>
                  <a:srgbClr val="1E3A8A"/>
                </a:solidFill>
                <a:latin typeface="Cambria" pitchFamily="34" charset="0"/>
                <a:ea typeface="Cambria" pitchFamily="34" charset="-122"/>
                <a:cs typeface="Cambria" pitchFamily="34" charset="-120"/>
              </a:rPr>
              <a:t>50+</a:t>
            </a:r>
            <a:endParaRPr lang="en-US" sz="3000" dirty="0"/>
          </a:p>
        </p:txBody>
      </p:sp>
      <p:sp>
        <p:nvSpPr>
          <p:cNvPr id="22" name="Text 20"/>
          <p:cNvSpPr/>
          <p:nvPr/>
        </p:nvSpPr>
        <p:spPr>
          <a:xfrm>
            <a:off x="6035040" y="2514600"/>
            <a:ext cx="2651760" cy="292608"/>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Documentation Files</a:t>
            </a:r>
            <a:endParaRPr lang="en-US" sz="1100" dirty="0"/>
          </a:p>
        </p:txBody>
      </p:sp>
      <p:sp>
        <p:nvSpPr>
          <p:cNvPr id="23" name="Shape 21"/>
          <p:cNvSpPr/>
          <p:nvPr/>
        </p:nvSpPr>
        <p:spPr>
          <a:xfrm>
            <a:off x="457200" y="3108960"/>
            <a:ext cx="2651760" cy="896112"/>
          </a:xfrm>
          <a:prstGeom prst="roundRect">
            <a:avLst>
              <a:gd name="adj" fmla="val 10204"/>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4" name="Text 22"/>
          <p:cNvSpPr/>
          <p:nvPr/>
        </p:nvSpPr>
        <p:spPr>
          <a:xfrm>
            <a:off x="594360" y="3200400"/>
            <a:ext cx="237744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ES Modules</a:t>
            </a:r>
            <a:endParaRPr lang="en-US" sz="1100" dirty="0"/>
          </a:p>
        </p:txBody>
      </p:sp>
      <p:sp>
        <p:nvSpPr>
          <p:cNvPr id="25" name="Text 23"/>
          <p:cNvSpPr/>
          <p:nvPr/>
        </p:nvSpPr>
        <p:spPr>
          <a:xfrm>
            <a:off x="594360" y="3438144"/>
            <a:ext cx="2377440" cy="50292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Backend uses ES module syntax throughout — no require() calls in source.</a:t>
            </a:r>
            <a:endParaRPr lang="en-US" sz="950" dirty="0"/>
          </a:p>
        </p:txBody>
      </p:sp>
      <p:sp>
        <p:nvSpPr>
          <p:cNvPr id="26" name="Shape 24"/>
          <p:cNvSpPr/>
          <p:nvPr/>
        </p:nvSpPr>
        <p:spPr>
          <a:xfrm>
            <a:off x="3246120" y="3108960"/>
            <a:ext cx="2651760" cy="896112"/>
          </a:xfrm>
          <a:prstGeom prst="roundRect">
            <a:avLst>
              <a:gd name="adj" fmla="val 10204"/>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7" name="Text 25"/>
          <p:cNvSpPr/>
          <p:nvPr/>
        </p:nvSpPr>
        <p:spPr>
          <a:xfrm>
            <a:off x="3383280" y="3200400"/>
            <a:ext cx="237744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Zod Validation</a:t>
            </a:r>
            <a:endParaRPr lang="en-US" sz="1100" dirty="0"/>
          </a:p>
        </p:txBody>
      </p:sp>
      <p:sp>
        <p:nvSpPr>
          <p:cNvPr id="28" name="Text 26"/>
          <p:cNvSpPr/>
          <p:nvPr/>
        </p:nvSpPr>
        <p:spPr>
          <a:xfrm>
            <a:off x="3383280" y="3438144"/>
            <a:ext cx="2377440" cy="50292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All API request bodies validated with Zod schemas at the route layer.</a:t>
            </a:r>
            <a:endParaRPr lang="en-US" sz="950" dirty="0"/>
          </a:p>
        </p:txBody>
      </p:sp>
      <p:sp>
        <p:nvSpPr>
          <p:cNvPr id="29" name="Shape 27"/>
          <p:cNvSpPr/>
          <p:nvPr/>
        </p:nvSpPr>
        <p:spPr>
          <a:xfrm>
            <a:off x="6035040" y="3108960"/>
            <a:ext cx="2651760" cy="896112"/>
          </a:xfrm>
          <a:prstGeom prst="roundRect">
            <a:avLst>
              <a:gd name="adj" fmla="val 10204"/>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0" name="Text 28"/>
          <p:cNvSpPr/>
          <p:nvPr/>
        </p:nvSpPr>
        <p:spPr>
          <a:xfrm>
            <a:off x="6172200" y="3200400"/>
            <a:ext cx="237744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Transaction Safety</a:t>
            </a:r>
            <a:endParaRPr lang="en-US" sz="1100" dirty="0"/>
          </a:p>
        </p:txBody>
      </p:sp>
      <p:sp>
        <p:nvSpPr>
          <p:cNvPr id="31" name="Text 29"/>
          <p:cNvSpPr/>
          <p:nvPr/>
        </p:nvSpPr>
        <p:spPr>
          <a:xfrm>
            <a:off x="6172200" y="3438144"/>
            <a:ext cx="2377440" cy="50292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All bid writes and auction state changes wrapped in Sequelize transactions.</a:t>
            </a:r>
            <a:endParaRPr lang="en-US" sz="950" dirty="0"/>
          </a:p>
        </p:txBody>
      </p:sp>
      <p:sp>
        <p:nvSpPr>
          <p:cNvPr id="32" name="Shape 30"/>
          <p:cNvSpPr/>
          <p:nvPr/>
        </p:nvSpPr>
        <p:spPr>
          <a:xfrm>
            <a:off x="457200" y="4096512"/>
            <a:ext cx="2651760" cy="896112"/>
          </a:xfrm>
          <a:prstGeom prst="roundRect">
            <a:avLst>
              <a:gd name="adj" fmla="val 10204"/>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3" name="Text 31"/>
          <p:cNvSpPr/>
          <p:nvPr/>
        </p:nvSpPr>
        <p:spPr>
          <a:xfrm>
            <a:off x="594360" y="4187952"/>
            <a:ext cx="237744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Audit Logging</a:t>
            </a:r>
            <a:endParaRPr lang="en-US" sz="1100" dirty="0"/>
          </a:p>
        </p:txBody>
      </p:sp>
      <p:sp>
        <p:nvSpPr>
          <p:cNvPr id="34" name="Text 32"/>
          <p:cNvSpPr/>
          <p:nvPr/>
        </p:nvSpPr>
        <p:spPr>
          <a:xfrm>
            <a:off x="594360" y="4425696"/>
            <a:ext cx="2377440" cy="50292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FestivalOperationAudit and SportOperationAudit track admin actions.</a:t>
            </a:r>
            <a:endParaRPr lang="en-US" sz="950" dirty="0"/>
          </a:p>
        </p:txBody>
      </p:sp>
      <p:sp>
        <p:nvSpPr>
          <p:cNvPr id="35" name="Shape 33"/>
          <p:cNvSpPr/>
          <p:nvPr/>
        </p:nvSpPr>
        <p:spPr>
          <a:xfrm>
            <a:off x="3246120" y="4096512"/>
            <a:ext cx="2651760" cy="896112"/>
          </a:xfrm>
          <a:prstGeom prst="roundRect">
            <a:avLst>
              <a:gd name="adj" fmla="val 10204"/>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6" name="Text 34"/>
          <p:cNvSpPr/>
          <p:nvPr/>
        </p:nvSpPr>
        <p:spPr>
          <a:xfrm>
            <a:off x="3383280" y="4187952"/>
            <a:ext cx="237744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Revision Guards</a:t>
            </a:r>
            <a:endParaRPr lang="en-US" sz="1100" dirty="0"/>
          </a:p>
        </p:txBody>
      </p:sp>
      <p:sp>
        <p:nvSpPr>
          <p:cNvPr id="37" name="Text 35"/>
          <p:cNvSpPr/>
          <p:nvPr/>
        </p:nvSpPr>
        <p:spPr>
          <a:xfrm>
            <a:off x="3383280" y="4425696"/>
            <a:ext cx="2377440" cy="50292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shouldApplyAuctionSnapshot() prevents stale socket payloads overwriting state.</a:t>
            </a:r>
            <a:endParaRPr lang="en-US" sz="950" dirty="0"/>
          </a:p>
        </p:txBody>
      </p:sp>
      <p:sp>
        <p:nvSpPr>
          <p:cNvPr id="38" name="Shape 36"/>
          <p:cNvSpPr/>
          <p:nvPr/>
        </p:nvSpPr>
        <p:spPr>
          <a:xfrm>
            <a:off x="6035040" y="4096512"/>
            <a:ext cx="2651760" cy="896112"/>
          </a:xfrm>
          <a:prstGeom prst="roundRect">
            <a:avLst>
              <a:gd name="adj" fmla="val 10204"/>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9" name="Text 37"/>
          <p:cNvSpPr/>
          <p:nvPr/>
        </p:nvSpPr>
        <p:spPr>
          <a:xfrm>
            <a:off x="6172200" y="4187952"/>
            <a:ext cx="237744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Component Reuse</a:t>
            </a:r>
            <a:endParaRPr lang="en-US" sz="1100" dirty="0"/>
          </a:p>
        </p:txBody>
      </p:sp>
      <p:sp>
        <p:nvSpPr>
          <p:cNvPr id="40" name="Text 38"/>
          <p:cNvSpPr/>
          <p:nvPr/>
        </p:nvSpPr>
        <p:spPr>
          <a:xfrm>
            <a:off x="6172200" y="4425696"/>
            <a:ext cx="2377440" cy="502920"/>
          </a:xfrm>
          <a:prstGeom prst="rect">
            <a:avLst/>
          </a:prstGeom>
          <a:noFill/>
          <a:ln/>
        </p:spPr>
        <p:txBody>
          <a:bodyPr wrap="square" lIns="0" tIns="0" rIns="0" bIns="0"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Festival and Sport arenas share sub-component patterns; auctionStages.js is shared.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AI-ASSISTED DEVELOPMENT</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AI Usage &amp; Development Metrics</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2651760" cy="2423160"/>
          </a:xfrm>
          <a:prstGeom prst="roundRect">
            <a:avLst>
              <a:gd name="adj" fmla="val 3774"/>
            </a:avLst>
          </a:prstGeom>
          <a:solidFill>
            <a:srgbClr val="EEF2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457200" y="914400"/>
            <a:ext cx="2651760" cy="347472"/>
          </a:xfrm>
          <a:prstGeom prst="roundRect">
            <a:avLst>
              <a:gd name="adj" fmla="val 26316"/>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457200" y="91440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Claude Code  ·  Anthropic</a:t>
            </a:r>
            <a:endParaRPr lang="en-US" sz="1100" dirty="0"/>
          </a:p>
        </p:txBody>
      </p:sp>
      <p:sp>
        <p:nvSpPr>
          <p:cNvPr id="8" name="Text 6"/>
          <p:cNvSpPr/>
          <p:nvPr/>
        </p:nvSpPr>
        <p:spPr>
          <a:xfrm>
            <a:off x="594360" y="133502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Feature implementation</a:t>
            </a:r>
            <a:endParaRPr lang="en-US" sz="950" dirty="0"/>
          </a:p>
        </p:txBody>
      </p:sp>
      <p:sp>
        <p:nvSpPr>
          <p:cNvPr id="9" name="Text 7"/>
          <p:cNvSpPr/>
          <p:nvPr/>
        </p:nvSpPr>
        <p:spPr>
          <a:xfrm>
            <a:off x="594360" y="165506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Architecture design</a:t>
            </a:r>
            <a:endParaRPr lang="en-US" sz="950" dirty="0"/>
          </a:p>
        </p:txBody>
      </p:sp>
      <p:sp>
        <p:nvSpPr>
          <p:cNvPr id="10" name="Text 8"/>
          <p:cNvSpPr/>
          <p:nvPr/>
        </p:nvSpPr>
        <p:spPr>
          <a:xfrm>
            <a:off x="594360" y="197510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Code generation &amp; review</a:t>
            </a:r>
            <a:endParaRPr lang="en-US" sz="950" dirty="0"/>
          </a:p>
        </p:txBody>
      </p:sp>
      <p:sp>
        <p:nvSpPr>
          <p:cNvPr id="11" name="Text 9"/>
          <p:cNvSpPr/>
          <p:nvPr/>
        </p:nvSpPr>
        <p:spPr>
          <a:xfrm>
            <a:off x="594360" y="229514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Product audits &amp; UX review</a:t>
            </a:r>
            <a:endParaRPr lang="en-US" sz="950" dirty="0"/>
          </a:p>
        </p:txBody>
      </p:sp>
      <p:sp>
        <p:nvSpPr>
          <p:cNvPr id="12" name="Text 10"/>
          <p:cNvSpPr/>
          <p:nvPr/>
        </p:nvSpPr>
        <p:spPr>
          <a:xfrm>
            <a:off x="594360" y="261518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Documentation generation</a:t>
            </a:r>
            <a:endParaRPr lang="en-US" sz="950" dirty="0"/>
          </a:p>
        </p:txBody>
      </p:sp>
      <p:sp>
        <p:nvSpPr>
          <p:cNvPr id="13" name="Text 11"/>
          <p:cNvSpPr/>
          <p:nvPr/>
        </p:nvSpPr>
        <p:spPr>
          <a:xfrm>
            <a:off x="594360" y="293522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Security reviews</a:t>
            </a:r>
            <a:endParaRPr lang="en-US" sz="950" dirty="0"/>
          </a:p>
        </p:txBody>
      </p:sp>
      <p:sp>
        <p:nvSpPr>
          <p:cNvPr id="14" name="Shape 12"/>
          <p:cNvSpPr/>
          <p:nvPr/>
        </p:nvSpPr>
        <p:spPr>
          <a:xfrm>
            <a:off x="3246120" y="914400"/>
            <a:ext cx="2651760" cy="2423160"/>
          </a:xfrm>
          <a:prstGeom prst="roundRect">
            <a:avLst>
              <a:gd name="adj" fmla="val 3774"/>
            </a:avLst>
          </a:prstGeom>
          <a:solidFill>
            <a:srgbClr val="F0FDFA"/>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5" name="Shape 13"/>
          <p:cNvSpPr/>
          <p:nvPr/>
        </p:nvSpPr>
        <p:spPr>
          <a:xfrm>
            <a:off x="3246120" y="914400"/>
            <a:ext cx="2651760" cy="347472"/>
          </a:xfrm>
          <a:prstGeom prst="roundRect">
            <a:avLst>
              <a:gd name="adj" fmla="val 26316"/>
            </a:avLst>
          </a:prstGeom>
          <a:solidFill>
            <a:srgbClr val="0891B2"/>
          </a:solidFill>
          <a:ln w="12700">
            <a:solidFill>
              <a:srgbClr val="0891B2"/>
            </a:solidFill>
            <a:prstDash val="solid"/>
          </a:ln>
        </p:spPr>
        <p:txBody>
          <a:bodyPr/>
          <a:lstStyle/>
          <a:p>
            <a:endParaRPr lang="en-US"/>
          </a:p>
        </p:txBody>
      </p:sp>
      <p:sp>
        <p:nvSpPr>
          <p:cNvPr id="16" name="Text 14"/>
          <p:cNvSpPr/>
          <p:nvPr/>
        </p:nvSpPr>
        <p:spPr>
          <a:xfrm>
            <a:off x="3246120" y="91440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ChatGPT  ·  OpenAI</a:t>
            </a:r>
            <a:endParaRPr lang="en-US" sz="1100" dirty="0"/>
          </a:p>
        </p:txBody>
      </p:sp>
      <p:sp>
        <p:nvSpPr>
          <p:cNvPr id="17" name="Text 15"/>
          <p:cNvSpPr/>
          <p:nvPr/>
        </p:nvSpPr>
        <p:spPr>
          <a:xfrm>
            <a:off x="3383280" y="133502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System design consultation</a:t>
            </a:r>
            <a:endParaRPr lang="en-US" sz="950" dirty="0"/>
          </a:p>
        </p:txBody>
      </p:sp>
      <p:sp>
        <p:nvSpPr>
          <p:cNvPr id="18" name="Text 16"/>
          <p:cNvSpPr/>
          <p:nvPr/>
        </p:nvSpPr>
        <p:spPr>
          <a:xfrm>
            <a:off x="3383280" y="165506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Technical troubleshooting</a:t>
            </a:r>
            <a:endParaRPr lang="en-US" sz="950" dirty="0"/>
          </a:p>
        </p:txBody>
      </p:sp>
      <p:sp>
        <p:nvSpPr>
          <p:cNvPr id="19" name="Text 17"/>
          <p:cNvSpPr/>
          <p:nvPr/>
        </p:nvSpPr>
        <p:spPr>
          <a:xfrm>
            <a:off x="3383280" y="197510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Database design validation</a:t>
            </a:r>
            <a:endParaRPr lang="en-US" sz="950" dirty="0"/>
          </a:p>
        </p:txBody>
      </p:sp>
      <p:sp>
        <p:nvSpPr>
          <p:cNvPr id="20" name="Text 18"/>
          <p:cNvSpPr/>
          <p:nvPr/>
        </p:nvSpPr>
        <p:spPr>
          <a:xfrm>
            <a:off x="3383280" y="229514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Deployment guidance</a:t>
            </a:r>
            <a:endParaRPr lang="en-US" sz="950" dirty="0"/>
          </a:p>
        </p:txBody>
      </p:sp>
      <p:sp>
        <p:nvSpPr>
          <p:cNvPr id="21" name="Text 19"/>
          <p:cNvSpPr/>
          <p:nvPr/>
        </p:nvSpPr>
        <p:spPr>
          <a:xfrm>
            <a:off x="3383280" y="261518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Performance optimization</a:t>
            </a:r>
            <a:endParaRPr lang="en-US" sz="950" dirty="0"/>
          </a:p>
        </p:txBody>
      </p:sp>
      <p:sp>
        <p:nvSpPr>
          <p:cNvPr id="22" name="Text 20"/>
          <p:cNvSpPr/>
          <p:nvPr/>
        </p:nvSpPr>
        <p:spPr>
          <a:xfrm>
            <a:off x="3383280" y="293522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UX recommendations</a:t>
            </a:r>
            <a:endParaRPr lang="en-US" sz="950" dirty="0"/>
          </a:p>
        </p:txBody>
      </p:sp>
      <p:sp>
        <p:nvSpPr>
          <p:cNvPr id="23" name="Shape 21"/>
          <p:cNvSpPr/>
          <p:nvPr/>
        </p:nvSpPr>
        <p:spPr>
          <a:xfrm>
            <a:off x="6035040" y="914400"/>
            <a:ext cx="2651760" cy="2423160"/>
          </a:xfrm>
          <a:prstGeom prst="roundRect">
            <a:avLst>
              <a:gd name="adj" fmla="val 3774"/>
            </a:avLst>
          </a:prstGeom>
          <a:solidFill>
            <a:srgbClr val="FAF5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4" name="Shape 22"/>
          <p:cNvSpPr/>
          <p:nvPr/>
        </p:nvSpPr>
        <p:spPr>
          <a:xfrm>
            <a:off x="6035040" y="914400"/>
            <a:ext cx="2651760" cy="347472"/>
          </a:xfrm>
          <a:prstGeom prst="roundRect">
            <a:avLst>
              <a:gd name="adj" fmla="val 26316"/>
            </a:avLst>
          </a:prstGeom>
          <a:solidFill>
            <a:srgbClr val="7C3AED"/>
          </a:solidFill>
          <a:ln w="12700">
            <a:solidFill>
              <a:srgbClr val="7C3AED"/>
            </a:solidFill>
            <a:prstDash val="solid"/>
          </a:ln>
        </p:spPr>
        <p:txBody>
          <a:bodyPr/>
          <a:lstStyle/>
          <a:p>
            <a:endParaRPr lang="en-US"/>
          </a:p>
        </p:txBody>
      </p:sp>
      <p:sp>
        <p:nvSpPr>
          <p:cNvPr id="25" name="Text 23"/>
          <p:cNvSpPr/>
          <p:nvPr/>
        </p:nvSpPr>
        <p:spPr>
          <a:xfrm>
            <a:off x="6035040" y="91440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Codex  ·  OpenAI</a:t>
            </a:r>
            <a:endParaRPr lang="en-US" sz="1100" dirty="0"/>
          </a:p>
        </p:txBody>
      </p:sp>
      <p:sp>
        <p:nvSpPr>
          <p:cNvPr id="26" name="Text 24"/>
          <p:cNvSpPr/>
          <p:nvPr/>
        </p:nvSpPr>
        <p:spPr>
          <a:xfrm>
            <a:off x="6172200" y="133502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Code generation</a:t>
            </a:r>
            <a:endParaRPr lang="en-US" sz="950" dirty="0"/>
          </a:p>
        </p:txBody>
      </p:sp>
      <p:sp>
        <p:nvSpPr>
          <p:cNvPr id="27" name="Text 25"/>
          <p:cNvSpPr/>
          <p:nvPr/>
        </p:nvSpPr>
        <p:spPr>
          <a:xfrm>
            <a:off x="6172200" y="165506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Bug fixing</a:t>
            </a:r>
            <a:endParaRPr lang="en-US" sz="950" dirty="0"/>
          </a:p>
        </p:txBody>
      </p:sp>
      <p:sp>
        <p:nvSpPr>
          <p:cNvPr id="28" name="Text 26"/>
          <p:cNvSpPr/>
          <p:nvPr/>
        </p:nvSpPr>
        <p:spPr>
          <a:xfrm>
            <a:off x="6172200" y="197510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Refactoring support</a:t>
            </a:r>
            <a:endParaRPr lang="en-US" sz="950" dirty="0"/>
          </a:p>
        </p:txBody>
      </p:sp>
      <p:sp>
        <p:nvSpPr>
          <p:cNvPr id="29" name="Text 27"/>
          <p:cNvSpPr/>
          <p:nvPr/>
        </p:nvSpPr>
        <p:spPr>
          <a:xfrm>
            <a:off x="6172200" y="229514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Repository analysis</a:t>
            </a:r>
            <a:endParaRPr lang="en-US" sz="950" dirty="0"/>
          </a:p>
        </p:txBody>
      </p:sp>
      <p:sp>
        <p:nvSpPr>
          <p:cNvPr id="30" name="Text 28"/>
          <p:cNvSpPr/>
          <p:nvPr/>
        </p:nvSpPr>
        <p:spPr>
          <a:xfrm>
            <a:off x="6172200" y="261518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Migration generation</a:t>
            </a:r>
            <a:endParaRPr lang="en-US" sz="950" dirty="0"/>
          </a:p>
        </p:txBody>
      </p:sp>
      <p:sp>
        <p:nvSpPr>
          <p:cNvPr id="31" name="Text 29"/>
          <p:cNvSpPr/>
          <p:nvPr/>
        </p:nvSpPr>
        <p:spPr>
          <a:xfrm>
            <a:off x="6172200" y="2935224"/>
            <a:ext cx="2377440" cy="2743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Audit findings</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8229600" cy="1417320"/>
        </p:xfrm>
        <a:graphic>
          <a:graphicData uri="http://schemas.openxmlformats.org/drawingml/2006/table">
            <a:tbl>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236220">
                <a:tc>
                  <a:txBody>
                    <a:bodyPr/>
                    <a:lstStyle/>
                    <a:p>
                      <a:pPr marL="0" indent="0" algn="l">
                        <a:buNone/>
                      </a:pPr>
                      <a:r>
                        <a:rPr lang="en-US" sz="900" b="1" dirty="0">
                          <a:solidFill>
                            <a:srgbClr val="FFFFFF"/>
                          </a:solidFill>
                        </a:rPr>
                        <a:t>Metric</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rPr>
                        <a:t>Without AI</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rPr>
                        <a:t>With AI</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rPr>
                        <a:t>Reduction</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236220">
                <a:tc>
                  <a:txBody>
                    <a:bodyPr/>
                    <a:lstStyle/>
                    <a:p>
                      <a:pPr marL="0" indent="0" algn="l">
                        <a:buNone/>
                      </a:pPr>
                      <a:r>
                        <a:rPr lang="en-US" sz="900" dirty="0">
                          <a:solidFill>
                            <a:srgbClr val="1E293B"/>
                          </a:solidFill>
                        </a:rPr>
                        <a:t>Development Time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rPr>
                        <a:t>6–9 months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rPr>
                        <a:t>~3 months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59669"/>
                          </a:solidFill>
                        </a:rPr>
                        <a:t>50–70%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6220">
                <a:tc>
                  <a:txBody>
                    <a:bodyPr/>
                    <a:lstStyle/>
                    <a:p>
                      <a:pPr marL="0" indent="0" algn="l">
                        <a:buNone/>
                      </a:pPr>
                      <a:r>
                        <a:rPr lang="en-US" sz="900" dirty="0">
                          <a:solidFill>
                            <a:srgbClr val="1E293B"/>
                          </a:solidFill>
                        </a:rPr>
                        <a:t>Documentation Effort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1E293B"/>
                          </a:solidFill>
                        </a:rPr>
                        <a:t>High</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1E293B"/>
                          </a:solidFill>
                        </a:rPr>
                        <a:t>Automated alongside dev</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059669"/>
                          </a:solidFill>
                        </a:rPr>
                        <a:t>80–90%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36220">
                <a:tc>
                  <a:txBody>
                    <a:bodyPr/>
                    <a:lstStyle/>
                    <a:p>
                      <a:pPr marL="0" indent="0" algn="l">
                        <a:buNone/>
                      </a:pPr>
                      <a:r>
                        <a:rPr lang="en-US" sz="900" dirty="0">
                          <a:solidFill>
                            <a:srgbClr val="1E293B"/>
                          </a:solidFill>
                        </a:rPr>
                        <a:t>Boilerplate Code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rPr>
                        <a:t>Manual</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rPr>
                        <a:t>AI-generated &amp; reviewed</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59669"/>
                          </a:solidFill>
                        </a:rPr>
                        <a:t>70–80%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6220">
                <a:tc>
                  <a:txBody>
                    <a:bodyPr/>
                    <a:lstStyle/>
                    <a:p>
                      <a:pPr marL="0" indent="0" algn="l">
                        <a:buNone/>
                      </a:pPr>
                      <a:r>
                        <a:rPr lang="en-US" sz="900" dirty="0">
                          <a:solidFill>
                            <a:srgbClr val="1E293B"/>
                          </a:solidFill>
                        </a:rPr>
                        <a:t>Audit &amp; Review Cycles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1E293B"/>
                          </a:solidFill>
                        </a:rPr>
                        <a:t>Manual only</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1E293B"/>
                          </a:solidFill>
                        </a:rPr>
                        <a:t>AI-assisted audits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059669"/>
                          </a:solidFill>
                        </a:rPr>
                        <a:t>60–70%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36220">
                <a:tc>
                  <a:txBody>
                    <a:bodyPr/>
                    <a:lstStyle/>
                    <a:p>
                      <a:pPr marL="0" indent="0" algn="l">
                        <a:buNone/>
                      </a:pPr>
                      <a:r>
                        <a:rPr lang="en-US" sz="900" dirty="0">
                          <a:solidFill>
                            <a:srgbClr val="1E293B"/>
                          </a:solidFill>
                        </a:rPr>
                        <a:t>LOC (Total)</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rPr>
                        <a:t>~35,000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rPr>
                        <a:t>~22,600 in source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59669"/>
                          </a:solidFill>
                        </a:rPr>
                        <a:t>35% tighter</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TESTING &amp; QUALITY</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Testing Strategy &amp; Quality Assurance</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4023360" cy="3977640"/>
          </a:xfrm>
          <a:prstGeom prst="roundRect">
            <a:avLst>
              <a:gd name="adj" fmla="val 2299"/>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594360" y="987552"/>
            <a:ext cx="374904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Testing Status (Honest Assessment)</a:t>
            </a:r>
            <a:endParaRPr lang="en-US" sz="1200" dirty="0"/>
          </a:p>
        </p:txBody>
      </p:sp>
      <p:sp>
        <p:nvSpPr>
          <p:cNvPr id="7" name="Text 5"/>
          <p:cNvSpPr/>
          <p:nvPr/>
        </p:nvSpPr>
        <p:spPr>
          <a:xfrm>
            <a:off x="594360" y="1353312"/>
            <a:ext cx="274320" cy="420624"/>
          </a:xfrm>
          <a:prstGeom prst="rect">
            <a:avLst/>
          </a:prstGeom>
          <a:noFill/>
          <a:ln/>
        </p:spPr>
        <p:txBody>
          <a:bodyPr wrap="square" lIns="0" tIns="0" rIns="0" bIns="0" rtlCol="0" anchor="ctr"/>
          <a:lstStyle/>
          <a:p>
            <a:pPr marL="0" indent="0" algn="ctr">
              <a:buNone/>
            </a:pPr>
            <a:r>
              <a:rPr lang="en-US" sz="1300" dirty="0">
                <a:solidFill>
                  <a:srgbClr val="DC2626"/>
                </a:solidFill>
              </a:rPr>
              <a:t>○</a:t>
            </a:r>
            <a:endParaRPr lang="en-US" sz="1300" dirty="0"/>
          </a:p>
        </p:txBody>
      </p:sp>
      <p:sp>
        <p:nvSpPr>
          <p:cNvPr id="8" name="Text 6"/>
          <p:cNvSpPr/>
          <p:nvPr/>
        </p:nvSpPr>
        <p:spPr>
          <a:xfrm>
            <a:off x="914400" y="1353312"/>
            <a:ext cx="13716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Automated Unit Tests</a:t>
            </a:r>
            <a:endParaRPr lang="en-US" sz="950" dirty="0"/>
          </a:p>
        </p:txBody>
      </p:sp>
      <p:sp>
        <p:nvSpPr>
          <p:cNvPr id="9" name="Text 7"/>
          <p:cNvSpPr/>
          <p:nvPr/>
        </p:nvSpPr>
        <p:spPr>
          <a:xfrm>
            <a:off x="914400" y="1536192"/>
            <a:ext cx="347472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Not implemented (acknowledged technical debt)</a:t>
            </a:r>
            <a:endParaRPr lang="en-US" sz="850" dirty="0"/>
          </a:p>
        </p:txBody>
      </p:sp>
      <p:sp>
        <p:nvSpPr>
          <p:cNvPr id="10" name="Text 8"/>
          <p:cNvSpPr/>
          <p:nvPr/>
        </p:nvSpPr>
        <p:spPr>
          <a:xfrm>
            <a:off x="594360" y="1828800"/>
            <a:ext cx="274320" cy="420624"/>
          </a:xfrm>
          <a:prstGeom prst="rect">
            <a:avLst/>
          </a:prstGeom>
          <a:noFill/>
          <a:ln/>
        </p:spPr>
        <p:txBody>
          <a:bodyPr wrap="square" lIns="0" tIns="0" rIns="0" bIns="0" rtlCol="0" anchor="ctr"/>
          <a:lstStyle/>
          <a:p>
            <a:pPr marL="0" indent="0" algn="ctr">
              <a:buNone/>
            </a:pPr>
            <a:r>
              <a:rPr lang="en-US" sz="1300" dirty="0">
                <a:solidFill>
                  <a:srgbClr val="EA580C"/>
                </a:solidFill>
              </a:rPr>
              <a:t>○</a:t>
            </a:r>
            <a:endParaRPr lang="en-US" sz="1300" dirty="0"/>
          </a:p>
        </p:txBody>
      </p:sp>
      <p:sp>
        <p:nvSpPr>
          <p:cNvPr id="11" name="Text 9"/>
          <p:cNvSpPr/>
          <p:nvPr/>
        </p:nvSpPr>
        <p:spPr>
          <a:xfrm>
            <a:off x="914400" y="1828800"/>
            <a:ext cx="13716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Integration Tests</a:t>
            </a:r>
            <a:endParaRPr lang="en-US" sz="950" dirty="0"/>
          </a:p>
        </p:txBody>
      </p:sp>
      <p:sp>
        <p:nvSpPr>
          <p:cNvPr id="12" name="Text 10"/>
          <p:cNvSpPr/>
          <p:nvPr/>
        </p:nvSpPr>
        <p:spPr>
          <a:xfrm>
            <a:off x="914400" y="2011680"/>
            <a:ext cx="347472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Infrastructure ready (node --test) — no test files written yet</a:t>
            </a:r>
            <a:endParaRPr lang="en-US" sz="850" dirty="0"/>
          </a:p>
        </p:txBody>
      </p:sp>
      <p:sp>
        <p:nvSpPr>
          <p:cNvPr id="13" name="Text 11"/>
          <p:cNvSpPr/>
          <p:nvPr/>
        </p:nvSpPr>
        <p:spPr>
          <a:xfrm>
            <a:off x="594360" y="2304288"/>
            <a:ext cx="274320" cy="420624"/>
          </a:xfrm>
          <a:prstGeom prst="rect">
            <a:avLst/>
          </a:prstGeom>
          <a:noFill/>
          <a:ln/>
        </p:spPr>
        <p:txBody>
          <a:bodyPr wrap="square" lIns="0" tIns="0" rIns="0" bIns="0" rtlCol="0" anchor="ctr"/>
          <a:lstStyle/>
          <a:p>
            <a:pPr marL="0" indent="0" algn="ctr">
              <a:buNone/>
            </a:pPr>
            <a:r>
              <a:rPr lang="en-US" sz="1300" dirty="0">
                <a:solidFill>
                  <a:srgbClr val="EA580C"/>
                </a:solidFill>
              </a:rPr>
              <a:t>○</a:t>
            </a:r>
            <a:endParaRPr lang="en-US" sz="1300" dirty="0"/>
          </a:p>
        </p:txBody>
      </p:sp>
      <p:sp>
        <p:nvSpPr>
          <p:cNvPr id="14" name="Text 12"/>
          <p:cNvSpPr/>
          <p:nvPr/>
        </p:nvSpPr>
        <p:spPr>
          <a:xfrm>
            <a:off x="914400" y="2304288"/>
            <a:ext cx="13716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End-to-End Tests</a:t>
            </a:r>
            <a:endParaRPr lang="en-US" sz="950" dirty="0"/>
          </a:p>
        </p:txBody>
      </p:sp>
      <p:sp>
        <p:nvSpPr>
          <p:cNvPr id="15" name="Text 13"/>
          <p:cNvSpPr/>
          <p:nvPr/>
        </p:nvSpPr>
        <p:spPr>
          <a:xfrm>
            <a:off x="914400" y="2487168"/>
            <a:ext cx="347472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Not implemented — planned for post-submission</a:t>
            </a:r>
            <a:endParaRPr lang="en-US" sz="850" dirty="0"/>
          </a:p>
        </p:txBody>
      </p:sp>
      <p:sp>
        <p:nvSpPr>
          <p:cNvPr id="16" name="Text 14"/>
          <p:cNvSpPr/>
          <p:nvPr/>
        </p:nvSpPr>
        <p:spPr>
          <a:xfrm>
            <a:off x="594360" y="2779776"/>
            <a:ext cx="274320" cy="420624"/>
          </a:xfrm>
          <a:prstGeom prst="rect">
            <a:avLst/>
          </a:prstGeom>
          <a:noFill/>
          <a:ln/>
        </p:spPr>
        <p:txBody>
          <a:bodyPr wrap="square" lIns="0" tIns="0" rIns="0" bIns="0" rtlCol="0" anchor="ctr"/>
          <a:lstStyle/>
          <a:p>
            <a:pPr marL="0" indent="0" algn="ctr">
              <a:buNone/>
            </a:pPr>
            <a:r>
              <a:rPr lang="en-US" sz="1300" dirty="0">
                <a:solidFill>
                  <a:srgbClr val="059669"/>
                </a:solidFill>
              </a:rPr>
              <a:t>✓</a:t>
            </a:r>
            <a:endParaRPr lang="en-US" sz="1300" dirty="0"/>
          </a:p>
        </p:txBody>
      </p:sp>
      <p:sp>
        <p:nvSpPr>
          <p:cNvPr id="17" name="Text 15"/>
          <p:cNvSpPr/>
          <p:nvPr/>
        </p:nvSpPr>
        <p:spPr>
          <a:xfrm>
            <a:off x="914400" y="2779776"/>
            <a:ext cx="13716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ESLint (Frontend)</a:t>
            </a:r>
            <a:endParaRPr lang="en-US" sz="950" dirty="0"/>
          </a:p>
        </p:txBody>
      </p:sp>
      <p:sp>
        <p:nvSpPr>
          <p:cNvPr id="18" name="Text 16"/>
          <p:cNvSpPr/>
          <p:nvPr/>
        </p:nvSpPr>
        <p:spPr>
          <a:xfrm>
            <a:off x="914400" y="2962656"/>
            <a:ext cx="347472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Configured with react-hooks &amp; react-refresh plugins</a:t>
            </a:r>
            <a:endParaRPr lang="en-US" sz="850" dirty="0"/>
          </a:p>
        </p:txBody>
      </p:sp>
      <p:sp>
        <p:nvSpPr>
          <p:cNvPr id="19" name="Text 17"/>
          <p:cNvSpPr/>
          <p:nvPr/>
        </p:nvSpPr>
        <p:spPr>
          <a:xfrm>
            <a:off x="594360" y="3255264"/>
            <a:ext cx="274320" cy="420624"/>
          </a:xfrm>
          <a:prstGeom prst="rect">
            <a:avLst/>
          </a:prstGeom>
          <a:noFill/>
          <a:ln/>
        </p:spPr>
        <p:txBody>
          <a:bodyPr wrap="square" lIns="0" tIns="0" rIns="0" bIns="0" rtlCol="0" anchor="ctr"/>
          <a:lstStyle/>
          <a:p>
            <a:pPr marL="0" indent="0" algn="ctr">
              <a:buNone/>
            </a:pPr>
            <a:r>
              <a:rPr lang="en-US" sz="1300" dirty="0">
                <a:solidFill>
                  <a:srgbClr val="059669"/>
                </a:solidFill>
              </a:rPr>
              <a:t>✓</a:t>
            </a:r>
            <a:endParaRPr lang="en-US" sz="1300" dirty="0"/>
          </a:p>
        </p:txBody>
      </p:sp>
      <p:sp>
        <p:nvSpPr>
          <p:cNvPr id="20" name="Text 18"/>
          <p:cNvSpPr/>
          <p:nvPr/>
        </p:nvSpPr>
        <p:spPr>
          <a:xfrm>
            <a:off x="914400" y="3255264"/>
            <a:ext cx="13716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Manual Testing</a:t>
            </a:r>
            <a:endParaRPr lang="en-US" sz="950" dirty="0"/>
          </a:p>
        </p:txBody>
      </p:sp>
      <p:sp>
        <p:nvSpPr>
          <p:cNvPr id="21" name="Text 19"/>
          <p:cNvSpPr/>
          <p:nvPr/>
        </p:nvSpPr>
        <p:spPr>
          <a:xfrm>
            <a:off x="914400" y="3438144"/>
            <a:ext cx="347472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Performed across all features throughout development</a:t>
            </a:r>
            <a:endParaRPr lang="en-US" sz="850" dirty="0"/>
          </a:p>
        </p:txBody>
      </p:sp>
      <p:sp>
        <p:nvSpPr>
          <p:cNvPr id="22" name="Text 20"/>
          <p:cNvSpPr/>
          <p:nvPr/>
        </p:nvSpPr>
        <p:spPr>
          <a:xfrm>
            <a:off x="594360" y="3730752"/>
            <a:ext cx="274320" cy="420624"/>
          </a:xfrm>
          <a:prstGeom prst="rect">
            <a:avLst/>
          </a:prstGeom>
          <a:noFill/>
          <a:ln/>
        </p:spPr>
        <p:txBody>
          <a:bodyPr wrap="square" lIns="0" tIns="0" rIns="0" bIns="0" rtlCol="0" anchor="ctr"/>
          <a:lstStyle/>
          <a:p>
            <a:pPr marL="0" indent="0" algn="ctr">
              <a:buNone/>
            </a:pPr>
            <a:r>
              <a:rPr lang="en-US" sz="1300" dirty="0">
                <a:solidFill>
                  <a:srgbClr val="059669"/>
                </a:solidFill>
              </a:rPr>
              <a:t>✓</a:t>
            </a:r>
            <a:endParaRPr lang="en-US" sz="1300" dirty="0"/>
          </a:p>
        </p:txBody>
      </p:sp>
      <p:sp>
        <p:nvSpPr>
          <p:cNvPr id="23" name="Text 21"/>
          <p:cNvSpPr/>
          <p:nvPr/>
        </p:nvSpPr>
        <p:spPr>
          <a:xfrm>
            <a:off x="914400" y="3730752"/>
            <a:ext cx="13716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Stabilisation Audits</a:t>
            </a:r>
            <a:endParaRPr lang="en-US" sz="950" dirty="0"/>
          </a:p>
        </p:txBody>
      </p:sp>
      <p:sp>
        <p:nvSpPr>
          <p:cNvPr id="24" name="Text 22"/>
          <p:cNvSpPr/>
          <p:nvPr/>
        </p:nvSpPr>
        <p:spPr>
          <a:xfrm>
            <a:off x="914400" y="3913632"/>
            <a:ext cx="347472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Multiple AI-assisted audit cycles reviewing parity &amp; correctness</a:t>
            </a:r>
            <a:endParaRPr lang="en-US" sz="850" dirty="0"/>
          </a:p>
        </p:txBody>
      </p:sp>
      <p:sp>
        <p:nvSpPr>
          <p:cNvPr id="25" name="Text 23"/>
          <p:cNvSpPr/>
          <p:nvPr/>
        </p:nvSpPr>
        <p:spPr>
          <a:xfrm>
            <a:off x="594360" y="4206240"/>
            <a:ext cx="274320" cy="420624"/>
          </a:xfrm>
          <a:prstGeom prst="rect">
            <a:avLst/>
          </a:prstGeom>
          <a:noFill/>
          <a:ln/>
        </p:spPr>
        <p:txBody>
          <a:bodyPr wrap="square" lIns="0" tIns="0" rIns="0" bIns="0" rtlCol="0" anchor="ctr"/>
          <a:lstStyle/>
          <a:p>
            <a:pPr marL="0" indent="0" algn="ctr">
              <a:buNone/>
            </a:pPr>
            <a:r>
              <a:rPr lang="en-US" sz="1300" dirty="0">
                <a:solidFill>
                  <a:srgbClr val="059669"/>
                </a:solidFill>
              </a:rPr>
              <a:t>✓</a:t>
            </a:r>
            <a:endParaRPr lang="en-US" sz="1300" dirty="0"/>
          </a:p>
        </p:txBody>
      </p:sp>
      <p:sp>
        <p:nvSpPr>
          <p:cNvPr id="26" name="Text 24"/>
          <p:cNvSpPr/>
          <p:nvPr/>
        </p:nvSpPr>
        <p:spPr>
          <a:xfrm>
            <a:off x="914400" y="4206240"/>
            <a:ext cx="13716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Security Review</a:t>
            </a:r>
            <a:endParaRPr lang="en-US" sz="950" dirty="0"/>
          </a:p>
        </p:txBody>
      </p:sp>
      <p:sp>
        <p:nvSpPr>
          <p:cNvPr id="27" name="Text 25"/>
          <p:cNvSpPr/>
          <p:nvPr/>
        </p:nvSpPr>
        <p:spPr>
          <a:xfrm>
            <a:off x="914400" y="4389120"/>
            <a:ext cx="347472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Auth, authorisation, input validation, injection risk reviewed</a:t>
            </a:r>
            <a:endParaRPr lang="en-US" sz="850" dirty="0"/>
          </a:p>
        </p:txBody>
      </p:sp>
      <p:sp>
        <p:nvSpPr>
          <p:cNvPr id="28" name="Shape 26"/>
          <p:cNvSpPr/>
          <p:nvPr/>
        </p:nvSpPr>
        <p:spPr>
          <a:xfrm>
            <a:off x="4663440" y="914400"/>
            <a:ext cx="4023360" cy="3977640"/>
          </a:xfrm>
          <a:prstGeom prst="roundRect">
            <a:avLst>
              <a:gd name="adj" fmla="val 2299"/>
            </a:avLst>
          </a:prstGeom>
          <a:solidFill>
            <a:srgbClr val="F0FDF4"/>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9" name="Text 27"/>
          <p:cNvSpPr/>
          <p:nvPr/>
        </p:nvSpPr>
        <p:spPr>
          <a:xfrm>
            <a:off x="4800600" y="987552"/>
            <a:ext cx="3749040" cy="274320"/>
          </a:xfrm>
          <a:prstGeom prst="rect">
            <a:avLst/>
          </a:prstGeom>
          <a:noFill/>
          <a:ln/>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Manual Testing Coverage</a:t>
            </a:r>
            <a:endParaRPr lang="en-US" sz="1200" dirty="0"/>
          </a:p>
        </p:txBody>
      </p:sp>
      <p:sp>
        <p:nvSpPr>
          <p:cNvPr id="30" name="Text 28"/>
          <p:cNvSpPr/>
          <p:nvPr/>
        </p:nvSpPr>
        <p:spPr>
          <a:xfrm>
            <a:off x="4800600" y="135331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Authentication (register, login, verify, reset, change password)</a:t>
            </a:r>
            <a:endParaRPr lang="en-US" sz="900" dirty="0"/>
          </a:p>
        </p:txBody>
      </p:sp>
      <p:sp>
        <p:nvSpPr>
          <p:cNvPr id="31" name="Text 29"/>
          <p:cNvSpPr/>
          <p:nvPr/>
        </p:nvSpPr>
        <p:spPr>
          <a:xfrm>
            <a:off x="4800600" y="171907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JWT expiry and role-based route guards</a:t>
            </a:r>
            <a:endParaRPr lang="en-US" sz="900" dirty="0"/>
          </a:p>
        </p:txBody>
      </p:sp>
      <p:sp>
        <p:nvSpPr>
          <p:cNvPr id="32" name="Text 30"/>
          <p:cNvSpPr/>
          <p:nvPr/>
        </p:nvSpPr>
        <p:spPr>
          <a:xfrm>
            <a:off x="4800600" y="208483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Festival creation, participant import, team setup</a:t>
            </a:r>
            <a:endParaRPr lang="en-US" sz="900" dirty="0"/>
          </a:p>
        </p:txBody>
      </p:sp>
      <p:sp>
        <p:nvSpPr>
          <p:cNvPr id="33" name="Text 31"/>
          <p:cNvSpPr/>
          <p:nvPr/>
        </p:nvSpPr>
        <p:spPr>
          <a:xfrm>
            <a:off x="4800600" y="245059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Festival auction start, bid, sold, unsold, complete</a:t>
            </a:r>
            <a:endParaRPr lang="en-US" sz="900" dirty="0"/>
          </a:p>
        </p:txBody>
      </p:sp>
      <p:sp>
        <p:nvSpPr>
          <p:cNvPr id="34" name="Text 32"/>
          <p:cNvSpPr/>
          <p:nvPr/>
        </p:nvSpPr>
        <p:spPr>
          <a:xfrm>
            <a:off x="4800600" y="281635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Sport tournament setup, readiness, captain assignment</a:t>
            </a:r>
            <a:endParaRPr lang="en-US" sz="900" dirty="0"/>
          </a:p>
        </p:txBody>
      </p:sp>
      <p:sp>
        <p:nvSpPr>
          <p:cNvPr id="35" name="Text 33"/>
          <p:cNvSpPr/>
          <p:nvPr/>
        </p:nvSpPr>
        <p:spPr>
          <a:xfrm>
            <a:off x="4800600" y="318211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Sport auction live bidding and real-time updates</a:t>
            </a:r>
            <a:endParaRPr lang="en-US" sz="900" dirty="0"/>
          </a:p>
        </p:txBody>
      </p:sp>
      <p:sp>
        <p:nvSpPr>
          <p:cNvPr id="36" name="Text 34"/>
          <p:cNvSpPr/>
          <p:nvPr/>
        </p:nvSpPr>
        <p:spPr>
          <a:xfrm>
            <a:off x="4800600" y="354787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Socket.IO room join/leave and state synchronisation</a:t>
            </a:r>
            <a:endParaRPr lang="en-US" sz="900" dirty="0"/>
          </a:p>
        </p:txBody>
      </p:sp>
      <p:sp>
        <p:nvSpPr>
          <p:cNvPr id="37" name="Text 35"/>
          <p:cNvSpPr/>
          <p:nvPr/>
        </p:nvSpPr>
        <p:spPr>
          <a:xfrm>
            <a:off x="4800600" y="391363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Budget enforcement — bids rejected over budget cap</a:t>
            </a:r>
            <a:endParaRPr lang="en-US" sz="900" dirty="0"/>
          </a:p>
        </p:txBody>
      </p:sp>
      <p:sp>
        <p:nvSpPr>
          <p:cNvPr id="38" name="Text 36"/>
          <p:cNvSpPr/>
          <p:nvPr/>
        </p:nvSpPr>
        <p:spPr>
          <a:xfrm>
            <a:off x="4800600" y="427939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Multi-role: admin controls, owner bids, spectator read-only</a:t>
            </a:r>
            <a:endParaRPr lang="en-US" sz="900" dirty="0"/>
          </a:p>
        </p:txBody>
      </p:sp>
      <p:sp>
        <p:nvSpPr>
          <p:cNvPr id="39" name="Text 37"/>
          <p:cNvSpPr/>
          <p:nvPr/>
        </p:nvSpPr>
        <p:spPr>
          <a:xfrm>
            <a:off x="4800600" y="4645152"/>
            <a:ext cx="3749040" cy="32004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Results pages, bid history, team roster views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PERFORMANCE &amp; STABILITY</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Performance Optimization Journey</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4069080" cy="1874520"/>
          </a:xfrm>
          <a:prstGeom prst="roundRect">
            <a:avLst>
              <a:gd name="adj" fmla="val 487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457200" y="914400"/>
            <a:ext cx="4069080" cy="292608"/>
          </a:xfrm>
          <a:prstGeom prst="roundRect">
            <a:avLst>
              <a:gd name="adj" fmla="val 25000"/>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457200" y="914400"/>
            <a:ext cx="4069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Promise.all → Promise.allSettled</a:t>
            </a:r>
            <a:endParaRPr lang="en-US" sz="950" dirty="0"/>
          </a:p>
        </p:txBody>
      </p:sp>
      <p:sp>
        <p:nvSpPr>
          <p:cNvPr id="8" name="Text 6"/>
          <p:cNvSpPr/>
          <p:nvPr/>
        </p:nvSpPr>
        <p:spPr>
          <a:xfrm>
            <a:off x="566928" y="1261872"/>
            <a:ext cx="457200" cy="164592"/>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Issue: </a:t>
            </a:r>
            <a:endParaRPr lang="en-US" sz="850" dirty="0"/>
          </a:p>
        </p:txBody>
      </p:sp>
      <p:sp>
        <p:nvSpPr>
          <p:cNvPr id="9" name="Text 7"/>
          <p:cNvSpPr/>
          <p:nvPr/>
        </p:nvSpPr>
        <p:spPr>
          <a:xfrm>
            <a:off x="1005840" y="1243584"/>
            <a:ext cx="3410712" cy="347472"/>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 single failing sub-request (e.g. auction not configured) blocked the entire page load via Promise.all rejection.</a:t>
            </a:r>
            <a:endParaRPr lang="en-US" sz="850" dirty="0"/>
          </a:p>
        </p:txBody>
      </p:sp>
      <p:sp>
        <p:nvSpPr>
          <p:cNvPr id="10" name="Text 8"/>
          <p:cNvSpPr/>
          <p:nvPr/>
        </p:nvSpPr>
        <p:spPr>
          <a:xfrm>
            <a:off x="566928" y="1627632"/>
            <a:ext cx="365760" cy="164592"/>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Fix: </a:t>
            </a:r>
            <a:endParaRPr lang="en-US" sz="850" dirty="0"/>
          </a:p>
        </p:txBody>
      </p:sp>
      <p:sp>
        <p:nvSpPr>
          <p:cNvPr id="11" name="Text 9"/>
          <p:cNvSpPr/>
          <p:nvPr/>
        </p:nvSpPr>
        <p:spPr>
          <a:xfrm>
            <a:off x="914400" y="1609344"/>
            <a:ext cx="3502152" cy="40233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Converted all multi-endpoint page loaders to Promise.allSettled. Each endpoint succeeds or fails independently.</a:t>
            </a:r>
            <a:endParaRPr lang="en-US" sz="850" dirty="0"/>
          </a:p>
        </p:txBody>
      </p:sp>
      <p:sp>
        <p:nvSpPr>
          <p:cNvPr id="12" name="Text 10"/>
          <p:cNvSpPr/>
          <p:nvPr/>
        </p:nvSpPr>
        <p:spPr>
          <a:xfrm>
            <a:off x="566928" y="2048256"/>
            <a:ext cx="502920" cy="164592"/>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Impact: </a:t>
            </a:r>
            <a:endParaRPr lang="en-US" sz="850" dirty="0"/>
          </a:p>
        </p:txBody>
      </p:sp>
      <p:sp>
        <p:nvSpPr>
          <p:cNvPr id="13" name="Text 11"/>
          <p:cNvSpPr/>
          <p:nvPr/>
        </p:nvSpPr>
        <p:spPr>
          <a:xfrm>
            <a:off x="1051560" y="2029968"/>
            <a:ext cx="3364992" cy="6583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Pages now load partially when non-critical endpoints fail. No more white screens on 404 from unconfigured auctions.</a:t>
            </a:r>
            <a:endParaRPr lang="en-US" sz="850" dirty="0"/>
          </a:p>
        </p:txBody>
      </p:sp>
      <p:sp>
        <p:nvSpPr>
          <p:cNvPr id="14" name="Shape 12"/>
          <p:cNvSpPr/>
          <p:nvPr/>
        </p:nvSpPr>
        <p:spPr>
          <a:xfrm>
            <a:off x="4800600" y="914400"/>
            <a:ext cx="4069080" cy="1874520"/>
          </a:xfrm>
          <a:prstGeom prst="roundRect">
            <a:avLst>
              <a:gd name="adj" fmla="val 487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5" name="Shape 13"/>
          <p:cNvSpPr/>
          <p:nvPr/>
        </p:nvSpPr>
        <p:spPr>
          <a:xfrm>
            <a:off x="4800600" y="914400"/>
            <a:ext cx="4069080" cy="292608"/>
          </a:xfrm>
          <a:prstGeom prst="roundRect">
            <a:avLst>
              <a:gd name="adj" fmla="val 25000"/>
            </a:avLst>
          </a:prstGeom>
          <a:solidFill>
            <a:srgbClr val="0891B2"/>
          </a:solidFill>
          <a:ln w="12700">
            <a:solidFill>
              <a:srgbClr val="0891B2"/>
            </a:solidFill>
            <a:prstDash val="solid"/>
          </a:ln>
        </p:spPr>
        <p:txBody>
          <a:bodyPr/>
          <a:lstStyle/>
          <a:p>
            <a:endParaRPr lang="en-US"/>
          </a:p>
        </p:txBody>
      </p:sp>
      <p:sp>
        <p:nvSpPr>
          <p:cNvPr id="16" name="Text 14"/>
          <p:cNvSpPr/>
          <p:nvPr/>
        </p:nvSpPr>
        <p:spPr>
          <a:xfrm>
            <a:off x="4800600" y="914400"/>
            <a:ext cx="4069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Socket Reconnect Handler</a:t>
            </a:r>
            <a:endParaRPr lang="en-US" sz="950" dirty="0"/>
          </a:p>
        </p:txBody>
      </p:sp>
      <p:sp>
        <p:nvSpPr>
          <p:cNvPr id="17" name="Text 15"/>
          <p:cNvSpPr/>
          <p:nvPr/>
        </p:nvSpPr>
        <p:spPr>
          <a:xfrm>
            <a:off x="4910328" y="1261872"/>
            <a:ext cx="457200" cy="164592"/>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Issue: </a:t>
            </a:r>
            <a:endParaRPr lang="en-US" sz="850" dirty="0"/>
          </a:p>
        </p:txBody>
      </p:sp>
      <p:sp>
        <p:nvSpPr>
          <p:cNvPr id="18" name="Text 16"/>
          <p:cNvSpPr/>
          <p:nvPr/>
        </p:nvSpPr>
        <p:spPr>
          <a:xfrm>
            <a:off x="5349240" y="1243584"/>
            <a:ext cx="3410712" cy="347472"/>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After a network disconnect, SportAuctionHub silently stopped receiving real-time updates with no recovery.</a:t>
            </a:r>
            <a:endParaRPr lang="en-US" sz="850" dirty="0"/>
          </a:p>
        </p:txBody>
      </p:sp>
      <p:sp>
        <p:nvSpPr>
          <p:cNvPr id="19" name="Text 17"/>
          <p:cNvSpPr/>
          <p:nvPr/>
        </p:nvSpPr>
        <p:spPr>
          <a:xfrm>
            <a:off x="4910328" y="1627632"/>
            <a:ext cx="365760" cy="164592"/>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Fix: </a:t>
            </a:r>
            <a:endParaRPr lang="en-US" sz="850" dirty="0"/>
          </a:p>
        </p:txBody>
      </p:sp>
      <p:sp>
        <p:nvSpPr>
          <p:cNvPr id="20" name="Text 18"/>
          <p:cNvSpPr/>
          <p:nvPr/>
        </p:nvSpPr>
        <p:spPr>
          <a:xfrm>
            <a:off x="5257800" y="1609344"/>
            <a:ext cx="3502152" cy="40233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Added socket.on('connect', rejoin) + if (socket.connected) rejoin() pattern on mount.</a:t>
            </a:r>
            <a:endParaRPr lang="en-US" sz="850" dirty="0"/>
          </a:p>
        </p:txBody>
      </p:sp>
      <p:sp>
        <p:nvSpPr>
          <p:cNvPr id="21" name="Text 19"/>
          <p:cNvSpPr/>
          <p:nvPr/>
        </p:nvSpPr>
        <p:spPr>
          <a:xfrm>
            <a:off x="4910328" y="2048256"/>
            <a:ext cx="502920" cy="164592"/>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Impact: </a:t>
            </a:r>
            <a:endParaRPr lang="en-US" sz="850" dirty="0"/>
          </a:p>
        </p:txBody>
      </p:sp>
      <p:sp>
        <p:nvSpPr>
          <p:cNvPr id="22" name="Text 20"/>
          <p:cNvSpPr/>
          <p:nvPr/>
        </p:nvSpPr>
        <p:spPr>
          <a:xfrm>
            <a:off x="5394960" y="2029968"/>
            <a:ext cx="3364992" cy="6583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Auction clients automatically re-join their room after any network interruption — zero manual refresh needed.</a:t>
            </a:r>
            <a:endParaRPr lang="en-US" sz="850" dirty="0"/>
          </a:p>
        </p:txBody>
      </p:sp>
      <p:sp>
        <p:nvSpPr>
          <p:cNvPr id="23" name="Shape 21"/>
          <p:cNvSpPr/>
          <p:nvPr/>
        </p:nvSpPr>
        <p:spPr>
          <a:xfrm>
            <a:off x="457200" y="2907792"/>
            <a:ext cx="4069080" cy="1874520"/>
          </a:xfrm>
          <a:prstGeom prst="roundRect">
            <a:avLst>
              <a:gd name="adj" fmla="val 487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4" name="Shape 22"/>
          <p:cNvSpPr/>
          <p:nvPr/>
        </p:nvSpPr>
        <p:spPr>
          <a:xfrm>
            <a:off x="457200" y="2907792"/>
            <a:ext cx="4069080" cy="292608"/>
          </a:xfrm>
          <a:prstGeom prst="roundRect">
            <a:avLst>
              <a:gd name="adj" fmla="val 25000"/>
            </a:avLst>
          </a:prstGeom>
          <a:solidFill>
            <a:srgbClr val="7C3AED"/>
          </a:solidFill>
          <a:ln w="12700">
            <a:solidFill>
              <a:srgbClr val="7C3AED"/>
            </a:solidFill>
            <a:prstDash val="solid"/>
          </a:ln>
        </p:spPr>
        <p:txBody>
          <a:bodyPr/>
          <a:lstStyle/>
          <a:p>
            <a:endParaRPr lang="en-US"/>
          </a:p>
        </p:txBody>
      </p:sp>
      <p:sp>
        <p:nvSpPr>
          <p:cNvPr id="25" name="Text 23"/>
          <p:cNvSpPr/>
          <p:nvPr/>
        </p:nvSpPr>
        <p:spPr>
          <a:xfrm>
            <a:off x="457200" y="2907792"/>
            <a:ext cx="4069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Revision Guard (shouldApplyAuctionSnapshot)</a:t>
            </a:r>
            <a:endParaRPr lang="en-US" sz="950" dirty="0"/>
          </a:p>
        </p:txBody>
      </p:sp>
      <p:sp>
        <p:nvSpPr>
          <p:cNvPr id="26" name="Text 24"/>
          <p:cNvSpPr/>
          <p:nvPr/>
        </p:nvSpPr>
        <p:spPr>
          <a:xfrm>
            <a:off x="566928" y="3255264"/>
            <a:ext cx="457200" cy="164592"/>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Issue: </a:t>
            </a:r>
            <a:endParaRPr lang="en-US" sz="850" dirty="0"/>
          </a:p>
        </p:txBody>
      </p:sp>
      <p:sp>
        <p:nvSpPr>
          <p:cNvPr id="27" name="Text 25"/>
          <p:cNvSpPr/>
          <p:nvPr/>
        </p:nvSpPr>
        <p:spPr>
          <a:xfrm>
            <a:off x="1005840" y="3236976"/>
            <a:ext cx="3410712" cy="347472"/>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Out-of-order or buffered socket payloads with older revisions could overwrite newer in-memory auction state.</a:t>
            </a:r>
            <a:endParaRPr lang="en-US" sz="850" dirty="0"/>
          </a:p>
        </p:txBody>
      </p:sp>
      <p:sp>
        <p:nvSpPr>
          <p:cNvPr id="28" name="Text 26"/>
          <p:cNvSpPr/>
          <p:nvPr/>
        </p:nvSpPr>
        <p:spPr>
          <a:xfrm>
            <a:off x="566928" y="3621024"/>
            <a:ext cx="365760" cy="164592"/>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Fix: </a:t>
            </a:r>
            <a:endParaRPr lang="en-US" sz="850" dirty="0"/>
          </a:p>
        </p:txBody>
      </p:sp>
      <p:sp>
        <p:nvSpPr>
          <p:cNvPr id="29" name="Text 27"/>
          <p:cNvSpPr/>
          <p:nvPr/>
        </p:nvSpPr>
        <p:spPr>
          <a:xfrm>
            <a:off x="914400" y="3602736"/>
            <a:ext cx="3502152" cy="40233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Added revision comparison before applying any socket payload. lastRevision ref tracks highest seen revision.</a:t>
            </a:r>
            <a:endParaRPr lang="en-US" sz="850" dirty="0"/>
          </a:p>
        </p:txBody>
      </p:sp>
      <p:sp>
        <p:nvSpPr>
          <p:cNvPr id="30" name="Text 28"/>
          <p:cNvSpPr/>
          <p:nvPr/>
        </p:nvSpPr>
        <p:spPr>
          <a:xfrm>
            <a:off x="566928" y="4041648"/>
            <a:ext cx="502920" cy="164592"/>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Impact: </a:t>
            </a:r>
            <a:endParaRPr lang="en-US" sz="850" dirty="0"/>
          </a:p>
        </p:txBody>
      </p:sp>
      <p:sp>
        <p:nvSpPr>
          <p:cNvPr id="31" name="Text 29"/>
          <p:cNvSpPr/>
          <p:nvPr/>
        </p:nvSpPr>
        <p:spPr>
          <a:xfrm>
            <a:off x="1051560" y="4023360"/>
            <a:ext cx="3364992" cy="6583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Stale payloads silently discarded. Auction state remains consistent regardless of packet ordering.</a:t>
            </a:r>
            <a:endParaRPr lang="en-US" sz="850" dirty="0"/>
          </a:p>
        </p:txBody>
      </p:sp>
      <p:sp>
        <p:nvSpPr>
          <p:cNvPr id="32" name="Shape 30"/>
          <p:cNvSpPr/>
          <p:nvPr/>
        </p:nvSpPr>
        <p:spPr>
          <a:xfrm>
            <a:off x="4800600" y="2907792"/>
            <a:ext cx="4069080" cy="1874520"/>
          </a:xfrm>
          <a:prstGeom prst="roundRect">
            <a:avLst>
              <a:gd name="adj" fmla="val 487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3" name="Shape 31"/>
          <p:cNvSpPr/>
          <p:nvPr/>
        </p:nvSpPr>
        <p:spPr>
          <a:xfrm>
            <a:off x="4800600" y="2907792"/>
            <a:ext cx="4069080" cy="292608"/>
          </a:xfrm>
          <a:prstGeom prst="roundRect">
            <a:avLst>
              <a:gd name="adj" fmla="val 25000"/>
            </a:avLst>
          </a:prstGeom>
          <a:solidFill>
            <a:srgbClr val="059669"/>
          </a:solidFill>
          <a:ln w="12700">
            <a:solidFill>
              <a:srgbClr val="059669"/>
            </a:solidFill>
            <a:prstDash val="solid"/>
          </a:ln>
        </p:spPr>
        <p:txBody>
          <a:bodyPr/>
          <a:lstStyle/>
          <a:p>
            <a:endParaRPr lang="en-US"/>
          </a:p>
        </p:txBody>
      </p:sp>
      <p:sp>
        <p:nvSpPr>
          <p:cNvPr id="34" name="Text 32"/>
          <p:cNvSpPr/>
          <p:nvPr/>
        </p:nvSpPr>
        <p:spPr>
          <a:xfrm>
            <a:off x="4800600" y="2907792"/>
            <a:ext cx="4069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Sport Tournament Visibility Fix</a:t>
            </a:r>
            <a:endParaRPr lang="en-US" sz="950" dirty="0"/>
          </a:p>
        </p:txBody>
      </p:sp>
      <p:sp>
        <p:nvSpPr>
          <p:cNvPr id="35" name="Text 33"/>
          <p:cNvSpPr/>
          <p:nvPr/>
        </p:nvSpPr>
        <p:spPr>
          <a:xfrm>
            <a:off x="4910328" y="3255264"/>
            <a:ext cx="457200" cy="164592"/>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Issue: </a:t>
            </a:r>
            <a:endParaRPr lang="en-US" sz="850" dirty="0"/>
          </a:p>
        </p:txBody>
      </p:sp>
      <p:sp>
        <p:nvSpPr>
          <p:cNvPr id="36" name="Text 34"/>
          <p:cNvSpPr/>
          <p:nvPr/>
        </p:nvSpPr>
        <p:spPr>
          <a:xfrm>
            <a:off x="5349240" y="3236976"/>
            <a:ext cx="3410712" cy="347472"/>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Spectators only saw live/completed tournaments. Team owners only saw their own team's tournaments. Setup-stage hidden.</a:t>
            </a:r>
            <a:endParaRPr lang="en-US" sz="850" dirty="0"/>
          </a:p>
        </p:txBody>
      </p:sp>
      <p:sp>
        <p:nvSpPr>
          <p:cNvPr id="37" name="Text 35"/>
          <p:cNvSpPr/>
          <p:nvPr/>
        </p:nvSpPr>
        <p:spPr>
          <a:xfrm>
            <a:off x="4910328" y="3621024"/>
            <a:ext cx="365760" cy="164592"/>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Fix: </a:t>
            </a:r>
            <a:endParaRPr lang="en-US" sz="850" dirty="0"/>
          </a:p>
        </p:txBody>
      </p:sp>
      <p:sp>
        <p:nvSpPr>
          <p:cNvPr id="38" name="Text 36"/>
          <p:cNvSpPr/>
          <p:nvPr/>
        </p:nvSpPr>
        <p:spPr>
          <a:xfrm>
            <a:off x="5257800" y="3602736"/>
            <a:ext cx="3502152" cy="40233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Changed listSportTournaments to use FestivalParticipant → festivalId → FestivalTeam join. All registered users see all tournaments in their festival.</a:t>
            </a:r>
            <a:endParaRPr lang="en-US" sz="850" dirty="0"/>
          </a:p>
        </p:txBody>
      </p:sp>
      <p:sp>
        <p:nvSpPr>
          <p:cNvPr id="39" name="Text 37"/>
          <p:cNvSpPr/>
          <p:nvPr/>
        </p:nvSpPr>
        <p:spPr>
          <a:xfrm>
            <a:off x="4910328" y="4041648"/>
            <a:ext cx="502920" cy="164592"/>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Impact: </a:t>
            </a:r>
            <a:endParaRPr lang="en-US" sz="850" dirty="0"/>
          </a:p>
        </p:txBody>
      </p:sp>
      <p:sp>
        <p:nvSpPr>
          <p:cNvPr id="40" name="Text 38"/>
          <p:cNvSpPr/>
          <p:nvPr/>
        </p:nvSpPr>
        <p:spPr>
          <a:xfrm>
            <a:off x="5394960" y="4023360"/>
            <a:ext cx="3364992" cy="6583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All roles now see all tournaments within their festival from day one of setup, not just after launch.</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DEMO</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Demo Walkthrough — Step by Step</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457200" y="9601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969264" y="10058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Login</a:t>
            </a:r>
            <a:endParaRPr lang="en-US" sz="1200" dirty="0"/>
          </a:p>
        </p:txBody>
      </p:sp>
      <p:sp>
        <p:nvSpPr>
          <p:cNvPr id="8" name="Shape 6"/>
          <p:cNvSpPr/>
          <p:nvPr/>
        </p:nvSpPr>
        <p:spPr>
          <a:xfrm>
            <a:off x="969264" y="1280160"/>
            <a:ext cx="685800" cy="182880"/>
          </a:xfrm>
          <a:prstGeom prst="roundRect">
            <a:avLst>
              <a:gd name="adj" fmla="val 50000"/>
            </a:avLst>
          </a:prstGeom>
          <a:solidFill>
            <a:srgbClr val="1E3A8A"/>
          </a:solidFill>
          <a:ln w="12700">
            <a:solidFill>
              <a:srgbClr val="1E3A8A"/>
            </a:solidFill>
            <a:prstDash val="solid"/>
          </a:ln>
        </p:spPr>
        <p:txBody>
          <a:bodyPr/>
          <a:lstStyle/>
          <a:p>
            <a:endParaRPr lang="en-US"/>
          </a:p>
        </p:txBody>
      </p:sp>
      <p:sp>
        <p:nvSpPr>
          <p:cNvPr id="9" name="Text 7"/>
          <p:cNvSpPr/>
          <p:nvPr/>
        </p:nvSpPr>
        <p:spPr>
          <a:xfrm>
            <a:off x="969264" y="12801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Admin</a:t>
            </a:r>
            <a:endParaRPr lang="en-US" sz="750" dirty="0"/>
          </a:p>
        </p:txBody>
      </p:sp>
      <p:sp>
        <p:nvSpPr>
          <p:cNvPr id="10" name="Text 8"/>
          <p:cNvSpPr/>
          <p:nvPr/>
        </p:nvSpPr>
        <p:spPr>
          <a:xfrm>
            <a:off x="566928" y="15270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Log in as admin. Show dashboard with festival and sport tournament cards.</a:t>
            </a:r>
            <a:endParaRPr lang="en-US" sz="900" dirty="0"/>
          </a:p>
        </p:txBody>
      </p:sp>
      <p:sp>
        <p:nvSpPr>
          <p:cNvPr id="11" name="Shape 9"/>
          <p:cNvSpPr/>
          <p:nvPr/>
        </p:nvSpPr>
        <p:spPr>
          <a:xfrm>
            <a:off x="3246120" y="9144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2" name="Text 10"/>
          <p:cNvSpPr/>
          <p:nvPr/>
        </p:nvSpPr>
        <p:spPr>
          <a:xfrm>
            <a:off x="3246120" y="9601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02</a:t>
            </a:r>
            <a:endParaRPr lang="en-US" sz="2200" dirty="0"/>
          </a:p>
        </p:txBody>
      </p:sp>
      <p:sp>
        <p:nvSpPr>
          <p:cNvPr id="13" name="Text 11"/>
          <p:cNvSpPr/>
          <p:nvPr/>
        </p:nvSpPr>
        <p:spPr>
          <a:xfrm>
            <a:off x="3758184" y="10058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Festival Dashboard</a:t>
            </a:r>
            <a:endParaRPr lang="en-US" sz="1200" dirty="0"/>
          </a:p>
        </p:txBody>
      </p:sp>
      <p:sp>
        <p:nvSpPr>
          <p:cNvPr id="14" name="Shape 12"/>
          <p:cNvSpPr/>
          <p:nvPr/>
        </p:nvSpPr>
        <p:spPr>
          <a:xfrm>
            <a:off x="3758184" y="1280160"/>
            <a:ext cx="685800" cy="182880"/>
          </a:xfrm>
          <a:prstGeom prst="roundRect">
            <a:avLst>
              <a:gd name="adj" fmla="val 50000"/>
            </a:avLst>
          </a:prstGeom>
          <a:solidFill>
            <a:srgbClr val="1E3A8A"/>
          </a:solidFill>
          <a:ln w="12700">
            <a:solidFill>
              <a:srgbClr val="1E3A8A"/>
            </a:solidFill>
            <a:prstDash val="solid"/>
          </a:ln>
        </p:spPr>
        <p:txBody>
          <a:bodyPr/>
          <a:lstStyle/>
          <a:p>
            <a:endParaRPr lang="en-US"/>
          </a:p>
        </p:txBody>
      </p:sp>
      <p:sp>
        <p:nvSpPr>
          <p:cNvPr id="15" name="Text 13"/>
          <p:cNvSpPr/>
          <p:nvPr/>
        </p:nvSpPr>
        <p:spPr>
          <a:xfrm>
            <a:off x="3758184" y="12801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Admin</a:t>
            </a:r>
            <a:endParaRPr lang="en-US" sz="750" dirty="0"/>
          </a:p>
        </p:txBody>
      </p:sp>
      <p:sp>
        <p:nvSpPr>
          <p:cNvPr id="16" name="Text 14"/>
          <p:cNvSpPr/>
          <p:nvPr/>
        </p:nvSpPr>
        <p:spPr>
          <a:xfrm>
            <a:off x="3355848" y="15270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Navigate to Festival list. Show active festival with sport selections.</a:t>
            </a:r>
            <a:endParaRPr lang="en-US" sz="900" dirty="0"/>
          </a:p>
        </p:txBody>
      </p:sp>
      <p:sp>
        <p:nvSpPr>
          <p:cNvPr id="17" name="Shape 15"/>
          <p:cNvSpPr/>
          <p:nvPr/>
        </p:nvSpPr>
        <p:spPr>
          <a:xfrm>
            <a:off x="6035040" y="9144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8" name="Text 16"/>
          <p:cNvSpPr/>
          <p:nvPr/>
        </p:nvSpPr>
        <p:spPr>
          <a:xfrm>
            <a:off x="6035040" y="9601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03</a:t>
            </a:r>
            <a:endParaRPr lang="en-US" sz="2200" dirty="0"/>
          </a:p>
        </p:txBody>
      </p:sp>
      <p:sp>
        <p:nvSpPr>
          <p:cNvPr id="19" name="Text 17"/>
          <p:cNvSpPr/>
          <p:nvPr/>
        </p:nvSpPr>
        <p:spPr>
          <a:xfrm>
            <a:off x="6547104" y="10058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Festival Setup</a:t>
            </a:r>
            <a:endParaRPr lang="en-US" sz="1200" dirty="0"/>
          </a:p>
        </p:txBody>
      </p:sp>
      <p:sp>
        <p:nvSpPr>
          <p:cNvPr id="20" name="Shape 18"/>
          <p:cNvSpPr/>
          <p:nvPr/>
        </p:nvSpPr>
        <p:spPr>
          <a:xfrm>
            <a:off x="6547104" y="1280160"/>
            <a:ext cx="685800" cy="182880"/>
          </a:xfrm>
          <a:prstGeom prst="roundRect">
            <a:avLst>
              <a:gd name="adj" fmla="val 50000"/>
            </a:avLst>
          </a:prstGeom>
          <a:solidFill>
            <a:srgbClr val="1E3A8A"/>
          </a:solidFill>
          <a:ln w="12700">
            <a:solidFill>
              <a:srgbClr val="1E3A8A"/>
            </a:solidFill>
            <a:prstDash val="solid"/>
          </a:ln>
        </p:spPr>
        <p:txBody>
          <a:bodyPr/>
          <a:lstStyle/>
          <a:p>
            <a:endParaRPr lang="en-US"/>
          </a:p>
        </p:txBody>
      </p:sp>
      <p:sp>
        <p:nvSpPr>
          <p:cNvPr id="21" name="Text 19"/>
          <p:cNvSpPr/>
          <p:nvPr/>
        </p:nvSpPr>
        <p:spPr>
          <a:xfrm>
            <a:off x="6547104" y="12801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Admin</a:t>
            </a:r>
            <a:endParaRPr lang="en-US" sz="750" dirty="0"/>
          </a:p>
        </p:txBody>
      </p:sp>
      <p:sp>
        <p:nvSpPr>
          <p:cNvPr id="22" name="Text 20"/>
          <p:cNvSpPr/>
          <p:nvPr/>
        </p:nvSpPr>
        <p:spPr>
          <a:xfrm>
            <a:off x="6144768" y="15270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Open Festival Command Center. Show readiness check with blockers and setup progress chips.</a:t>
            </a:r>
            <a:endParaRPr lang="en-US" sz="900" dirty="0"/>
          </a:p>
        </p:txBody>
      </p:sp>
      <p:sp>
        <p:nvSpPr>
          <p:cNvPr id="23" name="Shape 21"/>
          <p:cNvSpPr/>
          <p:nvPr/>
        </p:nvSpPr>
        <p:spPr>
          <a:xfrm>
            <a:off x="457200" y="22860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4" name="Text 22"/>
          <p:cNvSpPr/>
          <p:nvPr/>
        </p:nvSpPr>
        <p:spPr>
          <a:xfrm>
            <a:off x="457200" y="23317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04</a:t>
            </a:r>
            <a:endParaRPr lang="en-US" sz="2200" dirty="0"/>
          </a:p>
        </p:txBody>
      </p:sp>
      <p:sp>
        <p:nvSpPr>
          <p:cNvPr id="25" name="Text 23"/>
          <p:cNvSpPr/>
          <p:nvPr/>
        </p:nvSpPr>
        <p:spPr>
          <a:xfrm>
            <a:off x="969264" y="23774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Festival Live Auction</a:t>
            </a:r>
            <a:endParaRPr lang="en-US" sz="1200" dirty="0"/>
          </a:p>
        </p:txBody>
      </p:sp>
      <p:sp>
        <p:nvSpPr>
          <p:cNvPr id="26" name="Shape 24"/>
          <p:cNvSpPr/>
          <p:nvPr/>
        </p:nvSpPr>
        <p:spPr>
          <a:xfrm>
            <a:off x="969264" y="2651760"/>
            <a:ext cx="685800" cy="182880"/>
          </a:xfrm>
          <a:prstGeom prst="roundRect">
            <a:avLst>
              <a:gd name="adj" fmla="val 50000"/>
            </a:avLst>
          </a:prstGeom>
          <a:solidFill>
            <a:srgbClr val="1E3A8A"/>
          </a:solidFill>
          <a:ln w="12700">
            <a:solidFill>
              <a:srgbClr val="1E3A8A"/>
            </a:solidFill>
            <a:prstDash val="solid"/>
          </a:ln>
        </p:spPr>
        <p:txBody>
          <a:bodyPr/>
          <a:lstStyle/>
          <a:p>
            <a:endParaRPr lang="en-US"/>
          </a:p>
        </p:txBody>
      </p:sp>
      <p:sp>
        <p:nvSpPr>
          <p:cNvPr id="27" name="Text 25"/>
          <p:cNvSpPr/>
          <p:nvPr/>
        </p:nvSpPr>
        <p:spPr>
          <a:xfrm>
            <a:off x="969264" y="26517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Admin</a:t>
            </a:r>
            <a:endParaRPr lang="en-US" sz="750" dirty="0"/>
          </a:p>
        </p:txBody>
      </p:sp>
      <p:sp>
        <p:nvSpPr>
          <p:cNvPr id="28" name="Text 26"/>
          <p:cNvSpPr/>
          <p:nvPr/>
        </p:nvSpPr>
        <p:spPr>
          <a:xfrm>
            <a:off x="566928" y="28986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Enter Festival Auction Arena. Show participant stage, team panels, live bid stream and timer.</a:t>
            </a:r>
            <a:endParaRPr lang="en-US" sz="900" dirty="0"/>
          </a:p>
        </p:txBody>
      </p:sp>
      <p:sp>
        <p:nvSpPr>
          <p:cNvPr id="29" name="Shape 27"/>
          <p:cNvSpPr/>
          <p:nvPr/>
        </p:nvSpPr>
        <p:spPr>
          <a:xfrm>
            <a:off x="3246120" y="22860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0" name="Text 28"/>
          <p:cNvSpPr/>
          <p:nvPr/>
        </p:nvSpPr>
        <p:spPr>
          <a:xfrm>
            <a:off x="3246120" y="23317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05</a:t>
            </a:r>
            <a:endParaRPr lang="en-US" sz="2200" dirty="0"/>
          </a:p>
        </p:txBody>
      </p:sp>
      <p:sp>
        <p:nvSpPr>
          <p:cNvPr id="31" name="Text 29"/>
          <p:cNvSpPr/>
          <p:nvPr/>
        </p:nvSpPr>
        <p:spPr>
          <a:xfrm>
            <a:off x="3758184" y="23774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Team Owner Bidding</a:t>
            </a:r>
            <a:endParaRPr lang="en-US" sz="1200" dirty="0"/>
          </a:p>
        </p:txBody>
      </p:sp>
      <p:sp>
        <p:nvSpPr>
          <p:cNvPr id="32" name="Shape 30"/>
          <p:cNvSpPr/>
          <p:nvPr/>
        </p:nvSpPr>
        <p:spPr>
          <a:xfrm>
            <a:off x="3758184" y="2651760"/>
            <a:ext cx="685800" cy="182880"/>
          </a:xfrm>
          <a:prstGeom prst="roundRect">
            <a:avLst>
              <a:gd name="adj" fmla="val 50000"/>
            </a:avLst>
          </a:prstGeom>
          <a:solidFill>
            <a:srgbClr val="0891B2"/>
          </a:solidFill>
          <a:ln w="12700">
            <a:solidFill>
              <a:srgbClr val="0891B2"/>
            </a:solidFill>
            <a:prstDash val="solid"/>
          </a:ln>
        </p:spPr>
        <p:txBody>
          <a:bodyPr/>
          <a:lstStyle/>
          <a:p>
            <a:endParaRPr lang="en-US"/>
          </a:p>
        </p:txBody>
      </p:sp>
      <p:sp>
        <p:nvSpPr>
          <p:cNvPr id="33" name="Text 31"/>
          <p:cNvSpPr/>
          <p:nvPr/>
        </p:nvSpPr>
        <p:spPr>
          <a:xfrm>
            <a:off x="3758184" y="26517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Owner</a:t>
            </a:r>
            <a:endParaRPr lang="en-US" sz="750" dirty="0"/>
          </a:p>
        </p:txBody>
      </p:sp>
      <p:sp>
        <p:nvSpPr>
          <p:cNvPr id="34" name="Text 32"/>
          <p:cNvSpPr/>
          <p:nvPr/>
        </p:nvSpPr>
        <p:spPr>
          <a:xfrm>
            <a:off x="3355848" y="28986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Open second browser as team_owner. Show canBid controls, place a bid, watch real-time update.</a:t>
            </a:r>
            <a:endParaRPr lang="en-US" sz="900" dirty="0"/>
          </a:p>
        </p:txBody>
      </p:sp>
      <p:sp>
        <p:nvSpPr>
          <p:cNvPr id="35" name="Shape 33"/>
          <p:cNvSpPr/>
          <p:nvPr/>
        </p:nvSpPr>
        <p:spPr>
          <a:xfrm>
            <a:off x="6035040" y="22860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36" name="Text 34"/>
          <p:cNvSpPr/>
          <p:nvPr/>
        </p:nvSpPr>
        <p:spPr>
          <a:xfrm>
            <a:off x="6035040" y="23317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06</a:t>
            </a:r>
            <a:endParaRPr lang="en-US" sz="2200" dirty="0"/>
          </a:p>
        </p:txBody>
      </p:sp>
      <p:sp>
        <p:nvSpPr>
          <p:cNvPr id="37" name="Text 35"/>
          <p:cNvSpPr/>
          <p:nvPr/>
        </p:nvSpPr>
        <p:spPr>
          <a:xfrm>
            <a:off x="6547104" y="23774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Sold Toast</a:t>
            </a:r>
            <a:endParaRPr lang="en-US" sz="1200" dirty="0"/>
          </a:p>
        </p:txBody>
      </p:sp>
      <p:sp>
        <p:nvSpPr>
          <p:cNvPr id="38" name="Shape 36"/>
          <p:cNvSpPr/>
          <p:nvPr/>
        </p:nvSpPr>
        <p:spPr>
          <a:xfrm>
            <a:off x="6547104" y="2651760"/>
            <a:ext cx="685800" cy="182880"/>
          </a:xfrm>
          <a:prstGeom prst="roundRect">
            <a:avLst>
              <a:gd name="adj" fmla="val 50000"/>
            </a:avLst>
          </a:prstGeom>
          <a:solidFill>
            <a:srgbClr val="059669"/>
          </a:solidFill>
          <a:ln w="12700">
            <a:solidFill>
              <a:srgbClr val="059669"/>
            </a:solidFill>
            <a:prstDash val="solid"/>
          </a:ln>
        </p:spPr>
        <p:txBody>
          <a:bodyPr/>
          <a:lstStyle/>
          <a:p>
            <a:endParaRPr lang="en-US"/>
          </a:p>
        </p:txBody>
      </p:sp>
      <p:sp>
        <p:nvSpPr>
          <p:cNvPr id="39" name="Text 37"/>
          <p:cNvSpPr/>
          <p:nvPr/>
        </p:nvSpPr>
        <p:spPr>
          <a:xfrm>
            <a:off x="6547104" y="26517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All</a:t>
            </a:r>
            <a:endParaRPr lang="en-US" sz="750" dirty="0"/>
          </a:p>
        </p:txBody>
      </p:sp>
      <p:sp>
        <p:nvSpPr>
          <p:cNvPr id="40" name="Text 38"/>
          <p:cNvSpPr/>
          <p:nvPr/>
        </p:nvSpPr>
        <p:spPr>
          <a:xfrm>
            <a:off x="6144768" y="28986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Complete participant auction. Show Snackbar notification (sold/unsold) on all three role screens.</a:t>
            </a:r>
            <a:endParaRPr lang="en-US" sz="900" dirty="0"/>
          </a:p>
        </p:txBody>
      </p:sp>
      <p:sp>
        <p:nvSpPr>
          <p:cNvPr id="41" name="Shape 39"/>
          <p:cNvSpPr/>
          <p:nvPr/>
        </p:nvSpPr>
        <p:spPr>
          <a:xfrm>
            <a:off x="457200" y="36576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42" name="Text 40"/>
          <p:cNvSpPr/>
          <p:nvPr/>
        </p:nvSpPr>
        <p:spPr>
          <a:xfrm>
            <a:off x="457200" y="37033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07</a:t>
            </a:r>
            <a:endParaRPr lang="en-US" sz="2200" dirty="0"/>
          </a:p>
        </p:txBody>
      </p:sp>
      <p:sp>
        <p:nvSpPr>
          <p:cNvPr id="43" name="Text 41"/>
          <p:cNvSpPr/>
          <p:nvPr/>
        </p:nvSpPr>
        <p:spPr>
          <a:xfrm>
            <a:off x="969264" y="37490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Sport Tournament Setup</a:t>
            </a:r>
            <a:endParaRPr lang="en-US" sz="1200" dirty="0"/>
          </a:p>
        </p:txBody>
      </p:sp>
      <p:sp>
        <p:nvSpPr>
          <p:cNvPr id="44" name="Shape 42"/>
          <p:cNvSpPr/>
          <p:nvPr/>
        </p:nvSpPr>
        <p:spPr>
          <a:xfrm>
            <a:off x="969264" y="4023360"/>
            <a:ext cx="685800" cy="182880"/>
          </a:xfrm>
          <a:prstGeom prst="roundRect">
            <a:avLst>
              <a:gd name="adj" fmla="val 50000"/>
            </a:avLst>
          </a:prstGeom>
          <a:solidFill>
            <a:srgbClr val="1E3A8A"/>
          </a:solidFill>
          <a:ln w="12700">
            <a:solidFill>
              <a:srgbClr val="1E3A8A"/>
            </a:solidFill>
            <a:prstDash val="solid"/>
          </a:ln>
        </p:spPr>
        <p:txBody>
          <a:bodyPr/>
          <a:lstStyle/>
          <a:p>
            <a:endParaRPr lang="en-US"/>
          </a:p>
        </p:txBody>
      </p:sp>
      <p:sp>
        <p:nvSpPr>
          <p:cNvPr id="45" name="Text 43"/>
          <p:cNvSpPr/>
          <p:nvPr/>
        </p:nvSpPr>
        <p:spPr>
          <a:xfrm>
            <a:off x="969264" y="40233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Admin</a:t>
            </a:r>
            <a:endParaRPr lang="en-US" sz="750" dirty="0"/>
          </a:p>
        </p:txBody>
      </p:sp>
      <p:sp>
        <p:nvSpPr>
          <p:cNvPr id="46" name="Text 44"/>
          <p:cNvSpPr/>
          <p:nvPr/>
        </p:nvSpPr>
        <p:spPr>
          <a:xfrm>
            <a:off x="566928" y="42702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Navigate to Sport Tournament. Show Command Center with progress chips and readiness status.</a:t>
            </a:r>
            <a:endParaRPr lang="en-US" sz="900" dirty="0"/>
          </a:p>
        </p:txBody>
      </p:sp>
      <p:sp>
        <p:nvSpPr>
          <p:cNvPr id="47" name="Shape 45"/>
          <p:cNvSpPr/>
          <p:nvPr/>
        </p:nvSpPr>
        <p:spPr>
          <a:xfrm>
            <a:off x="3246120" y="36576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48" name="Text 46"/>
          <p:cNvSpPr/>
          <p:nvPr/>
        </p:nvSpPr>
        <p:spPr>
          <a:xfrm>
            <a:off x="3246120" y="37033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08</a:t>
            </a:r>
            <a:endParaRPr lang="en-US" sz="2200" dirty="0"/>
          </a:p>
        </p:txBody>
      </p:sp>
      <p:sp>
        <p:nvSpPr>
          <p:cNvPr id="49" name="Text 47"/>
          <p:cNvSpPr/>
          <p:nvPr/>
        </p:nvSpPr>
        <p:spPr>
          <a:xfrm>
            <a:off x="3758184" y="37490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Sport Auction Arena</a:t>
            </a:r>
            <a:endParaRPr lang="en-US" sz="1200" dirty="0"/>
          </a:p>
        </p:txBody>
      </p:sp>
      <p:sp>
        <p:nvSpPr>
          <p:cNvPr id="50" name="Shape 48"/>
          <p:cNvSpPr/>
          <p:nvPr/>
        </p:nvSpPr>
        <p:spPr>
          <a:xfrm>
            <a:off x="3758184" y="4023360"/>
            <a:ext cx="685800" cy="182880"/>
          </a:xfrm>
          <a:prstGeom prst="roundRect">
            <a:avLst>
              <a:gd name="adj" fmla="val 50000"/>
            </a:avLst>
          </a:prstGeom>
          <a:solidFill>
            <a:srgbClr val="7C3AED"/>
          </a:solidFill>
          <a:ln w="12700">
            <a:solidFill>
              <a:srgbClr val="7C3AED"/>
            </a:solidFill>
            <a:prstDash val="solid"/>
          </a:ln>
        </p:spPr>
        <p:txBody>
          <a:bodyPr/>
          <a:lstStyle/>
          <a:p>
            <a:endParaRPr lang="en-US"/>
          </a:p>
        </p:txBody>
      </p:sp>
      <p:sp>
        <p:nvSpPr>
          <p:cNvPr id="51" name="Text 49"/>
          <p:cNvSpPr/>
          <p:nvPr/>
        </p:nvSpPr>
        <p:spPr>
          <a:xfrm>
            <a:off x="3758184" y="40233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Captain</a:t>
            </a:r>
            <a:endParaRPr lang="en-US" sz="750" dirty="0"/>
          </a:p>
        </p:txBody>
      </p:sp>
      <p:sp>
        <p:nvSpPr>
          <p:cNvPr id="52" name="Text 50"/>
          <p:cNvSpPr/>
          <p:nvPr/>
        </p:nvSpPr>
        <p:spPr>
          <a:xfrm>
            <a:off x="3355848" y="42702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Enter Sport Auction Arena as captain. Show credit budgets, bid on athlete, socket update.</a:t>
            </a:r>
            <a:endParaRPr lang="en-US" sz="900" dirty="0"/>
          </a:p>
        </p:txBody>
      </p:sp>
      <p:sp>
        <p:nvSpPr>
          <p:cNvPr id="53" name="Shape 51"/>
          <p:cNvSpPr/>
          <p:nvPr/>
        </p:nvSpPr>
        <p:spPr>
          <a:xfrm>
            <a:off x="6035040" y="3657600"/>
            <a:ext cx="2651760" cy="1261872"/>
          </a:xfrm>
          <a:prstGeom prst="roundRect">
            <a:avLst>
              <a:gd name="adj" fmla="val 7246"/>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54" name="Text 52"/>
          <p:cNvSpPr/>
          <p:nvPr/>
        </p:nvSpPr>
        <p:spPr>
          <a:xfrm>
            <a:off x="6035040" y="3703320"/>
            <a:ext cx="502920" cy="457200"/>
          </a:xfrm>
          <a:prstGeom prst="rect">
            <a:avLst/>
          </a:prstGeom>
          <a:noFill/>
          <a:ln/>
        </p:spPr>
        <p:txBody>
          <a:bodyPr wrap="square" lIns="0" tIns="0" rIns="0" bIns="0" rtlCol="0" anchor="ctr"/>
          <a:lstStyle/>
          <a:p>
            <a:pPr marL="0" indent="0" algn="ctr">
              <a:buNone/>
            </a:pPr>
            <a:r>
              <a:rPr lang="en-US" sz="2200" b="1" dirty="0">
                <a:solidFill>
                  <a:srgbClr val="F0A030"/>
                </a:solidFill>
                <a:latin typeface="Cambria" pitchFamily="34" charset="0"/>
                <a:ea typeface="Cambria" pitchFamily="34" charset="-122"/>
                <a:cs typeface="Cambria" pitchFamily="34" charset="-120"/>
              </a:rPr>
              <a:t>09</a:t>
            </a:r>
            <a:endParaRPr lang="en-US" sz="2200" dirty="0"/>
          </a:p>
        </p:txBody>
      </p:sp>
      <p:sp>
        <p:nvSpPr>
          <p:cNvPr id="55" name="Text 53"/>
          <p:cNvSpPr/>
          <p:nvPr/>
        </p:nvSpPr>
        <p:spPr>
          <a:xfrm>
            <a:off x="6547104" y="3749040"/>
            <a:ext cx="201168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Results</a:t>
            </a:r>
            <a:endParaRPr lang="en-US" sz="1200" dirty="0"/>
          </a:p>
        </p:txBody>
      </p:sp>
      <p:sp>
        <p:nvSpPr>
          <p:cNvPr id="56" name="Shape 54"/>
          <p:cNvSpPr/>
          <p:nvPr/>
        </p:nvSpPr>
        <p:spPr>
          <a:xfrm>
            <a:off x="6547104" y="4023360"/>
            <a:ext cx="685800" cy="182880"/>
          </a:xfrm>
          <a:prstGeom prst="roundRect">
            <a:avLst>
              <a:gd name="adj" fmla="val 50000"/>
            </a:avLst>
          </a:prstGeom>
          <a:solidFill>
            <a:srgbClr val="059669"/>
          </a:solidFill>
          <a:ln w="12700">
            <a:solidFill>
              <a:srgbClr val="059669"/>
            </a:solidFill>
            <a:prstDash val="solid"/>
          </a:ln>
        </p:spPr>
        <p:txBody>
          <a:bodyPr/>
          <a:lstStyle/>
          <a:p>
            <a:endParaRPr lang="en-US"/>
          </a:p>
        </p:txBody>
      </p:sp>
      <p:sp>
        <p:nvSpPr>
          <p:cNvPr id="57" name="Text 55"/>
          <p:cNvSpPr/>
          <p:nvPr/>
        </p:nvSpPr>
        <p:spPr>
          <a:xfrm>
            <a:off x="6547104" y="4023360"/>
            <a:ext cx="68580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All</a:t>
            </a:r>
            <a:endParaRPr lang="en-US" sz="750" dirty="0"/>
          </a:p>
        </p:txBody>
      </p:sp>
      <p:sp>
        <p:nvSpPr>
          <p:cNvPr id="58" name="Text 56"/>
          <p:cNvSpPr/>
          <p:nvPr/>
        </p:nvSpPr>
        <p:spPr>
          <a:xfrm>
            <a:off x="6144768" y="4270248"/>
            <a:ext cx="2432304" cy="594360"/>
          </a:xfrm>
          <a:prstGeom prst="rect">
            <a:avLst/>
          </a:prstGeom>
          <a:noFill/>
          <a:ln/>
        </p:spPr>
        <p:txBody>
          <a:bodyPr wrap="square" lIns="0" tIns="0" rIns="0" bIns="0" rtlCol="0" anchor="t"/>
          <a:lstStyle/>
          <a:p>
            <a:pPr marL="0" indent="0" algn="l">
              <a:buNone/>
            </a:pPr>
            <a:r>
              <a:rPr lang="en-US" sz="900" dirty="0">
                <a:solidFill>
                  <a:srgbClr val="64748B"/>
                </a:solidFill>
                <a:latin typeface="Calibri" pitchFamily="34" charset="0"/>
                <a:ea typeface="Calibri" pitchFamily="34" charset="-122"/>
                <a:cs typeface="Calibri" pitchFamily="34" charset="-120"/>
              </a:rPr>
              <a:t>Navigate to Sport Auction Results page. Show sold/unsold table, summary chips, AuctionContextNavigation.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AI DEVELOPMENT APPROACH</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Prompt Engineering — Categories &amp; Examples</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60120"/>
            <a:ext cx="8229600" cy="758952"/>
          </a:xfrm>
          <a:prstGeom prst="roundRect">
            <a:avLst>
              <a:gd name="adj" fmla="val 1204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457200" y="960120"/>
            <a:ext cx="1463040" cy="758952"/>
          </a:xfrm>
          <a:prstGeom prst="roundRect">
            <a:avLst>
              <a:gd name="adj" fmla="val 12048"/>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457200" y="960120"/>
            <a:ext cx="1371600" cy="7589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Architecture Prompts</a:t>
            </a:r>
            <a:endParaRPr lang="en-US" sz="1050" dirty="0"/>
          </a:p>
        </p:txBody>
      </p:sp>
      <p:sp>
        <p:nvSpPr>
          <p:cNvPr id="8" name="Text 6"/>
          <p:cNvSpPr/>
          <p:nvPr/>
        </p:nvSpPr>
        <p:spPr>
          <a:xfrm>
            <a:off x="2011680" y="1051560"/>
            <a:ext cx="6492240" cy="594360"/>
          </a:xfrm>
          <a:prstGeom prst="rect">
            <a:avLst/>
          </a:prstGeom>
          <a:noFill/>
          <a:ln/>
        </p:spPr>
        <p:txBody>
          <a:bodyPr wrap="square" lIns="0" tIns="0" rIns="0" bIns="0" rtlCol="0" anchor="t"/>
          <a:lstStyle/>
          <a:p>
            <a:pPr marL="0" indent="0" algn="l">
              <a:buNone/>
            </a:pPr>
            <a:r>
              <a:rPr lang="en-US" sz="950" i="1" dirty="0">
                <a:solidFill>
                  <a:srgbClr val="1E293B"/>
                </a:solidFill>
                <a:latin typeface="Calibri" pitchFamily="34" charset="0"/>
                <a:ea typeface="Calibri" pitchFamily="34" charset="-122"/>
                <a:cs typeface="Calibri" pitchFamily="34" charset="-120"/>
              </a:rPr>
              <a:t>"Design the auction state synchronisation model. The server should push snapshots, not deltas. Clients must handle out-of-order delivery. Propose the revision guard mechanism."</a:t>
            </a:r>
            <a:endParaRPr lang="en-US" sz="950" dirty="0"/>
          </a:p>
        </p:txBody>
      </p:sp>
      <p:sp>
        <p:nvSpPr>
          <p:cNvPr id="9" name="Shape 7"/>
          <p:cNvSpPr/>
          <p:nvPr/>
        </p:nvSpPr>
        <p:spPr>
          <a:xfrm>
            <a:off x="457200" y="1783080"/>
            <a:ext cx="8229600" cy="758952"/>
          </a:xfrm>
          <a:prstGeom prst="roundRect">
            <a:avLst>
              <a:gd name="adj" fmla="val 1204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0" name="Shape 8"/>
          <p:cNvSpPr/>
          <p:nvPr/>
        </p:nvSpPr>
        <p:spPr>
          <a:xfrm>
            <a:off x="457200" y="1783080"/>
            <a:ext cx="1463040" cy="758952"/>
          </a:xfrm>
          <a:prstGeom prst="roundRect">
            <a:avLst>
              <a:gd name="adj" fmla="val 12048"/>
            </a:avLst>
          </a:prstGeom>
          <a:solidFill>
            <a:srgbClr val="EA580C"/>
          </a:solidFill>
          <a:ln w="12700">
            <a:solidFill>
              <a:srgbClr val="EA580C"/>
            </a:solidFill>
            <a:prstDash val="solid"/>
          </a:ln>
        </p:spPr>
        <p:txBody>
          <a:bodyPr/>
          <a:lstStyle/>
          <a:p>
            <a:endParaRPr lang="en-US"/>
          </a:p>
        </p:txBody>
      </p:sp>
      <p:sp>
        <p:nvSpPr>
          <p:cNvPr id="11" name="Text 9"/>
          <p:cNvSpPr/>
          <p:nvPr/>
        </p:nvSpPr>
        <p:spPr>
          <a:xfrm>
            <a:off x="457200" y="1783080"/>
            <a:ext cx="1371600" cy="7589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Audit Prompts</a:t>
            </a:r>
            <a:endParaRPr lang="en-US" sz="1050" dirty="0"/>
          </a:p>
        </p:txBody>
      </p:sp>
      <p:sp>
        <p:nvSpPr>
          <p:cNvPr id="12" name="Text 10"/>
          <p:cNvSpPr/>
          <p:nvPr/>
        </p:nvSpPr>
        <p:spPr>
          <a:xfrm>
            <a:off x="2011680" y="1874520"/>
            <a:ext cx="6492240" cy="594360"/>
          </a:xfrm>
          <a:prstGeom prst="rect">
            <a:avLst/>
          </a:prstGeom>
          <a:noFill/>
          <a:ln/>
        </p:spPr>
        <p:txBody>
          <a:bodyPr wrap="square" lIns="0" tIns="0" rIns="0" bIns="0" rtlCol="0" anchor="t"/>
          <a:lstStyle/>
          <a:p>
            <a:pPr marL="0" indent="0" algn="l">
              <a:buNone/>
            </a:pPr>
            <a:r>
              <a:rPr lang="en-US" sz="950" i="1" dirty="0">
                <a:solidFill>
                  <a:srgbClr val="1E293B"/>
                </a:solidFill>
                <a:latin typeface="Calibri" pitchFamily="34" charset="0"/>
                <a:ea typeface="Calibri" pitchFamily="34" charset="-122"/>
                <a:cs typeface="Calibri" pitchFamily="34" charset="-120"/>
              </a:rPr>
              <a:t>"Review Sport Tournament against Festival as reference. For each of these 12 areas, identify gaps, severity, and the specific fix needed: setup, status, command center, arena, hub, results..."</a:t>
            </a:r>
            <a:endParaRPr lang="en-US" sz="950" dirty="0"/>
          </a:p>
        </p:txBody>
      </p:sp>
      <p:sp>
        <p:nvSpPr>
          <p:cNvPr id="13" name="Shape 11"/>
          <p:cNvSpPr/>
          <p:nvPr/>
        </p:nvSpPr>
        <p:spPr>
          <a:xfrm>
            <a:off x="457200" y="2606040"/>
            <a:ext cx="8229600" cy="758952"/>
          </a:xfrm>
          <a:prstGeom prst="roundRect">
            <a:avLst>
              <a:gd name="adj" fmla="val 1204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4" name="Shape 12"/>
          <p:cNvSpPr/>
          <p:nvPr/>
        </p:nvSpPr>
        <p:spPr>
          <a:xfrm>
            <a:off x="457200" y="2606040"/>
            <a:ext cx="1463040" cy="758952"/>
          </a:xfrm>
          <a:prstGeom prst="roundRect">
            <a:avLst>
              <a:gd name="adj" fmla="val 12048"/>
            </a:avLst>
          </a:prstGeom>
          <a:solidFill>
            <a:srgbClr val="0891B2"/>
          </a:solidFill>
          <a:ln w="12700">
            <a:solidFill>
              <a:srgbClr val="0891B2"/>
            </a:solidFill>
            <a:prstDash val="solid"/>
          </a:ln>
        </p:spPr>
        <p:txBody>
          <a:bodyPr/>
          <a:lstStyle/>
          <a:p>
            <a:endParaRPr lang="en-US"/>
          </a:p>
        </p:txBody>
      </p:sp>
      <p:sp>
        <p:nvSpPr>
          <p:cNvPr id="15" name="Text 13"/>
          <p:cNvSpPr/>
          <p:nvPr/>
        </p:nvSpPr>
        <p:spPr>
          <a:xfrm>
            <a:off x="457200" y="2606040"/>
            <a:ext cx="1371600" cy="7589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Implementation Prompts</a:t>
            </a:r>
            <a:endParaRPr lang="en-US" sz="1050" dirty="0"/>
          </a:p>
        </p:txBody>
      </p:sp>
      <p:sp>
        <p:nvSpPr>
          <p:cNvPr id="16" name="Text 14"/>
          <p:cNvSpPr/>
          <p:nvPr/>
        </p:nvSpPr>
        <p:spPr>
          <a:xfrm>
            <a:off x="2011680" y="2697480"/>
            <a:ext cx="6492240" cy="594360"/>
          </a:xfrm>
          <a:prstGeom prst="rect">
            <a:avLst/>
          </a:prstGeom>
          <a:noFill/>
          <a:ln/>
        </p:spPr>
        <p:txBody>
          <a:bodyPr wrap="square" lIns="0" tIns="0" rIns="0" bIns="0" rtlCol="0" anchor="t"/>
          <a:lstStyle/>
          <a:p>
            <a:pPr marL="0" indent="0" algn="l">
              <a:buNone/>
            </a:pPr>
            <a:r>
              <a:rPr lang="en-US" sz="950" i="1" dirty="0">
                <a:solidFill>
                  <a:srgbClr val="1E293B"/>
                </a:solidFill>
                <a:latin typeface="Calibri" pitchFamily="34" charset="0"/>
                <a:ea typeface="Calibri" pitchFamily="34" charset="-122"/>
                <a:cs typeface="Calibri" pitchFamily="34" charset="-120"/>
              </a:rPr>
              <a:t>"Implement readiness fetch in SportAuctionHub. Follow the same pattern as FestivalAuctionHub. Use Promise.allSettled. Add lastRevision ref. Add socket reconnect handler. Do not touch Festival code."</a:t>
            </a:r>
            <a:endParaRPr lang="en-US" sz="950" dirty="0"/>
          </a:p>
        </p:txBody>
      </p:sp>
      <p:sp>
        <p:nvSpPr>
          <p:cNvPr id="17" name="Shape 15"/>
          <p:cNvSpPr/>
          <p:nvPr/>
        </p:nvSpPr>
        <p:spPr>
          <a:xfrm>
            <a:off x="457200" y="3429000"/>
            <a:ext cx="8229600" cy="758952"/>
          </a:xfrm>
          <a:prstGeom prst="roundRect">
            <a:avLst>
              <a:gd name="adj" fmla="val 1204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8" name="Shape 16"/>
          <p:cNvSpPr/>
          <p:nvPr/>
        </p:nvSpPr>
        <p:spPr>
          <a:xfrm>
            <a:off x="457200" y="3429000"/>
            <a:ext cx="1463040" cy="758952"/>
          </a:xfrm>
          <a:prstGeom prst="roundRect">
            <a:avLst>
              <a:gd name="adj" fmla="val 12048"/>
            </a:avLst>
          </a:prstGeom>
          <a:solidFill>
            <a:srgbClr val="7C3AED"/>
          </a:solidFill>
          <a:ln w="12700">
            <a:solidFill>
              <a:srgbClr val="7C3AED"/>
            </a:solidFill>
            <a:prstDash val="solid"/>
          </a:ln>
        </p:spPr>
        <p:txBody>
          <a:bodyPr/>
          <a:lstStyle/>
          <a:p>
            <a:endParaRPr lang="en-US"/>
          </a:p>
        </p:txBody>
      </p:sp>
      <p:sp>
        <p:nvSpPr>
          <p:cNvPr id="19" name="Text 17"/>
          <p:cNvSpPr/>
          <p:nvPr/>
        </p:nvSpPr>
        <p:spPr>
          <a:xfrm>
            <a:off x="457200" y="3429000"/>
            <a:ext cx="1463040" cy="7589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Refactoring Prompts</a:t>
            </a:r>
            <a:endParaRPr lang="en-US" sz="1050" dirty="0"/>
          </a:p>
        </p:txBody>
      </p:sp>
      <p:sp>
        <p:nvSpPr>
          <p:cNvPr id="20" name="Text 18"/>
          <p:cNvSpPr/>
          <p:nvPr/>
        </p:nvSpPr>
        <p:spPr>
          <a:xfrm>
            <a:off x="2011680" y="3520440"/>
            <a:ext cx="6492240" cy="594360"/>
          </a:xfrm>
          <a:prstGeom prst="rect">
            <a:avLst/>
          </a:prstGeom>
          <a:noFill/>
          <a:ln/>
        </p:spPr>
        <p:txBody>
          <a:bodyPr wrap="square" lIns="0" tIns="0" rIns="0" bIns="0" rtlCol="0" anchor="t"/>
          <a:lstStyle/>
          <a:p>
            <a:pPr marL="0" indent="0" algn="l">
              <a:buNone/>
            </a:pPr>
            <a:r>
              <a:rPr lang="en-US" sz="950" i="1" dirty="0">
                <a:solidFill>
                  <a:srgbClr val="1E293B"/>
                </a:solidFill>
                <a:latin typeface="Calibri" pitchFamily="34" charset="0"/>
                <a:ea typeface="Calibri" pitchFamily="34" charset="-122"/>
                <a:cs typeface="Calibri" pitchFamily="34" charset="-120"/>
              </a:rPr>
              <a:t>"SportAuctionResultsPage is a 5-line stub. Rewrite it as a full standalone page following FestivalAuctionResultsPage. Route param is :id. Use the same stage guard pattern."</a:t>
            </a:r>
            <a:endParaRPr lang="en-US" sz="950" dirty="0"/>
          </a:p>
        </p:txBody>
      </p:sp>
      <p:sp>
        <p:nvSpPr>
          <p:cNvPr id="21" name="Shape 19"/>
          <p:cNvSpPr/>
          <p:nvPr/>
        </p:nvSpPr>
        <p:spPr>
          <a:xfrm>
            <a:off x="457200" y="4251960"/>
            <a:ext cx="8229600" cy="758952"/>
          </a:xfrm>
          <a:prstGeom prst="roundRect">
            <a:avLst>
              <a:gd name="adj" fmla="val 1204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2" name="Shape 20"/>
          <p:cNvSpPr/>
          <p:nvPr/>
        </p:nvSpPr>
        <p:spPr>
          <a:xfrm>
            <a:off x="457200" y="4251960"/>
            <a:ext cx="1463040" cy="758952"/>
          </a:xfrm>
          <a:prstGeom prst="roundRect">
            <a:avLst>
              <a:gd name="adj" fmla="val 12048"/>
            </a:avLst>
          </a:prstGeom>
          <a:solidFill>
            <a:srgbClr val="059669"/>
          </a:solidFill>
          <a:ln w="12700">
            <a:solidFill>
              <a:srgbClr val="059669"/>
            </a:solidFill>
            <a:prstDash val="solid"/>
          </a:ln>
        </p:spPr>
        <p:txBody>
          <a:bodyPr/>
          <a:lstStyle/>
          <a:p>
            <a:endParaRPr lang="en-US"/>
          </a:p>
        </p:txBody>
      </p:sp>
      <p:sp>
        <p:nvSpPr>
          <p:cNvPr id="23" name="Text 21"/>
          <p:cNvSpPr/>
          <p:nvPr/>
        </p:nvSpPr>
        <p:spPr>
          <a:xfrm>
            <a:off x="457200" y="4251960"/>
            <a:ext cx="1463040" cy="7589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Documentation Prompts</a:t>
            </a:r>
            <a:endParaRPr lang="en-US" sz="1050" dirty="0"/>
          </a:p>
        </p:txBody>
      </p:sp>
      <p:sp>
        <p:nvSpPr>
          <p:cNvPr id="24" name="Text 22"/>
          <p:cNvSpPr/>
          <p:nvPr/>
        </p:nvSpPr>
        <p:spPr>
          <a:xfrm>
            <a:off x="2011680" y="4343400"/>
            <a:ext cx="6492240" cy="594360"/>
          </a:xfrm>
          <a:prstGeom prst="rect">
            <a:avLst/>
          </a:prstGeom>
          <a:noFill/>
          <a:ln/>
        </p:spPr>
        <p:txBody>
          <a:bodyPr wrap="square" lIns="0" tIns="0" rIns="0" bIns="0" rtlCol="0" anchor="t"/>
          <a:lstStyle/>
          <a:p>
            <a:pPr marL="0" indent="0" algn="l">
              <a:buNone/>
            </a:pPr>
            <a:r>
              <a:rPr lang="en-US" sz="950" i="1" dirty="0">
                <a:solidFill>
                  <a:srgbClr val="1E293B"/>
                </a:solidFill>
                <a:latin typeface="Calibri" pitchFamily="34" charset="0"/>
                <a:ea typeface="Calibri" pitchFamily="34" charset="-122"/>
                <a:cs typeface="Calibri" pitchFamily="34" charset="-120"/>
              </a:rPr>
              <a:t>"Review the entire codebase including all phase reports, audit documents, and source files. Produce a complete PRD covering executive summary, user personas, all role capabilities, and success metrics."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CHALLENGES &amp; LEARNINGS</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Challenges Faced &amp; Lessons Learned</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4023360" cy="3977640"/>
          </a:xfrm>
          <a:prstGeom prst="roundRect">
            <a:avLst>
              <a:gd name="adj" fmla="val 2299"/>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Text 4"/>
          <p:cNvSpPr/>
          <p:nvPr/>
        </p:nvSpPr>
        <p:spPr>
          <a:xfrm>
            <a:off x="594360" y="987552"/>
            <a:ext cx="3749040" cy="274320"/>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Key Challenges</a:t>
            </a:r>
            <a:endParaRPr lang="en-US" sz="1200" dirty="0"/>
          </a:p>
        </p:txBody>
      </p:sp>
      <p:sp>
        <p:nvSpPr>
          <p:cNvPr id="7" name="Text 5"/>
          <p:cNvSpPr/>
          <p:nvPr/>
        </p:nvSpPr>
        <p:spPr>
          <a:xfrm>
            <a:off x="594360" y="1353312"/>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Real-Time State Consistency</a:t>
            </a:r>
            <a:endParaRPr lang="en-US" sz="1000" dirty="0"/>
          </a:p>
        </p:txBody>
      </p:sp>
      <p:sp>
        <p:nvSpPr>
          <p:cNvPr id="8" name="Text 6"/>
          <p:cNvSpPr/>
          <p:nvPr/>
        </p:nvSpPr>
        <p:spPr>
          <a:xfrm>
            <a:off x="594360" y="1554480"/>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Buffered socket payloads with stale revisions overwrote newer state. Solved with revision guard.</a:t>
            </a:r>
            <a:endParaRPr lang="en-US" sz="900" dirty="0"/>
          </a:p>
        </p:txBody>
      </p:sp>
      <p:sp>
        <p:nvSpPr>
          <p:cNvPr id="9" name="Text 7"/>
          <p:cNvSpPr/>
          <p:nvPr/>
        </p:nvSpPr>
        <p:spPr>
          <a:xfrm>
            <a:off x="594360" y="1938528"/>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Dual Auction System Parity</a:t>
            </a:r>
            <a:endParaRPr lang="en-US" sz="1000" dirty="0"/>
          </a:p>
        </p:txBody>
      </p:sp>
      <p:sp>
        <p:nvSpPr>
          <p:cNvPr id="10" name="Text 8"/>
          <p:cNvSpPr/>
          <p:nvPr/>
        </p:nvSpPr>
        <p:spPr>
          <a:xfrm>
            <a:off x="594360" y="2139696"/>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Sport Tournament shipped without readiness fetch, reconnect handler, and results page. Required dedicated parity audit.</a:t>
            </a:r>
            <a:endParaRPr lang="en-US" sz="900" dirty="0"/>
          </a:p>
        </p:txBody>
      </p:sp>
      <p:sp>
        <p:nvSpPr>
          <p:cNvPr id="11" name="Text 9"/>
          <p:cNvSpPr/>
          <p:nvPr/>
        </p:nvSpPr>
        <p:spPr>
          <a:xfrm>
            <a:off x="594360" y="2523744"/>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Role Visibility Bugs</a:t>
            </a:r>
            <a:endParaRPr lang="en-US" sz="1000" dirty="0"/>
          </a:p>
        </p:txBody>
      </p:sp>
      <p:sp>
        <p:nvSpPr>
          <p:cNvPr id="12" name="Text 10"/>
          <p:cNvSpPr/>
          <p:nvPr/>
        </p:nvSpPr>
        <p:spPr>
          <a:xfrm>
            <a:off x="594360" y="2724912"/>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Spectators couldn't see sport tournaments in SETUP stage. Root cause: over-restrictive backend filtering by role + status.</a:t>
            </a:r>
            <a:endParaRPr lang="en-US" sz="900" dirty="0"/>
          </a:p>
        </p:txBody>
      </p:sp>
      <p:sp>
        <p:nvSpPr>
          <p:cNvPr id="13" name="Text 11"/>
          <p:cNvSpPr/>
          <p:nvPr/>
        </p:nvSpPr>
        <p:spPr>
          <a:xfrm>
            <a:off x="594360" y="3108960"/>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Promise.all Fragility</a:t>
            </a:r>
            <a:endParaRPr lang="en-US" sz="1000" dirty="0"/>
          </a:p>
        </p:txBody>
      </p:sp>
      <p:sp>
        <p:nvSpPr>
          <p:cNvPr id="14" name="Text 12"/>
          <p:cNvSpPr/>
          <p:nvPr/>
        </p:nvSpPr>
        <p:spPr>
          <a:xfrm>
            <a:off x="594360" y="3310128"/>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One 404 (unconfigured auction) crashed the entire page load. Required systematic audit and Promise.allSettled migration.</a:t>
            </a:r>
            <a:endParaRPr lang="en-US" sz="900" dirty="0"/>
          </a:p>
        </p:txBody>
      </p:sp>
      <p:sp>
        <p:nvSpPr>
          <p:cNvPr id="15" name="Text 13"/>
          <p:cNvSpPr/>
          <p:nvPr/>
        </p:nvSpPr>
        <p:spPr>
          <a:xfrm>
            <a:off x="594360" y="3694176"/>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Fragment Import Error</a:t>
            </a:r>
            <a:endParaRPr lang="en-US" sz="1000" dirty="0"/>
          </a:p>
        </p:txBody>
      </p:sp>
      <p:sp>
        <p:nvSpPr>
          <p:cNvPr id="16" name="Text 14"/>
          <p:cNvSpPr/>
          <p:nvPr/>
        </p:nvSpPr>
        <p:spPr>
          <a:xfrm>
            <a:off x="594360" y="3895344"/>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Fragment imported from MUI instead of React caused a runtime crash. Clear from the error message but subtle to introduce.</a:t>
            </a:r>
            <a:endParaRPr lang="en-US" sz="900" dirty="0"/>
          </a:p>
        </p:txBody>
      </p:sp>
      <p:sp>
        <p:nvSpPr>
          <p:cNvPr id="17" name="Text 15"/>
          <p:cNvSpPr/>
          <p:nvPr/>
        </p:nvSpPr>
        <p:spPr>
          <a:xfrm>
            <a:off x="594360" y="4279392"/>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Context Window Limits</a:t>
            </a:r>
            <a:endParaRPr lang="en-US" sz="1000" dirty="0"/>
          </a:p>
        </p:txBody>
      </p:sp>
      <p:sp>
        <p:nvSpPr>
          <p:cNvPr id="18" name="Text 16"/>
          <p:cNvSpPr/>
          <p:nvPr/>
        </p:nvSpPr>
        <p:spPr>
          <a:xfrm>
            <a:off x="594360" y="4480560"/>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Long development sessions required careful context management to maintain AI accuracy across phases.</a:t>
            </a:r>
            <a:endParaRPr lang="en-US" sz="900" dirty="0"/>
          </a:p>
        </p:txBody>
      </p:sp>
      <p:sp>
        <p:nvSpPr>
          <p:cNvPr id="19" name="Shape 17"/>
          <p:cNvSpPr/>
          <p:nvPr/>
        </p:nvSpPr>
        <p:spPr>
          <a:xfrm>
            <a:off x="4663440" y="914400"/>
            <a:ext cx="4023360" cy="3977640"/>
          </a:xfrm>
          <a:prstGeom prst="roundRect">
            <a:avLst>
              <a:gd name="adj" fmla="val 2299"/>
            </a:avLst>
          </a:prstGeom>
          <a:solidFill>
            <a:srgbClr val="F0FDF4"/>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0" name="Text 18"/>
          <p:cNvSpPr/>
          <p:nvPr/>
        </p:nvSpPr>
        <p:spPr>
          <a:xfrm>
            <a:off x="4800600" y="987552"/>
            <a:ext cx="3749040" cy="274320"/>
          </a:xfrm>
          <a:prstGeom prst="rect">
            <a:avLst/>
          </a:prstGeom>
          <a:noFill/>
          <a:ln/>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Lessons Learned</a:t>
            </a:r>
            <a:endParaRPr lang="en-US" sz="1200" dirty="0"/>
          </a:p>
        </p:txBody>
      </p:sp>
      <p:sp>
        <p:nvSpPr>
          <p:cNvPr id="21" name="Text 19"/>
          <p:cNvSpPr/>
          <p:nvPr/>
        </p:nvSpPr>
        <p:spPr>
          <a:xfrm>
            <a:off x="4800600" y="1353312"/>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Audit-Driven Development Works</a:t>
            </a:r>
            <a:endParaRPr lang="en-US" sz="1000" dirty="0"/>
          </a:p>
        </p:txBody>
      </p:sp>
      <p:sp>
        <p:nvSpPr>
          <p:cNvPr id="22" name="Text 20"/>
          <p:cNvSpPr/>
          <p:nvPr/>
        </p:nvSpPr>
        <p:spPr>
          <a:xfrm>
            <a:off x="4800600" y="1554480"/>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Running formal parity audits at phase boundaries caught more defects than ad-hoc reviews. Write the audit brief first.</a:t>
            </a:r>
            <a:endParaRPr lang="en-US" sz="900" dirty="0"/>
          </a:p>
        </p:txBody>
      </p:sp>
      <p:sp>
        <p:nvSpPr>
          <p:cNvPr id="23" name="Text 21"/>
          <p:cNvSpPr/>
          <p:nvPr/>
        </p:nvSpPr>
        <p:spPr>
          <a:xfrm>
            <a:off x="4800600" y="1938528"/>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Constraint Prompts &gt; Open Prompts</a:t>
            </a:r>
            <a:endParaRPr lang="en-US" sz="1000" dirty="0"/>
          </a:p>
        </p:txBody>
      </p:sp>
      <p:sp>
        <p:nvSpPr>
          <p:cNvPr id="24" name="Text 22"/>
          <p:cNvSpPr/>
          <p:nvPr/>
        </p:nvSpPr>
        <p:spPr>
          <a:xfrm>
            <a:off x="4800600" y="2139696"/>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"Don't touch Festival code, follow FestivalAuctionHub as the reference" produced far better results than open-ended requests.</a:t>
            </a:r>
            <a:endParaRPr lang="en-US" sz="900" dirty="0"/>
          </a:p>
        </p:txBody>
      </p:sp>
      <p:sp>
        <p:nvSpPr>
          <p:cNvPr id="25" name="Text 23"/>
          <p:cNvSpPr/>
          <p:nvPr/>
        </p:nvSpPr>
        <p:spPr>
          <a:xfrm>
            <a:off x="4800600" y="2523744"/>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Human Review is Non-Negotiable</a:t>
            </a:r>
            <a:endParaRPr lang="en-US" sz="1000" dirty="0"/>
          </a:p>
        </p:txBody>
      </p:sp>
      <p:sp>
        <p:nvSpPr>
          <p:cNvPr id="26" name="Text 24"/>
          <p:cNvSpPr/>
          <p:nvPr/>
        </p:nvSpPr>
        <p:spPr>
          <a:xfrm>
            <a:off x="4800600" y="2724912"/>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never detected runtime-only bugs. Every integration required manual testing. AI accelerates, not replaces, engineering.</a:t>
            </a:r>
            <a:endParaRPr lang="en-US" sz="900" dirty="0"/>
          </a:p>
        </p:txBody>
      </p:sp>
      <p:sp>
        <p:nvSpPr>
          <p:cNvPr id="27" name="Text 25"/>
          <p:cNvSpPr/>
          <p:nvPr/>
        </p:nvSpPr>
        <p:spPr>
          <a:xfrm>
            <a:off x="4800600" y="3108960"/>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Document as You Build</a:t>
            </a:r>
            <a:endParaRPr lang="en-US" sz="1000" dirty="0"/>
          </a:p>
        </p:txBody>
      </p:sp>
      <p:sp>
        <p:nvSpPr>
          <p:cNvPr id="28" name="Text 26"/>
          <p:cNvSpPr/>
          <p:nvPr/>
        </p:nvSpPr>
        <p:spPr>
          <a:xfrm>
            <a:off x="4800600" y="3310128"/>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AI-assisted documentation written alongside code was far better than documentation written retrospectively from memory.</a:t>
            </a:r>
            <a:endParaRPr lang="en-US" sz="900" dirty="0"/>
          </a:p>
        </p:txBody>
      </p:sp>
      <p:sp>
        <p:nvSpPr>
          <p:cNvPr id="29" name="Text 27"/>
          <p:cNvSpPr/>
          <p:nvPr/>
        </p:nvSpPr>
        <p:spPr>
          <a:xfrm>
            <a:off x="4800600" y="3694176"/>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Iterative Stabilisation</a:t>
            </a:r>
            <a:endParaRPr lang="en-US" sz="1000" dirty="0"/>
          </a:p>
        </p:txBody>
      </p:sp>
      <p:sp>
        <p:nvSpPr>
          <p:cNvPr id="30" name="Text 28"/>
          <p:cNvSpPr/>
          <p:nvPr/>
        </p:nvSpPr>
        <p:spPr>
          <a:xfrm>
            <a:off x="4800600" y="3895344"/>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Rather than one big release, phased stabilisation (4A, 4B, 4C...) kept quality manageable and bugs isolated.</a:t>
            </a:r>
            <a:endParaRPr lang="en-US" sz="900" dirty="0"/>
          </a:p>
        </p:txBody>
      </p:sp>
      <p:sp>
        <p:nvSpPr>
          <p:cNvPr id="31" name="Text 29"/>
          <p:cNvSpPr/>
          <p:nvPr/>
        </p:nvSpPr>
        <p:spPr>
          <a:xfrm>
            <a:off x="4800600" y="4279392"/>
            <a:ext cx="374904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Architecture First</a:t>
            </a:r>
            <a:endParaRPr lang="en-US" sz="1000" dirty="0"/>
          </a:p>
        </p:txBody>
      </p:sp>
      <p:sp>
        <p:nvSpPr>
          <p:cNvPr id="32" name="Text 30"/>
          <p:cNvSpPr/>
          <p:nvPr/>
        </p:nvSpPr>
        <p:spPr>
          <a:xfrm>
            <a:off x="4800600" y="4480560"/>
            <a:ext cx="374904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Agreeing on the revision guard mechanism and Socket.IO room model before implementation prevented several redesigns.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164592"/>
          </a:xfrm>
          <a:prstGeom prst="rect">
            <a:avLst/>
          </a:prstGeom>
          <a:noFill/>
          <a:ln/>
        </p:spPr>
        <p:txBody>
          <a:bodyPr wrap="square" lIns="0" tIns="0" rIns="0" bIns="0" rtlCol="0" anchor="ctr"/>
          <a:lstStyle/>
          <a:p>
            <a:pPr marL="0" indent="0" algn="l">
              <a:buNone/>
            </a:pPr>
            <a:r>
              <a:rPr lang="en-US" sz="900" b="1" kern="0" spc="200" dirty="0">
                <a:solidFill>
                  <a:srgbClr val="F0A030"/>
                </a:solidFill>
                <a:latin typeface="Calibri" pitchFamily="34" charset="0"/>
                <a:ea typeface="Calibri" pitchFamily="34" charset="-122"/>
                <a:cs typeface="Calibri" pitchFamily="34" charset="-120"/>
              </a:rPr>
              <a:t>ROADMAP</a:t>
            </a:r>
            <a:endParaRPr lang="en-US" sz="900" dirty="0"/>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Future Roadmap — Realistic Next Steps</a:t>
            </a:r>
            <a:endParaRPr lang="en-US" sz="2600" dirty="0"/>
          </a:p>
        </p:txBody>
      </p:sp>
      <p:sp>
        <p:nvSpPr>
          <p:cNvPr id="4" name="Shape 2"/>
          <p:cNvSpPr/>
          <p:nvPr/>
        </p:nvSpPr>
        <p:spPr>
          <a:xfrm>
            <a:off x="457200" y="749808"/>
            <a:ext cx="822960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914400"/>
            <a:ext cx="2651760" cy="3977640"/>
          </a:xfrm>
          <a:prstGeom prst="roundRect">
            <a:avLst>
              <a:gd name="adj" fmla="val 344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6" name="Shape 4"/>
          <p:cNvSpPr/>
          <p:nvPr/>
        </p:nvSpPr>
        <p:spPr>
          <a:xfrm>
            <a:off x="457200" y="914400"/>
            <a:ext cx="2651760" cy="365760"/>
          </a:xfrm>
          <a:prstGeom prst="roundRect">
            <a:avLst>
              <a:gd name="adj" fmla="val 25000"/>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457200" y="914400"/>
            <a:ext cx="265176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Phase 1 — Production Hardening</a:t>
            </a:r>
            <a:endParaRPr lang="en-US" sz="950" dirty="0"/>
          </a:p>
        </p:txBody>
      </p:sp>
      <p:sp>
        <p:nvSpPr>
          <p:cNvPr id="8" name="Text 6"/>
          <p:cNvSpPr/>
          <p:nvPr/>
        </p:nvSpPr>
        <p:spPr>
          <a:xfrm>
            <a:off x="566928" y="1353312"/>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Socket.IO authentication middleware — validate JWT on WebSocket connection</a:t>
            </a:r>
            <a:endParaRPr lang="en-US" sz="900" dirty="0"/>
          </a:p>
        </p:txBody>
      </p:sp>
      <p:sp>
        <p:nvSpPr>
          <p:cNvPr id="9" name="Text 7"/>
          <p:cNvSpPr/>
          <p:nvPr/>
        </p:nvSpPr>
        <p:spPr>
          <a:xfrm>
            <a:off x="566928" y="1865376"/>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HTTP-only cookie storage for JWT — remove localStorage auth vulnerability</a:t>
            </a:r>
            <a:endParaRPr lang="en-US" sz="900" dirty="0"/>
          </a:p>
        </p:txBody>
      </p:sp>
      <p:sp>
        <p:nvSpPr>
          <p:cNvPr id="10" name="Text 8"/>
          <p:cNvSpPr/>
          <p:nvPr/>
        </p:nvSpPr>
        <p:spPr>
          <a:xfrm>
            <a:off x="566928" y="2377440"/>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Rate limiting on bid submission endpoints</a:t>
            </a:r>
            <a:endParaRPr lang="en-US" sz="900" dirty="0"/>
          </a:p>
        </p:txBody>
      </p:sp>
      <p:sp>
        <p:nvSpPr>
          <p:cNvPr id="11" name="Text 9"/>
          <p:cNvSpPr/>
          <p:nvPr/>
        </p:nvSpPr>
        <p:spPr>
          <a:xfrm>
            <a:off x="566928" y="2889504"/>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Structured logging (Winston / Pino) replacing console.log</a:t>
            </a:r>
            <a:endParaRPr lang="en-US" sz="900" dirty="0"/>
          </a:p>
        </p:txBody>
      </p:sp>
      <p:sp>
        <p:nvSpPr>
          <p:cNvPr id="12" name="Text 10"/>
          <p:cNvSpPr/>
          <p:nvPr/>
        </p:nvSpPr>
        <p:spPr>
          <a:xfrm>
            <a:off x="566928" y="3401568"/>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CORS origin whitelist enforcement in production</a:t>
            </a:r>
            <a:endParaRPr lang="en-US" sz="900" dirty="0"/>
          </a:p>
        </p:txBody>
      </p:sp>
      <p:sp>
        <p:nvSpPr>
          <p:cNvPr id="13" name="Text 11"/>
          <p:cNvSpPr/>
          <p:nvPr/>
        </p:nvSpPr>
        <p:spPr>
          <a:xfrm>
            <a:off x="566928" y="3913632"/>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Backend ESLint configuration</a:t>
            </a:r>
            <a:endParaRPr lang="en-US" sz="900" dirty="0"/>
          </a:p>
        </p:txBody>
      </p:sp>
      <p:sp>
        <p:nvSpPr>
          <p:cNvPr id="14" name="Shape 12"/>
          <p:cNvSpPr/>
          <p:nvPr/>
        </p:nvSpPr>
        <p:spPr>
          <a:xfrm>
            <a:off x="3246120" y="914400"/>
            <a:ext cx="2651760" cy="3977640"/>
          </a:xfrm>
          <a:prstGeom prst="roundRect">
            <a:avLst>
              <a:gd name="adj" fmla="val 344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5" name="Shape 13"/>
          <p:cNvSpPr/>
          <p:nvPr/>
        </p:nvSpPr>
        <p:spPr>
          <a:xfrm>
            <a:off x="3246120" y="914400"/>
            <a:ext cx="2651760" cy="365760"/>
          </a:xfrm>
          <a:prstGeom prst="roundRect">
            <a:avLst>
              <a:gd name="adj" fmla="val 25000"/>
            </a:avLst>
          </a:prstGeom>
          <a:solidFill>
            <a:srgbClr val="0891B2"/>
          </a:solidFill>
          <a:ln w="12700">
            <a:solidFill>
              <a:srgbClr val="0891B2"/>
            </a:solidFill>
            <a:prstDash val="solid"/>
          </a:ln>
        </p:spPr>
        <p:txBody>
          <a:bodyPr/>
          <a:lstStyle/>
          <a:p>
            <a:endParaRPr lang="en-US"/>
          </a:p>
        </p:txBody>
      </p:sp>
      <p:sp>
        <p:nvSpPr>
          <p:cNvPr id="16" name="Text 14"/>
          <p:cNvSpPr/>
          <p:nvPr/>
        </p:nvSpPr>
        <p:spPr>
          <a:xfrm>
            <a:off x="3246120" y="914400"/>
            <a:ext cx="265176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Phase 2 — Automated Testing</a:t>
            </a:r>
            <a:endParaRPr lang="en-US" sz="950" dirty="0"/>
          </a:p>
        </p:txBody>
      </p:sp>
      <p:sp>
        <p:nvSpPr>
          <p:cNvPr id="17" name="Text 15"/>
          <p:cNvSpPr/>
          <p:nvPr/>
        </p:nvSpPr>
        <p:spPr>
          <a:xfrm>
            <a:off x="3355848" y="1353312"/>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Integration tests for authentication flows (register, verify, login, reset)</a:t>
            </a:r>
            <a:endParaRPr lang="en-US" sz="900" dirty="0"/>
          </a:p>
        </p:txBody>
      </p:sp>
      <p:sp>
        <p:nvSpPr>
          <p:cNvPr id="18" name="Text 16"/>
          <p:cNvSpPr/>
          <p:nvPr/>
        </p:nvSpPr>
        <p:spPr>
          <a:xfrm>
            <a:off x="3355848" y="1865376"/>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API tests for auction lifecycle (start, bid, sold, unsold, complete)</a:t>
            </a:r>
            <a:endParaRPr lang="en-US" sz="900" dirty="0"/>
          </a:p>
        </p:txBody>
      </p:sp>
      <p:sp>
        <p:nvSpPr>
          <p:cNvPr id="19" name="Text 17"/>
          <p:cNvSpPr/>
          <p:nvPr/>
        </p:nvSpPr>
        <p:spPr>
          <a:xfrm>
            <a:off x="3355848" y="2377440"/>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Socket.IO event tests for real-time state propagation</a:t>
            </a:r>
            <a:endParaRPr lang="en-US" sz="900" dirty="0"/>
          </a:p>
        </p:txBody>
      </p:sp>
      <p:sp>
        <p:nvSpPr>
          <p:cNvPr id="20" name="Text 18"/>
          <p:cNvSpPr/>
          <p:nvPr/>
        </p:nvSpPr>
        <p:spPr>
          <a:xfrm>
            <a:off x="3355848" y="2889504"/>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Authorization boundary tests (admin-only routes, owner-only bid)</a:t>
            </a:r>
            <a:endParaRPr lang="en-US" sz="900" dirty="0"/>
          </a:p>
        </p:txBody>
      </p:sp>
      <p:sp>
        <p:nvSpPr>
          <p:cNvPr id="21" name="Text 19"/>
          <p:cNvSpPr/>
          <p:nvPr/>
        </p:nvSpPr>
        <p:spPr>
          <a:xfrm>
            <a:off x="3355848" y="3401568"/>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Budget enforcement tests (bids rejected over cap)</a:t>
            </a:r>
            <a:endParaRPr lang="en-US" sz="900" dirty="0"/>
          </a:p>
        </p:txBody>
      </p:sp>
      <p:sp>
        <p:nvSpPr>
          <p:cNvPr id="22" name="Text 20"/>
          <p:cNvSpPr/>
          <p:nvPr/>
        </p:nvSpPr>
        <p:spPr>
          <a:xfrm>
            <a:off x="3355848" y="3913632"/>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React Testing Library component tests for arena UI</a:t>
            </a:r>
            <a:endParaRPr lang="en-US" sz="900" dirty="0"/>
          </a:p>
        </p:txBody>
      </p:sp>
      <p:sp>
        <p:nvSpPr>
          <p:cNvPr id="23" name="Shape 21"/>
          <p:cNvSpPr/>
          <p:nvPr/>
        </p:nvSpPr>
        <p:spPr>
          <a:xfrm>
            <a:off x="6035040" y="914400"/>
            <a:ext cx="2651760" cy="3977640"/>
          </a:xfrm>
          <a:prstGeom prst="roundRect">
            <a:avLst>
              <a:gd name="adj" fmla="val 3448"/>
            </a:avLst>
          </a:prstGeom>
          <a:solidFill>
            <a:srgbClr val="FFFFFF"/>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4" name="Shape 22"/>
          <p:cNvSpPr/>
          <p:nvPr/>
        </p:nvSpPr>
        <p:spPr>
          <a:xfrm>
            <a:off x="6035040" y="914400"/>
            <a:ext cx="2651760" cy="365760"/>
          </a:xfrm>
          <a:prstGeom prst="roundRect">
            <a:avLst>
              <a:gd name="adj" fmla="val 25000"/>
            </a:avLst>
          </a:prstGeom>
          <a:solidFill>
            <a:srgbClr val="7C3AED"/>
          </a:solidFill>
          <a:ln w="12700">
            <a:solidFill>
              <a:srgbClr val="7C3AED"/>
            </a:solidFill>
            <a:prstDash val="solid"/>
          </a:ln>
        </p:spPr>
        <p:txBody>
          <a:bodyPr/>
          <a:lstStyle/>
          <a:p>
            <a:endParaRPr lang="en-US"/>
          </a:p>
        </p:txBody>
      </p:sp>
      <p:sp>
        <p:nvSpPr>
          <p:cNvPr id="25" name="Text 23"/>
          <p:cNvSpPr/>
          <p:nvPr/>
        </p:nvSpPr>
        <p:spPr>
          <a:xfrm>
            <a:off x="6035040" y="914400"/>
            <a:ext cx="265176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Phase 3 — Product Enhancements</a:t>
            </a:r>
            <a:endParaRPr lang="en-US" sz="950" dirty="0"/>
          </a:p>
        </p:txBody>
      </p:sp>
      <p:sp>
        <p:nvSpPr>
          <p:cNvPr id="26" name="Text 24"/>
          <p:cNvSpPr/>
          <p:nvPr/>
        </p:nvSpPr>
        <p:spPr>
          <a:xfrm>
            <a:off x="6144768" y="1353312"/>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Email notifications to team owners when they win a player</a:t>
            </a:r>
            <a:endParaRPr lang="en-US" sz="900" dirty="0"/>
          </a:p>
        </p:txBody>
      </p:sp>
      <p:sp>
        <p:nvSpPr>
          <p:cNvPr id="27" name="Text 25"/>
          <p:cNvSpPr/>
          <p:nvPr/>
        </p:nvSpPr>
        <p:spPr>
          <a:xfrm>
            <a:off x="6144768" y="1865376"/>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CSV export for final team rosters and bid histories</a:t>
            </a:r>
            <a:endParaRPr lang="en-US" sz="900" dirty="0"/>
          </a:p>
        </p:txBody>
      </p:sp>
      <p:sp>
        <p:nvSpPr>
          <p:cNvPr id="28" name="Text 26"/>
          <p:cNvSpPr/>
          <p:nvPr/>
        </p:nvSpPr>
        <p:spPr>
          <a:xfrm>
            <a:off x="6144768" y="2377440"/>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Bid history participant name search (in progress — SportAuctionHub)</a:t>
            </a:r>
            <a:endParaRPr lang="en-US" sz="900" dirty="0"/>
          </a:p>
        </p:txBody>
      </p:sp>
      <p:sp>
        <p:nvSpPr>
          <p:cNvPr id="29" name="Text 27"/>
          <p:cNvSpPr/>
          <p:nvPr/>
        </p:nvSpPr>
        <p:spPr>
          <a:xfrm>
            <a:off x="6144768" y="2889504"/>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Mobile-responsive layout improvements for arena pages</a:t>
            </a:r>
            <a:endParaRPr lang="en-US" sz="900" dirty="0"/>
          </a:p>
        </p:txBody>
      </p:sp>
      <p:sp>
        <p:nvSpPr>
          <p:cNvPr id="30" name="Text 28"/>
          <p:cNvSpPr/>
          <p:nvPr/>
        </p:nvSpPr>
        <p:spPr>
          <a:xfrm>
            <a:off x="6144768" y="3401568"/>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Admin dashboard analytics (spend distribution, avg bid per team)</a:t>
            </a:r>
            <a:endParaRPr lang="en-US" sz="900" dirty="0"/>
          </a:p>
        </p:txBody>
      </p:sp>
      <p:sp>
        <p:nvSpPr>
          <p:cNvPr id="31" name="Text 29"/>
          <p:cNvSpPr/>
          <p:nvPr/>
        </p:nvSpPr>
        <p:spPr>
          <a:xfrm>
            <a:off x="6144768" y="3913632"/>
            <a:ext cx="2432304" cy="457200"/>
          </a:xfrm>
          <a:prstGeom prst="rect">
            <a:avLst/>
          </a:prstGeom>
          <a:noFill/>
          <a:ln/>
        </p:spPr>
        <p:txBody>
          <a:bodyPr wrap="square" lIns="0" tIns="0" rIns="0" bIns="0" rtlCol="0" anchor="t"/>
          <a:lstStyle/>
          <a:p>
            <a:pPr marL="0" indent="0" algn="l">
              <a:buNone/>
            </a:pPr>
            <a:r>
              <a:rPr lang="en-US" sz="900" dirty="0">
                <a:solidFill>
                  <a:srgbClr val="1E293B"/>
                </a:solidFill>
                <a:latin typeface="Calibri" pitchFamily="34" charset="0"/>
                <a:ea typeface="Calibri" pitchFamily="34" charset="-122"/>
                <a:cs typeface="Calibri" pitchFamily="34" charset="-120"/>
              </a:rPr>
              <a:t>›  Deep-link support — direct URL to specific auction tab sections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F0A030">
              <a:alpha val="10000"/>
            </a:srgbClr>
          </a:solidFill>
          <a:ln w="12700">
            <a:solidFill>
              <a:srgbClr val="F0A030"/>
            </a:solidFill>
            <a:prstDash val="solid"/>
          </a:ln>
        </p:spPr>
        <p:txBody>
          <a:bodyPr/>
          <a:lstStyle/>
          <a:p>
            <a:endParaRPr lang="en-US"/>
          </a:p>
        </p:txBody>
      </p:sp>
      <p:sp>
        <p:nvSpPr>
          <p:cNvPr id="3" name="Shape 1"/>
          <p:cNvSpPr/>
          <p:nvPr/>
        </p:nvSpPr>
        <p:spPr>
          <a:xfrm>
            <a:off x="6400800" y="2286000"/>
            <a:ext cx="3657600" cy="3657600"/>
          </a:xfrm>
          <a:prstGeom prst="ellipse">
            <a:avLst/>
          </a:prstGeom>
          <a:solidFill>
            <a:srgbClr val="2563EB">
              <a:alpha val="15000"/>
            </a:srgbClr>
          </a:solidFill>
          <a:ln w="12700">
            <a:solidFill>
              <a:srgbClr val="2563EB"/>
            </a:solidFill>
            <a:prstDash val="solid"/>
          </a:ln>
        </p:spPr>
        <p:txBody>
          <a:bodyPr/>
          <a:lstStyle/>
          <a:p>
            <a:endParaRPr lang="en-US"/>
          </a:p>
        </p:txBody>
      </p:sp>
      <p:sp>
        <p:nvSpPr>
          <p:cNvPr id="4" name="Text 2"/>
          <p:cNvSpPr/>
          <p:nvPr/>
        </p:nvSpPr>
        <p:spPr>
          <a:xfrm>
            <a:off x="640080" y="228600"/>
            <a:ext cx="7772400" cy="457200"/>
          </a:xfrm>
          <a:prstGeom prst="rect">
            <a:avLst/>
          </a:prstGeom>
          <a:noFill/>
          <a:ln/>
        </p:spPr>
        <p:txBody>
          <a:bodyPr wrap="square" lIns="0" tIns="0" rIns="0" bIns="0" rtlCol="0" anchor="ctr"/>
          <a:lstStyle/>
          <a:p>
            <a:pPr marL="0" indent="0" algn="l">
              <a:buNone/>
            </a:pPr>
            <a:r>
              <a:rPr lang="en-US" sz="2200" b="1" dirty="0">
                <a:solidFill>
                  <a:srgbClr val="F0A030"/>
                </a:solidFill>
                <a:latin typeface="Calibri" pitchFamily="34" charset="0"/>
                <a:ea typeface="Calibri" pitchFamily="34" charset="-122"/>
                <a:cs typeface="Calibri" pitchFamily="34" charset="-120"/>
              </a:rPr>
              <a:t>What We Delivered</a:t>
            </a:r>
            <a:endParaRPr lang="en-US" sz="2200" dirty="0"/>
          </a:p>
        </p:txBody>
      </p:sp>
      <p:sp>
        <p:nvSpPr>
          <p:cNvPr id="5" name="Text 3"/>
          <p:cNvSpPr/>
          <p:nvPr/>
        </p:nvSpPr>
        <p:spPr>
          <a:xfrm>
            <a:off x="640080" y="685800"/>
            <a:ext cx="7772400" cy="822960"/>
          </a:xfrm>
          <a:prstGeom prst="rect">
            <a:avLst/>
          </a:prstGeom>
          <a:noFill/>
          <a:ln/>
        </p:spPr>
        <p:txBody>
          <a:bodyPr wrap="square" lIns="0" tIns="0" rIns="0" bIns="0" rtlCol="0" anchor="ctr"/>
          <a:lstStyle/>
          <a:p>
            <a:pPr marL="0" indent="0" algn="l">
              <a:buNone/>
            </a:pPr>
            <a:r>
              <a:rPr lang="en-US" sz="4600" b="1" dirty="0">
                <a:solidFill>
                  <a:srgbClr val="FFFFFF"/>
                </a:solidFill>
                <a:latin typeface="Cambria" pitchFamily="34" charset="0"/>
                <a:ea typeface="Cambria" pitchFamily="34" charset="-122"/>
                <a:cs typeface="Cambria" pitchFamily="34" charset="-120"/>
              </a:rPr>
              <a:t>AuctionArena</a:t>
            </a:r>
            <a:endParaRPr lang="en-US" sz="4600" dirty="0"/>
          </a:p>
        </p:txBody>
      </p:sp>
      <p:sp>
        <p:nvSpPr>
          <p:cNvPr id="6" name="Shape 4"/>
          <p:cNvSpPr/>
          <p:nvPr/>
        </p:nvSpPr>
        <p:spPr>
          <a:xfrm>
            <a:off x="457200" y="1828800"/>
            <a:ext cx="2697480" cy="1234440"/>
          </a:xfrm>
          <a:prstGeom prst="roundRect">
            <a:avLst>
              <a:gd name="adj" fmla="val 7407"/>
            </a:avLst>
          </a:prstGeom>
          <a:solidFill>
            <a:srgbClr val="0D2247"/>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7" name="Text 5"/>
          <p:cNvSpPr/>
          <p:nvPr/>
        </p:nvSpPr>
        <p:spPr>
          <a:xfrm>
            <a:off x="457200" y="188366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932688" y="1920240"/>
            <a:ext cx="2103120" cy="256032"/>
          </a:xfrm>
          <a:prstGeom prst="rect">
            <a:avLst/>
          </a:prstGeom>
          <a:noFill/>
          <a:ln/>
        </p:spPr>
        <p:txBody>
          <a:bodyPr wrap="square" lIns="0" tIns="0" rIns="0" bIns="0" rtlCol="0" anchor="ctr"/>
          <a:lstStyle/>
          <a:p>
            <a:pPr marL="0" indent="0">
              <a:buNone/>
            </a:pPr>
            <a:r>
              <a:rPr lang="en-US" sz="1050" b="1" dirty="0">
                <a:solidFill>
                  <a:srgbClr val="F0A030"/>
                </a:solidFill>
                <a:latin typeface="Calibri" pitchFamily="34" charset="0"/>
                <a:ea typeface="Calibri" pitchFamily="34" charset="-122"/>
                <a:cs typeface="Calibri" pitchFamily="34" charset="-120"/>
              </a:rPr>
              <a:t>Festival Auction System</a:t>
            </a:r>
            <a:endParaRPr lang="en-US" sz="1050" dirty="0"/>
          </a:p>
        </p:txBody>
      </p:sp>
      <p:sp>
        <p:nvSpPr>
          <p:cNvPr id="9" name="Text 7"/>
          <p:cNvSpPr/>
          <p:nvPr/>
        </p:nvSpPr>
        <p:spPr>
          <a:xfrm>
            <a:off x="566928" y="2231136"/>
            <a:ext cx="2478024" cy="768096"/>
          </a:xfrm>
          <a:prstGeom prst="rect">
            <a:avLst/>
          </a:prstGeom>
          <a:noFill/>
          <a:ln/>
        </p:spPr>
        <p:txBody>
          <a:bodyPr wrap="square" lIns="0" tIns="0" rIns="0" bIns="0" rtlCol="0" anchor="t"/>
          <a:lstStyle/>
          <a:p>
            <a:pPr marL="0" indent="0" algn="l">
              <a:buNone/>
            </a:pPr>
            <a:r>
              <a:rPr lang="en-US" sz="850" dirty="0">
                <a:solidFill>
                  <a:srgbClr val="94A3B8"/>
                </a:solidFill>
                <a:latin typeface="Calibri" pitchFamily="34" charset="0"/>
                <a:ea typeface="Calibri" pitchFamily="34" charset="-122"/>
                <a:cs typeface="Calibri" pitchFamily="34" charset="-120"/>
              </a:rPr>
              <a:t>Full lifecycle: Draft → Setup → Ready → Live → Completed. Multi-team bidding with budget enforcement and retention picks.</a:t>
            </a:r>
            <a:endParaRPr lang="en-US" sz="850" dirty="0"/>
          </a:p>
        </p:txBody>
      </p:sp>
      <p:sp>
        <p:nvSpPr>
          <p:cNvPr id="10" name="Shape 8"/>
          <p:cNvSpPr/>
          <p:nvPr/>
        </p:nvSpPr>
        <p:spPr>
          <a:xfrm>
            <a:off x="3337560" y="1828800"/>
            <a:ext cx="2697480" cy="1234440"/>
          </a:xfrm>
          <a:prstGeom prst="roundRect">
            <a:avLst>
              <a:gd name="adj" fmla="val 7407"/>
            </a:avLst>
          </a:prstGeom>
          <a:solidFill>
            <a:srgbClr val="0D2247"/>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1" name="Text 9"/>
          <p:cNvSpPr/>
          <p:nvPr/>
        </p:nvSpPr>
        <p:spPr>
          <a:xfrm>
            <a:off x="3337560" y="188366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3813048" y="1920240"/>
            <a:ext cx="2103120" cy="256032"/>
          </a:xfrm>
          <a:prstGeom prst="rect">
            <a:avLst/>
          </a:prstGeom>
          <a:noFill/>
          <a:ln/>
        </p:spPr>
        <p:txBody>
          <a:bodyPr wrap="square" lIns="0" tIns="0" rIns="0" bIns="0" rtlCol="0" anchor="ctr"/>
          <a:lstStyle/>
          <a:p>
            <a:pPr marL="0" indent="0">
              <a:buNone/>
            </a:pPr>
            <a:r>
              <a:rPr lang="en-US" sz="1050" b="1" dirty="0">
                <a:solidFill>
                  <a:srgbClr val="F0A030"/>
                </a:solidFill>
                <a:latin typeface="Calibri" pitchFamily="34" charset="0"/>
                <a:ea typeface="Calibri" pitchFamily="34" charset="-122"/>
                <a:cs typeface="Calibri" pitchFamily="34" charset="-120"/>
              </a:rPr>
              <a:t>Sport Tournament System</a:t>
            </a:r>
            <a:endParaRPr lang="en-US" sz="1050" dirty="0"/>
          </a:p>
        </p:txBody>
      </p:sp>
      <p:sp>
        <p:nvSpPr>
          <p:cNvPr id="13" name="Text 11"/>
          <p:cNvSpPr/>
          <p:nvPr/>
        </p:nvSpPr>
        <p:spPr>
          <a:xfrm>
            <a:off x="3447288" y="2231136"/>
            <a:ext cx="2478024" cy="768096"/>
          </a:xfrm>
          <a:prstGeom prst="rect">
            <a:avLst/>
          </a:prstGeom>
          <a:noFill/>
          <a:ln/>
        </p:spPr>
        <p:txBody>
          <a:bodyPr wrap="square" lIns="0" tIns="0" rIns="0" bIns="0" rtlCol="0" anchor="t"/>
          <a:lstStyle/>
          <a:p>
            <a:pPr marL="0" indent="0" algn="l">
              <a:buNone/>
            </a:pPr>
            <a:r>
              <a:rPr lang="en-US" sz="850" dirty="0">
                <a:solidFill>
                  <a:srgbClr val="94A3B8"/>
                </a:solidFill>
                <a:latin typeface="Calibri" pitchFamily="34" charset="0"/>
                <a:ea typeface="Calibri" pitchFamily="34" charset="-122"/>
                <a:cs typeface="Calibri" pitchFamily="34" charset="-120"/>
              </a:rPr>
              <a:t>Parallel auction system within festivals. Credit budgets, gender eligibility, captain bidding, real-time updates.</a:t>
            </a:r>
            <a:endParaRPr lang="en-US" sz="850" dirty="0"/>
          </a:p>
        </p:txBody>
      </p:sp>
      <p:sp>
        <p:nvSpPr>
          <p:cNvPr id="14" name="Shape 12"/>
          <p:cNvSpPr/>
          <p:nvPr/>
        </p:nvSpPr>
        <p:spPr>
          <a:xfrm>
            <a:off x="6217920" y="1828800"/>
            <a:ext cx="2697480" cy="1234440"/>
          </a:xfrm>
          <a:prstGeom prst="roundRect">
            <a:avLst>
              <a:gd name="adj" fmla="val 7407"/>
            </a:avLst>
          </a:prstGeom>
          <a:solidFill>
            <a:srgbClr val="0D2247"/>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5" name="Text 13"/>
          <p:cNvSpPr/>
          <p:nvPr/>
        </p:nvSpPr>
        <p:spPr>
          <a:xfrm>
            <a:off x="6217920" y="188366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6" name="Text 14"/>
          <p:cNvSpPr/>
          <p:nvPr/>
        </p:nvSpPr>
        <p:spPr>
          <a:xfrm>
            <a:off x="6693408" y="1920240"/>
            <a:ext cx="2103120" cy="256032"/>
          </a:xfrm>
          <a:prstGeom prst="rect">
            <a:avLst/>
          </a:prstGeom>
          <a:noFill/>
          <a:ln/>
        </p:spPr>
        <p:txBody>
          <a:bodyPr wrap="square" lIns="0" tIns="0" rIns="0" bIns="0" rtlCol="0" anchor="ctr"/>
          <a:lstStyle/>
          <a:p>
            <a:pPr marL="0" indent="0">
              <a:buNone/>
            </a:pPr>
            <a:r>
              <a:rPr lang="en-US" sz="1050" b="1" dirty="0">
                <a:solidFill>
                  <a:srgbClr val="F0A030"/>
                </a:solidFill>
                <a:latin typeface="Calibri" pitchFamily="34" charset="0"/>
                <a:ea typeface="Calibri" pitchFamily="34" charset="-122"/>
                <a:cs typeface="Calibri" pitchFamily="34" charset="-120"/>
              </a:rPr>
              <a:t>Real-Time Auction Engine</a:t>
            </a:r>
            <a:endParaRPr lang="en-US" sz="1050" dirty="0"/>
          </a:p>
        </p:txBody>
      </p:sp>
      <p:sp>
        <p:nvSpPr>
          <p:cNvPr id="17" name="Text 15"/>
          <p:cNvSpPr/>
          <p:nvPr/>
        </p:nvSpPr>
        <p:spPr>
          <a:xfrm>
            <a:off x="6327648" y="2231136"/>
            <a:ext cx="2478024" cy="768096"/>
          </a:xfrm>
          <a:prstGeom prst="rect">
            <a:avLst/>
          </a:prstGeom>
          <a:noFill/>
          <a:ln/>
        </p:spPr>
        <p:txBody>
          <a:bodyPr wrap="square" lIns="0" tIns="0" rIns="0" bIns="0" rtlCol="0" anchor="t"/>
          <a:lstStyle/>
          <a:p>
            <a:pPr marL="0" indent="0" algn="l">
              <a:buNone/>
            </a:pPr>
            <a:r>
              <a:rPr lang="en-US" sz="850" dirty="0">
                <a:solidFill>
                  <a:srgbClr val="94A3B8"/>
                </a:solidFill>
                <a:latin typeface="Calibri" pitchFamily="34" charset="0"/>
                <a:ea typeface="Calibri" pitchFamily="34" charset="-122"/>
                <a:cs typeface="Calibri" pitchFamily="34" charset="-120"/>
              </a:rPr>
              <a:t>Socket.IO rooms, revision-guarded state, reconnect handlers, role-based controls, toast notifications.</a:t>
            </a:r>
            <a:endParaRPr lang="en-US" sz="850" dirty="0"/>
          </a:p>
        </p:txBody>
      </p:sp>
      <p:sp>
        <p:nvSpPr>
          <p:cNvPr id="18" name="Shape 16"/>
          <p:cNvSpPr/>
          <p:nvPr/>
        </p:nvSpPr>
        <p:spPr>
          <a:xfrm>
            <a:off x="457200" y="3182112"/>
            <a:ext cx="2697480" cy="1234440"/>
          </a:xfrm>
          <a:prstGeom prst="roundRect">
            <a:avLst>
              <a:gd name="adj" fmla="val 7407"/>
            </a:avLst>
          </a:prstGeom>
          <a:solidFill>
            <a:srgbClr val="0D2247"/>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19" name="Text 17"/>
          <p:cNvSpPr/>
          <p:nvPr/>
        </p:nvSpPr>
        <p:spPr>
          <a:xfrm>
            <a:off x="457200" y="3236976"/>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0" name="Text 18"/>
          <p:cNvSpPr/>
          <p:nvPr/>
        </p:nvSpPr>
        <p:spPr>
          <a:xfrm>
            <a:off x="932688" y="3273552"/>
            <a:ext cx="2103120" cy="256032"/>
          </a:xfrm>
          <a:prstGeom prst="rect">
            <a:avLst/>
          </a:prstGeom>
          <a:noFill/>
          <a:ln/>
        </p:spPr>
        <p:txBody>
          <a:bodyPr wrap="square" lIns="0" tIns="0" rIns="0" bIns="0" rtlCol="0" anchor="ctr"/>
          <a:lstStyle/>
          <a:p>
            <a:pPr marL="0" indent="0">
              <a:buNone/>
            </a:pPr>
            <a:r>
              <a:rPr lang="en-US" sz="1050" b="1" dirty="0">
                <a:solidFill>
                  <a:srgbClr val="F0A030"/>
                </a:solidFill>
                <a:latin typeface="Calibri" pitchFamily="34" charset="0"/>
                <a:ea typeface="Calibri" pitchFamily="34" charset="-122"/>
                <a:cs typeface="Calibri" pitchFamily="34" charset="-120"/>
              </a:rPr>
              <a:t>Multi-Role Platform</a:t>
            </a:r>
            <a:endParaRPr lang="en-US" sz="1050" dirty="0"/>
          </a:p>
        </p:txBody>
      </p:sp>
      <p:sp>
        <p:nvSpPr>
          <p:cNvPr id="21" name="Text 19"/>
          <p:cNvSpPr/>
          <p:nvPr/>
        </p:nvSpPr>
        <p:spPr>
          <a:xfrm>
            <a:off x="566928" y="3584448"/>
            <a:ext cx="2478024" cy="768096"/>
          </a:xfrm>
          <a:prstGeom prst="rect">
            <a:avLst/>
          </a:prstGeom>
          <a:noFill/>
          <a:ln/>
        </p:spPr>
        <p:txBody>
          <a:bodyPr wrap="square" lIns="0" tIns="0" rIns="0" bIns="0" rtlCol="0" anchor="t"/>
          <a:lstStyle/>
          <a:p>
            <a:pPr marL="0" indent="0" algn="l">
              <a:buNone/>
            </a:pPr>
            <a:r>
              <a:rPr lang="en-US" sz="850" dirty="0">
                <a:solidFill>
                  <a:srgbClr val="94A3B8"/>
                </a:solidFill>
                <a:latin typeface="Calibri" pitchFamily="34" charset="0"/>
                <a:ea typeface="Calibri" pitchFamily="34" charset="-122"/>
                <a:cs typeface="Calibri" pitchFamily="34" charset="-120"/>
              </a:rPr>
              <a:t>Admin, team_owner, spectator — enforced at every API endpoint with JWT middleware and domain-level checks.</a:t>
            </a:r>
            <a:endParaRPr lang="en-US" sz="850" dirty="0"/>
          </a:p>
        </p:txBody>
      </p:sp>
      <p:sp>
        <p:nvSpPr>
          <p:cNvPr id="22" name="Shape 20"/>
          <p:cNvSpPr/>
          <p:nvPr/>
        </p:nvSpPr>
        <p:spPr>
          <a:xfrm>
            <a:off x="3337560" y="3182112"/>
            <a:ext cx="2697480" cy="1234440"/>
          </a:xfrm>
          <a:prstGeom prst="roundRect">
            <a:avLst>
              <a:gd name="adj" fmla="val 7407"/>
            </a:avLst>
          </a:prstGeom>
          <a:solidFill>
            <a:srgbClr val="0D2247"/>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3" name="Text 21"/>
          <p:cNvSpPr/>
          <p:nvPr/>
        </p:nvSpPr>
        <p:spPr>
          <a:xfrm>
            <a:off x="3337560" y="3236976"/>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4" name="Text 22"/>
          <p:cNvSpPr/>
          <p:nvPr/>
        </p:nvSpPr>
        <p:spPr>
          <a:xfrm>
            <a:off x="3813048" y="3273552"/>
            <a:ext cx="2103120" cy="256032"/>
          </a:xfrm>
          <a:prstGeom prst="rect">
            <a:avLst/>
          </a:prstGeom>
          <a:noFill/>
          <a:ln/>
        </p:spPr>
        <p:txBody>
          <a:bodyPr wrap="square" lIns="0" tIns="0" rIns="0" bIns="0" rtlCol="0" anchor="ctr"/>
          <a:lstStyle/>
          <a:p>
            <a:pPr marL="0" indent="0">
              <a:buNone/>
            </a:pPr>
            <a:r>
              <a:rPr lang="en-US" sz="1050" b="1" dirty="0">
                <a:solidFill>
                  <a:srgbClr val="F0A030"/>
                </a:solidFill>
                <a:latin typeface="Calibri" pitchFamily="34" charset="0"/>
                <a:ea typeface="Calibri" pitchFamily="34" charset="-122"/>
                <a:cs typeface="Calibri" pitchFamily="34" charset="-120"/>
              </a:rPr>
              <a:t>Comprehensive Documentation</a:t>
            </a:r>
            <a:endParaRPr lang="en-US" sz="1050" dirty="0"/>
          </a:p>
        </p:txBody>
      </p:sp>
      <p:sp>
        <p:nvSpPr>
          <p:cNvPr id="25" name="Text 23"/>
          <p:cNvSpPr/>
          <p:nvPr/>
        </p:nvSpPr>
        <p:spPr>
          <a:xfrm>
            <a:off x="3447288" y="3584448"/>
            <a:ext cx="2478024" cy="768096"/>
          </a:xfrm>
          <a:prstGeom prst="rect">
            <a:avLst/>
          </a:prstGeom>
          <a:noFill/>
          <a:ln/>
        </p:spPr>
        <p:txBody>
          <a:bodyPr wrap="square" lIns="0" tIns="0" rIns="0" bIns="0" rtlCol="0" anchor="t"/>
          <a:lstStyle/>
          <a:p>
            <a:pPr marL="0" indent="0" algn="l">
              <a:buNone/>
            </a:pPr>
            <a:r>
              <a:rPr lang="en-US" sz="850" dirty="0">
                <a:solidFill>
                  <a:srgbClr val="94A3B8"/>
                </a:solidFill>
                <a:latin typeface="Calibri" pitchFamily="34" charset="0"/>
                <a:ea typeface="Calibri" pitchFamily="34" charset="-122"/>
                <a:cs typeface="Calibri" pitchFamily="34" charset="-120"/>
              </a:rPr>
              <a:t>8 deliverable documents: PRD, Architecture Blueprint, Project Plan, Audit, AI Metrics, Testing Report, README, Presentation.</a:t>
            </a:r>
            <a:endParaRPr lang="en-US" sz="850" dirty="0"/>
          </a:p>
        </p:txBody>
      </p:sp>
      <p:sp>
        <p:nvSpPr>
          <p:cNvPr id="26" name="Shape 24"/>
          <p:cNvSpPr/>
          <p:nvPr/>
        </p:nvSpPr>
        <p:spPr>
          <a:xfrm>
            <a:off x="6217920" y="3182112"/>
            <a:ext cx="2697480" cy="1234440"/>
          </a:xfrm>
          <a:prstGeom prst="roundRect">
            <a:avLst>
              <a:gd name="adj" fmla="val 7407"/>
            </a:avLst>
          </a:prstGeom>
          <a:solidFill>
            <a:srgbClr val="0D2247"/>
          </a:solidFill>
          <a:ln w="9525">
            <a:solidFill>
              <a:srgbClr val="E2E8F0"/>
            </a:solidFill>
            <a:prstDash val="solid"/>
          </a:ln>
          <a:effectLst>
            <a:outerShdw blurRad="127000" dist="25400" dir="2700000" algn="bl" rotWithShape="0">
              <a:srgbClr val="000000">
                <a:alpha val="9000"/>
              </a:srgbClr>
            </a:outerShdw>
          </a:effectLst>
        </p:spPr>
        <p:txBody>
          <a:bodyPr/>
          <a:lstStyle/>
          <a:p>
            <a:endParaRPr lang="en-US"/>
          </a:p>
        </p:txBody>
      </p:sp>
      <p:sp>
        <p:nvSpPr>
          <p:cNvPr id="27" name="Text 25"/>
          <p:cNvSpPr/>
          <p:nvPr/>
        </p:nvSpPr>
        <p:spPr>
          <a:xfrm>
            <a:off x="6217920" y="3236976"/>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8" name="Text 26"/>
          <p:cNvSpPr/>
          <p:nvPr/>
        </p:nvSpPr>
        <p:spPr>
          <a:xfrm>
            <a:off x="6693408" y="3273552"/>
            <a:ext cx="2103120" cy="256032"/>
          </a:xfrm>
          <a:prstGeom prst="rect">
            <a:avLst/>
          </a:prstGeom>
          <a:noFill/>
          <a:ln/>
        </p:spPr>
        <p:txBody>
          <a:bodyPr wrap="square" lIns="0" tIns="0" rIns="0" bIns="0" rtlCol="0" anchor="ctr"/>
          <a:lstStyle/>
          <a:p>
            <a:pPr marL="0" indent="0">
              <a:buNone/>
            </a:pPr>
            <a:r>
              <a:rPr lang="en-US" sz="1050" b="1" dirty="0">
                <a:solidFill>
                  <a:srgbClr val="F0A030"/>
                </a:solidFill>
                <a:latin typeface="Calibri" pitchFamily="34" charset="0"/>
                <a:ea typeface="Calibri" pitchFamily="34" charset="-122"/>
                <a:cs typeface="Calibri" pitchFamily="34" charset="-120"/>
              </a:rPr>
              <a:t>AI-Assisted Development</a:t>
            </a:r>
            <a:endParaRPr lang="en-US" sz="1050" dirty="0"/>
          </a:p>
        </p:txBody>
      </p:sp>
      <p:sp>
        <p:nvSpPr>
          <p:cNvPr id="29" name="Text 27"/>
          <p:cNvSpPr/>
          <p:nvPr/>
        </p:nvSpPr>
        <p:spPr>
          <a:xfrm>
            <a:off x="6327648" y="3584448"/>
            <a:ext cx="2478024" cy="768096"/>
          </a:xfrm>
          <a:prstGeom prst="rect">
            <a:avLst/>
          </a:prstGeom>
          <a:noFill/>
          <a:ln/>
        </p:spPr>
        <p:txBody>
          <a:bodyPr wrap="square" lIns="0" tIns="0" rIns="0" bIns="0" rtlCol="0" anchor="t"/>
          <a:lstStyle/>
          <a:p>
            <a:pPr marL="0" indent="0" algn="l">
              <a:buNone/>
            </a:pPr>
            <a:r>
              <a:rPr lang="en-US" sz="850" dirty="0">
                <a:solidFill>
                  <a:srgbClr val="94A3B8"/>
                </a:solidFill>
                <a:latin typeface="Calibri" pitchFamily="34" charset="0"/>
                <a:ea typeface="Calibri" pitchFamily="34" charset="-122"/>
                <a:cs typeface="Calibri" pitchFamily="34" charset="-120"/>
              </a:rPr>
              <a:t>3-month delivery vs 6–9 month estimate. Claude Code + ChatGPT + Codex as force multipliers with full human review.</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3E"/>
        </a:solidFill>
        <a:effectLst/>
      </p:bgPr>
    </p:bg>
    <p:spTree>
      <p:nvGrpSpPr>
        <p:cNvPr id="1" name=""/>
        <p:cNvGrpSpPr/>
        <p:nvPr/>
      </p:nvGrpSpPr>
      <p:grpSpPr>
        <a:xfrm>
          <a:off x="0" y="0"/>
          <a:ext cx="0" cy="0"/>
          <a:chOff x="0" y="0"/>
          <a:chExt cx="0" cy="0"/>
        </a:xfrm>
      </p:grpSpPr>
      <p:sp>
        <p:nvSpPr>
          <p:cNvPr id="3" name="Text 1"/>
          <p:cNvSpPr/>
          <p:nvPr/>
        </p:nvSpPr>
        <p:spPr>
          <a:xfrm>
            <a:off x="640080" y="731520"/>
            <a:ext cx="7772400" cy="77724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Shape 3"/>
          <p:cNvSpPr/>
          <p:nvPr/>
        </p:nvSpPr>
        <p:spPr>
          <a:xfrm>
            <a:off x="3200400" y="2103120"/>
            <a:ext cx="2743200" cy="18288"/>
          </a:xfrm>
          <a:prstGeom prst="rect">
            <a:avLst/>
          </a:prstGeom>
          <a:solidFill>
            <a:srgbClr val="1E3A5E"/>
          </a:solidFill>
          <a:ln w="12700">
            <a:solidFill>
              <a:srgbClr val="1E3A5E"/>
            </a:solidFill>
            <a:prstDash val="solid"/>
          </a:ln>
        </p:spPr>
        <p:txBody>
          <a:bodyPr/>
          <a:lstStyle/>
          <a:p>
            <a:endParaRPr lang="en-US"/>
          </a:p>
        </p:txBody>
      </p:sp>
      <p:sp>
        <p:nvSpPr>
          <p:cNvPr id="7" name="Text 5"/>
          <p:cNvSpPr/>
          <p:nvPr/>
        </p:nvSpPr>
        <p:spPr>
          <a:xfrm>
            <a:off x="640080" y="3520440"/>
            <a:ext cx="7772400" cy="320040"/>
          </a:xfrm>
          <a:prstGeom prst="rect">
            <a:avLst/>
          </a:prstGeom>
          <a:noFill/>
          <a:ln/>
        </p:spPr>
        <p:txBody>
          <a:bodyPr wrap="square" lIns="0" tIns="0" rIns="0" bIns="0" rtlCol="0" anchor="ctr"/>
          <a:lstStyle/>
          <a:p>
            <a:pPr marL="0" indent="0" algn="ctr">
              <a:buNone/>
            </a:pPr>
            <a:r>
              <a:rPr lang="en-US" sz="1000" dirty="0">
                <a:solidFill>
                  <a:srgbClr val="4B6FA0"/>
                </a:solidFill>
                <a:latin typeface="Calibri" pitchFamily="34" charset="0"/>
                <a:ea typeface="Calibri" pitchFamily="34" charset="-122"/>
                <a:cs typeface="Calibri" pitchFamily="34" charset="-120"/>
              </a:rPr>
              <a:t>Festival Auction  ·  Sport Tournament Auction  ·  Real-Time Engine  ·  Multi-Role  ·  AI-Assisted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1653</TotalTime>
  <Words>4720</Words>
  <Application>Microsoft Office PowerPoint</Application>
  <PresentationFormat>On-screen Show (16:9)</PresentationFormat>
  <Paragraphs>706</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AuctionArena — Final Submission Presentation</dc:title>
  <dc:subject>PptxGenJS Presentation</dc:subject>
  <dc:creator>AuctionArena</dc:creator>
  <cp:lastModifiedBy>Vamsi Ayiluri</cp:lastModifiedBy>
  <cp:revision>4</cp:revision>
  <dcterms:created xsi:type="dcterms:W3CDTF">2026-06-19T07:34:21Z</dcterms:created>
  <dcterms:modified xsi:type="dcterms:W3CDTF">2026-06-20T11:13:55Z</dcterms:modified>
</cp:coreProperties>
</file>